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ppt/tags/tag16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7.xml" ContentType="application/vnd.openxmlformats-officedocument.presentationml.tags+xml"/>
  <Override PartName="/ppt/notesSlides/notesSlide11.xml" ContentType="application/vnd.openxmlformats-officedocument.presentationml.notesSlide+xml"/>
  <Override PartName="/ppt/tags/tag18.xml" ContentType="application/vnd.openxmlformats-officedocument.presentationml.tags+xml"/>
  <Override PartName="/ppt/notesSlides/notesSlide12.xml" ContentType="application/vnd.openxmlformats-officedocument.presentationml.notesSlide+xml"/>
  <Override PartName="/ppt/tags/tag19.xml" ContentType="application/vnd.openxmlformats-officedocument.presentationml.tags+xml"/>
  <Override PartName="/ppt/notesSlides/notesSlide13.xml" ContentType="application/vnd.openxmlformats-officedocument.presentationml.notesSlide+xml"/>
  <Override PartName="/ppt/tags/tag20.xml" ContentType="application/vnd.openxmlformats-officedocument.presentationml.tags+xml"/>
  <Override PartName="/ppt/notesSlides/notesSlide14.xml" ContentType="application/vnd.openxmlformats-officedocument.presentationml.notesSlide+xml"/>
  <Override PartName="/ppt/tags/tag21.xml" ContentType="application/vnd.openxmlformats-officedocument.presentationml.tags+xml"/>
  <Override PartName="/ppt/notesSlides/notesSlide1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6.xml" ContentType="application/vnd.openxmlformats-officedocument.presentationml.notesSlide+xml"/>
  <Override PartName="/ppt/tags/tag27.xml" ContentType="application/vnd.openxmlformats-officedocument.presentationml.tags+xml"/>
  <Override PartName="/ppt/notesSlides/notesSlide17.xml" ContentType="application/vnd.openxmlformats-officedocument.presentationml.notesSlide+xml"/>
  <Override PartName="/ppt/tags/tag28.xml" ContentType="application/vnd.openxmlformats-officedocument.presentationml.tags+xml"/>
  <Override PartName="/ppt/notesSlides/notesSlide18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9.xml" ContentType="application/vnd.openxmlformats-officedocument.presentationml.notesSlide+xml"/>
  <Override PartName="/ppt/tags/tag33.xml" ContentType="application/vnd.openxmlformats-officedocument.presentationml.tags+xml"/>
  <Override PartName="/ppt/notesSlides/notesSlide20.xml" ContentType="application/vnd.openxmlformats-officedocument.presentationml.notesSlide+xml"/>
  <Override PartName="/ppt/tags/tag34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59" r:id="rId6"/>
    <p:sldId id="300" r:id="rId7"/>
    <p:sldId id="261" r:id="rId8"/>
    <p:sldId id="283" r:id="rId9"/>
    <p:sldId id="279" r:id="rId10"/>
    <p:sldId id="302" r:id="rId11"/>
    <p:sldId id="265" r:id="rId12"/>
    <p:sldId id="263" r:id="rId13"/>
    <p:sldId id="306" r:id="rId14"/>
    <p:sldId id="301" r:id="rId15"/>
    <p:sldId id="305" r:id="rId16"/>
    <p:sldId id="280" r:id="rId17"/>
    <p:sldId id="270" r:id="rId18"/>
    <p:sldId id="307" r:id="rId19"/>
    <p:sldId id="281" r:id="rId20"/>
    <p:sldId id="304" r:id="rId21"/>
    <p:sldId id="282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B3342E"/>
    <a:srgbClr val="FFD530"/>
    <a:srgbClr val="FFAB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9" autoAdjust="0"/>
    <p:restoredTop sz="94660"/>
  </p:normalViewPr>
  <p:slideViewPr>
    <p:cSldViewPr snapToGrid="0">
      <p:cViewPr varScale="1">
        <p:scale>
          <a:sx n="57" d="100"/>
          <a:sy n="57" d="100"/>
        </p:scale>
        <p:origin x="82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5552562493045009"/>
          <c:y val="0.4208139525696031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2835504857914448E-2"/>
          <c:y val="0.14634614458209044"/>
          <c:w val="0.45234322470224803"/>
          <c:h val="0.7356189826599672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代码行数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B1D-4D2D-B7C4-8170B32FCC2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FF5-4F97-9599-D4BCE8C97BC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FF5-4F97-9599-D4BCE8C97BC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FF5-4F97-9599-D4BCE8C97BCF}"/>
              </c:ext>
            </c:extLst>
          </c:dPt>
          <c:cat>
            <c:strRef>
              <c:f>Sheet1!$A$2:$A$5</c:f>
              <c:strCache>
                <c:ptCount val="4"/>
                <c:pt idx="0">
                  <c:v>Java (后端)</c:v>
                </c:pt>
                <c:pt idx="1">
                  <c:v>JavaScript (小程序)</c:v>
                </c:pt>
                <c:pt idx="2">
                  <c:v>TypeScript (管理后台)</c:v>
                </c:pt>
                <c:pt idx="3">
                  <c:v>CSS / WXSS (样式)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9218</c:v>
                </c:pt>
                <c:pt idx="1">
                  <c:v>2701</c:v>
                </c:pt>
                <c:pt idx="2">
                  <c:v>1915</c:v>
                </c:pt>
                <c:pt idx="3">
                  <c:v>1658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1D-4D2D-B7C4-8170B32FCC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2400573012910034"/>
          <c:y val="0.62345919264383554"/>
          <c:w val="0.29952095636615284"/>
          <c:h val="0.198858272315945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160B2-C1FA-49F9-97E0-F3AD2D0C00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9750-B651-4E03-99E7-C8239C5B5F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886DE9-B704-4612-82C6-D3F0D2EE1CA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3A28C-EB6E-9B6E-AE25-BA783D8BF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6B4BA7-A94D-C1B6-A729-9C2444D2A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D782C2-3285-DCDE-57D5-4C3393290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99B925-62C9-79FA-EC25-F4C3D4E459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462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C29EF6-9469-4166-80BA-BE162D501A08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5FD3-B5F6-CE57-7B14-031967233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7D40AD-C691-3FF2-8D61-412BAA6FB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192260-DA83-8C02-9661-D38FBA0E0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EECD32-54F8-51B2-9F34-039C76C8B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262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DEE4-D5D9-4C76-399E-39814B6D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3E1593-29B4-EFC1-0129-521E25D49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275850-0CA0-A40C-C873-47B6BD91C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C36D15-EA2D-265E-854F-A572FBA191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724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A9A9-3026-AD64-0EAC-AA72E99FA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D13B19-9C7E-BA8A-6BB1-0F4133537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C7AD46-D4AC-3FD8-F1CB-63E4B9DAD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1AE69-E3C8-EAA8-37E3-268609D1B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51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C29EF6-9469-4166-80BA-BE162D501A08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3861E-D6B4-8FBF-7095-AC76293D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16ADD6-281C-176D-972B-FC50DD098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9D74E8-CFDA-75CD-26E2-1B9A30832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06A64-3ED9-F56A-499F-F34CF3C5EC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C29EF6-9469-4166-80BA-BE162D501A0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758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74D6B-E348-0E09-37AE-E8E5D0D4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A3E32A-6B2B-D5DC-BE7B-428A23382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981F6B-070C-E2B2-4F00-266B09A19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8A9257-95D7-4162-31A9-D36D9B692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C29EF6-9469-4166-80BA-BE162D501A0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758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BFB60-DF70-49C9-ACF0-1AFEF9115986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6AE31-9D06-41DE-B63F-459B18524DCB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B44E-8361-4A89-B911-31997C431F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6AE31-9D06-41DE-B63F-459B18524DCB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5B44E-8361-4A89-B911-31997C431F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6AE31-9D06-41DE-B63F-459B18524DCB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5B44E-8361-4A89-B911-31997C431F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auto">
          <a:xfrm>
            <a:off x="0" y="6350"/>
            <a:ext cx="12193588" cy="6851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2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3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4.xml"/><Relationship Id="rId7" Type="http://schemas.openxmlformats.org/officeDocument/2006/relationships/notesSlide" Target="../notesSlides/notesSlide16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2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hyperlink" Target="https://github.com/functionx37/UniServe-Platform-of-InfoRUC" TargetMode="Externa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/>
          <p:cNvSpPr/>
          <p:nvPr/>
        </p:nvSpPr>
        <p:spPr bwMode="auto">
          <a:xfrm>
            <a:off x="4667885" y="-132715"/>
            <a:ext cx="7526020" cy="3985260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36" name="Freeform 14"/>
          <p:cNvSpPr/>
          <p:nvPr/>
        </p:nvSpPr>
        <p:spPr bwMode="auto">
          <a:xfrm>
            <a:off x="10344150" y="3480178"/>
            <a:ext cx="1849438" cy="3374647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TextBox 14"/>
          <p:cNvSpPr txBox="1"/>
          <p:nvPr/>
        </p:nvSpPr>
        <p:spPr>
          <a:xfrm>
            <a:off x="246856" y="1736169"/>
            <a:ext cx="96688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UniServe</a:t>
            </a:r>
          </a:p>
          <a:p>
            <a:r>
              <a:rPr lang="zh-CN" altLang="en-US" sz="54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人大信息学院学生综合服务</a:t>
            </a:r>
            <a:endParaRPr lang="en-US" altLang="zh-CN" sz="5400" dirty="0">
              <a:solidFill>
                <a:srgbClr val="B334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r>
              <a:rPr lang="zh-CN" altLang="en-US" sz="54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与党团管理平台</a:t>
            </a:r>
            <a:endParaRPr lang="en-US" altLang="zh-CN" sz="5400" dirty="0">
              <a:solidFill>
                <a:srgbClr val="B334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  <a:p>
            <a:r>
              <a:rPr lang="zh-CN" altLang="en-US" sz="54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项目汇报</a:t>
            </a:r>
            <a:endParaRPr lang="en-US" altLang="zh-CN" sz="5400" dirty="0">
              <a:solidFill>
                <a:srgbClr val="B334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56" name="TextBox 16"/>
          <p:cNvSpPr txBox="1"/>
          <p:nvPr/>
        </p:nvSpPr>
        <p:spPr>
          <a:xfrm>
            <a:off x="4667885" y="5207885"/>
            <a:ext cx="3300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汇报人：胡君楠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时间：</a:t>
            </a:r>
            <a:r>
              <a:rPr lang="en-US" altLang="zh-CN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2026.6.30</a:t>
            </a:r>
            <a:endParaRPr lang="zh-CN" altLang="en-US" sz="24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59" name="Freeform 6"/>
          <p:cNvSpPr/>
          <p:nvPr/>
        </p:nvSpPr>
        <p:spPr bwMode="auto">
          <a:xfrm flipH="1" flipV="1">
            <a:off x="-7920" y="5219765"/>
            <a:ext cx="3094019" cy="1638234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pic>
        <p:nvPicPr>
          <p:cNvPr id="4" name="图片 3" descr="中国人民大学logo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828" y="252730"/>
            <a:ext cx="1795145" cy="1607185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26B65F66-C282-69B7-11DB-E8F6F2C13790}"/>
              </a:ext>
            </a:extLst>
          </p:cNvPr>
          <p:cNvSpPr txBox="1"/>
          <p:nvPr/>
        </p:nvSpPr>
        <p:spPr>
          <a:xfrm>
            <a:off x="246856" y="594657"/>
            <a:ext cx="96688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第</a:t>
            </a:r>
            <a:r>
              <a:rPr lang="en-US" altLang="zh-CN" sz="54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5</a:t>
            </a:r>
            <a:r>
              <a:rPr lang="zh-CN" altLang="en-US" sz="54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组</a:t>
            </a:r>
            <a:endParaRPr lang="en-US" altLang="zh-CN" sz="5400" dirty="0">
              <a:solidFill>
                <a:srgbClr val="B334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56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1852981" y="3089293"/>
            <a:ext cx="5196247" cy="969571"/>
            <a:chOff x="2234320" y="2830681"/>
            <a:chExt cx="5196247" cy="969571"/>
          </a:xfrm>
        </p:grpSpPr>
        <p:sp>
          <p:nvSpPr>
            <p:cNvPr id="30" name="矩形 29"/>
            <p:cNvSpPr/>
            <p:nvPr/>
          </p:nvSpPr>
          <p:spPr>
            <a:xfrm>
              <a:off x="3008487" y="2969255"/>
              <a:ext cx="4422080" cy="830997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r>
                <a:rPr lang="zh-CN" altLang="en-US" sz="2400" dirty="0">
                  <a:solidFill>
                    <a:srgbClr val="B3342E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Andalus" pitchFamily="18" charset="-78"/>
                  <a:sym typeface="思源黑体 CN Normal" panose="020B0400000000000000" pitchFamily="34" charset="-122"/>
                </a:rPr>
                <a:t>阶段安排与计划落实</a:t>
              </a:r>
            </a:p>
            <a:p>
              <a:endParaRPr lang="zh-CN" altLang="en-US" sz="2400" dirty="0">
                <a:solidFill>
                  <a:srgbClr val="B3342E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ndalus" pitchFamily="18" charset="-78"/>
                <a:sym typeface="思源黑体 CN Normal" panose="020B0400000000000000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2234320" y="2830681"/>
              <a:ext cx="622497" cy="622497"/>
            </a:xfrm>
            <a:prstGeom prst="ellipse">
              <a:avLst/>
            </a:prstGeom>
            <a:solidFill>
              <a:srgbClr val="B3342E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308151" y="2940211"/>
              <a:ext cx="46679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Andalus" pitchFamily="18" charset="-78"/>
                  <a:sym typeface="思源黑体 CN Normal" panose="020B0400000000000000" pitchFamily="34" charset="-122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ndalus" pitchFamily="18" charset="-78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508603" y="3089293"/>
            <a:ext cx="4289385" cy="622497"/>
            <a:chOff x="2234320" y="2830681"/>
            <a:chExt cx="4289385" cy="622497"/>
          </a:xfrm>
        </p:grpSpPr>
        <p:sp>
          <p:nvSpPr>
            <p:cNvPr id="51" name="矩形 50"/>
            <p:cNvSpPr/>
            <p:nvPr/>
          </p:nvSpPr>
          <p:spPr>
            <a:xfrm>
              <a:off x="3008487" y="2969254"/>
              <a:ext cx="3515218" cy="461665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r>
                <a:rPr lang="zh-CN" altLang="en-US" sz="2400" dirty="0">
                  <a:solidFill>
                    <a:srgbClr val="B3342E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Andalus" pitchFamily="18" charset="-78"/>
                  <a:sym typeface="思源黑体 CN Normal" panose="020B0400000000000000" pitchFamily="34" charset="-122"/>
                </a:rPr>
                <a:t>项目与功能概述</a:t>
              </a:r>
            </a:p>
          </p:txBody>
        </p:sp>
        <p:sp>
          <p:nvSpPr>
            <p:cNvPr id="52" name="椭圆 51"/>
            <p:cNvSpPr/>
            <p:nvPr/>
          </p:nvSpPr>
          <p:spPr>
            <a:xfrm>
              <a:off x="2234320" y="2830681"/>
              <a:ext cx="622497" cy="622497"/>
            </a:xfrm>
            <a:prstGeom prst="ellipse">
              <a:avLst/>
            </a:prstGeom>
            <a:solidFill>
              <a:srgbClr val="B3342E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2308151" y="2940211"/>
              <a:ext cx="46679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Andalus" pitchFamily="18" charset="-78"/>
                  <a:sym typeface="思源黑体 CN Normal" panose="020B0400000000000000" pitchFamily="34" charset="-122"/>
                </a:rPr>
                <a:t>02</a:t>
              </a:r>
              <a:endParaRPr lang="zh-CN" altLang="en-US" sz="20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ndalus" pitchFamily="18" charset="-78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852981" y="4645781"/>
            <a:ext cx="6666179" cy="622497"/>
            <a:chOff x="2234320" y="2830681"/>
            <a:chExt cx="6666179" cy="622497"/>
          </a:xfrm>
        </p:grpSpPr>
        <p:sp>
          <p:nvSpPr>
            <p:cNvPr id="56" name="矩形 55"/>
            <p:cNvSpPr/>
            <p:nvPr/>
          </p:nvSpPr>
          <p:spPr>
            <a:xfrm>
              <a:off x="3008487" y="2917803"/>
              <a:ext cx="5892012" cy="461665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r>
                <a:rPr lang="zh-CN" altLang="en-US" sz="2400" dirty="0">
                  <a:solidFill>
                    <a:srgbClr val="B3342E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Andalus" pitchFamily="18" charset="-78"/>
                  <a:sym typeface="思源黑体 CN Normal" panose="020B0400000000000000" pitchFamily="34" charset="-122"/>
                </a:rPr>
                <a:t>认识与反思</a:t>
              </a:r>
            </a:p>
          </p:txBody>
        </p:sp>
        <p:sp>
          <p:nvSpPr>
            <p:cNvPr id="57" name="椭圆 56"/>
            <p:cNvSpPr/>
            <p:nvPr/>
          </p:nvSpPr>
          <p:spPr>
            <a:xfrm>
              <a:off x="2234320" y="2830681"/>
              <a:ext cx="622497" cy="622497"/>
            </a:xfrm>
            <a:prstGeom prst="ellipse">
              <a:avLst/>
            </a:prstGeom>
            <a:solidFill>
              <a:srgbClr val="B3342E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2308151" y="2940211"/>
              <a:ext cx="46679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Andalus" pitchFamily="18" charset="-78"/>
                  <a:sym typeface="思源黑体 CN Normal" panose="020B0400000000000000" pitchFamily="34" charset="-122"/>
                </a:rPr>
                <a:t>03</a:t>
              </a:r>
              <a:endParaRPr lang="zh-CN" altLang="en-US" sz="20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ndalus" pitchFamily="18" charset="-78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508603" y="4645781"/>
            <a:ext cx="622497" cy="622497"/>
            <a:chOff x="2234320" y="2830681"/>
            <a:chExt cx="622497" cy="622497"/>
          </a:xfrm>
        </p:grpSpPr>
        <p:sp>
          <p:nvSpPr>
            <p:cNvPr id="62" name="椭圆 61"/>
            <p:cNvSpPr/>
            <p:nvPr/>
          </p:nvSpPr>
          <p:spPr>
            <a:xfrm>
              <a:off x="2234320" y="2830681"/>
              <a:ext cx="622497" cy="622497"/>
            </a:xfrm>
            <a:prstGeom prst="ellipse">
              <a:avLst/>
            </a:prstGeom>
            <a:solidFill>
              <a:srgbClr val="B3342E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>
                <a:solidFill>
                  <a:srgbClr val="FFFF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2308151" y="2940211"/>
              <a:ext cx="46679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Andalus" pitchFamily="18" charset="-78"/>
                  <a:sym typeface="思源黑体 CN Normal" panose="020B0400000000000000" pitchFamily="34" charset="-122"/>
                </a:rPr>
                <a:t>04</a:t>
              </a:r>
              <a:endParaRPr lang="zh-CN" altLang="en-US" sz="20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ndalus" pitchFamily="18" charset="-78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34" name="Freeform 6"/>
          <p:cNvSpPr/>
          <p:nvPr/>
        </p:nvSpPr>
        <p:spPr bwMode="auto">
          <a:xfrm flipH="1">
            <a:off x="-7923" y="0"/>
            <a:ext cx="5789597" cy="2459029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4722957" y="968516"/>
            <a:ext cx="3398046" cy="830997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 algn="ctr">
              <a:defRPr sz="16600" b="1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  <a:alpha val="0"/>
                        </a:schemeClr>
                      </a:gs>
                      <a:gs pos="5600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7200000" scaled="0"/>
                  </a:gradFill>
                </a:ln>
                <a:solidFill>
                  <a:srgbClr val="00518E"/>
                </a:solidFill>
                <a:latin typeface="Agency FB" panose="020B0503020202020204" pitchFamily="34" charset="0"/>
              </a:defRPr>
            </a:lvl1pPr>
          </a:lstStyle>
          <a:p>
            <a:pPr algn="dist"/>
            <a:r>
              <a:rPr lang="en-US" altLang="zh-CN" sz="4800" b="0" dirty="0">
                <a:ln>
                  <a:noFill/>
                </a:ln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CONTENTS</a:t>
            </a:r>
            <a:endParaRPr lang="zh-CN" altLang="en-US" sz="4800" b="0" dirty="0">
              <a:ln>
                <a:noFill/>
              </a:ln>
              <a:solidFill>
                <a:srgbClr val="B334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8" name="文本框 10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48183" y="392254"/>
            <a:ext cx="205114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/>
            <a:r>
              <a:rPr lang="zh-CN" altLang="en-US" sz="66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目录</a:t>
            </a:r>
          </a:p>
        </p:txBody>
      </p:sp>
      <p:sp>
        <p:nvSpPr>
          <p:cNvPr id="35" name="Freeform 14"/>
          <p:cNvSpPr/>
          <p:nvPr/>
        </p:nvSpPr>
        <p:spPr bwMode="auto">
          <a:xfrm rot="5400000">
            <a:off x="9975465" y="4641465"/>
            <a:ext cx="1470793" cy="2962275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4" name="图片 3" descr="中国人民大学logo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0" y="521335"/>
            <a:ext cx="1420495" cy="127825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14EEC5E-0C94-077F-E032-3F0C97F07484}"/>
              </a:ext>
            </a:extLst>
          </p:cNvPr>
          <p:cNvSpPr/>
          <p:nvPr/>
        </p:nvSpPr>
        <p:spPr>
          <a:xfrm>
            <a:off x="7319182" y="4755311"/>
            <a:ext cx="5892012" cy="461665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r>
              <a:rPr lang="zh-CN" altLang="en-US" sz="2400" dirty="0">
                <a:solidFill>
                  <a:srgbClr val="B3342E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ndalus" pitchFamily="18" charset="-78"/>
                <a:sym typeface="思源黑体 CN Normal" panose="020B0400000000000000" pitchFamily="34" charset="-122"/>
              </a:rPr>
              <a:t>协作模式与开发过程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 p14:presetBounceEnd="3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2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1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274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774"/>
                                </p:stCondLst>
                                <p:childTnLst>
                                  <p:par>
                                    <p:cTn id="1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2274"/>
                                </p:stCondLst>
                                <p:childTnLst>
                                  <p:par>
                                    <p:cTn id="2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2774"/>
                                </p:stCondLst>
                                <p:childTnLst>
                                  <p:par>
                                    <p:cTn id="26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274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774"/>
                                </p:stCondLst>
                                <p:childTnLst>
                                  <p:par>
                                    <p:cTn id="1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2274"/>
                                </p:stCondLst>
                                <p:childTnLst>
                                  <p:par>
                                    <p:cTn id="2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2774"/>
                                </p:stCondLst>
                                <p:childTnLst>
                                  <p:par>
                                    <p:cTn id="26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4"/>
          <p:cNvSpPr txBox="1"/>
          <p:nvPr>
            <p:custDataLst>
              <p:tags r:id="rId1"/>
            </p:custDataLst>
          </p:nvPr>
        </p:nvSpPr>
        <p:spPr>
          <a:xfrm>
            <a:off x="4177502" y="1743002"/>
            <a:ext cx="1488894" cy="1441061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dist">
              <a:defRPr/>
            </a:pPr>
            <a:r>
              <a:rPr lang="en-US" altLang="zh-CN" sz="8800" dirty="0">
                <a:solidFill>
                  <a:srgbClr val="B3342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01</a:t>
            </a:r>
            <a:endParaRPr lang="zh-CN" altLang="en-US" sz="8800" dirty="0">
              <a:solidFill>
                <a:srgbClr val="B3342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3"/>
          <p:cNvSpPr txBox="1"/>
          <p:nvPr>
            <p:custDataLst>
              <p:tags r:id="rId2"/>
            </p:custDataLst>
          </p:nvPr>
        </p:nvSpPr>
        <p:spPr>
          <a:xfrm>
            <a:off x="1149226" y="4316377"/>
            <a:ext cx="8354165" cy="630454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116965">
              <a:lnSpc>
                <a:spcPct val="120000"/>
              </a:lnSpc>
              <a:defRPr/>
            </a:pPr>
            <a:r>
              <a:rPr lang="zh-CN" altLang="en-US" sz="3200" dirty="0"/>
              <a:t>需求分析、软件设计、代码实现与测试协作</a:t>
            </a:r>
          </a:p>
        </p:txBody>
      </p:sp>
      <p:sp>
        <p:nvSpPr>
          <p:cNvPr id="14" name="2"/>
          <p:cNvSpPr txBox="1"/>
          <p:nvPr>
            <p:custDataLst>
              <p:tags r:id="rId3"/>
            </p:custDataLst>
          </p:nvPr>
        </p:nvSpPr>
        <p:spPr>
          <a:xfrm>
            <a:off x="187005" y="3164959"/>
            <a:ext cx="9090001" cy="2302835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dist"/>
            <a:r>
              <a:rPr lang="zh-CN" altLang="en-US" sz="72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cs typeface="Andalus" pitchFamily="18" charset="-78"/>
                <a:sym typeface="思源黑体 CN Normal" panose="020B0400000000000000" pitchFamily="34" charset="-122"/>
              </a:rPr>
              <a:t>阶段安排与计划落实</a:t>
            </a:r>
          </a:p>
          <a:p>
            <a:pPr algn="dist"/>
            <a:endParaRPr lang="zh-CN" altLang="en-US" sz="7200" dirty="0">
              <a:solidFill>
                <a:srgbClr val="B334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  <a:cs typeface="Andalus" pitchFamily="18" charset="-78"/>
              <a:sym typeface="思源黑体 CN Normal" panose="020B0400000000000000" pitchFamily="34" charset="-122"/>
            </a:endParaRPr>
          </a:p>
        </p:txBody>
      </p:sp>
      <p:sp>
        <p:nvSpPr>
          <p:cNvPr id="18" name="Freeform 6"/>
          <p:cNvSpPr/>
          <p:nvPr/>
        </p:nvSpPr>
        <p:spPr bwMode="auto">
          <a:xfrm>
            <a:off x="4667250" y="0"/>
            <a:ext cx="7526020" cy="3985260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22" name="Freeform 6"/>
          <p:cNvSpPr/>
          <p:nvPr/>
        </p:nvSpPr>
        <p:spPr bwMode="auto">
          <a:xfrm flipH="1" flipV="1">
            <a:off x="-2" y="5173682"/>
            <a:ext cx="3609975" cy="1684316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23" name="4"/>
          <p:cNvSpPr txBox="1"/>
          <p:nvPr>
            <p:custDataLst>
              <p:tags r:id="rId4"/>
            </p:custDataLst>
          </p:nvPr>
        </p:nvSpPr>
        <p:spPr>
          <a:xfrm>
            <a:off x="2688608" y="2316015"/>
            <a:ext cx="1488894" cy="702397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dist">
              <a:defRPr/>
            </a:pPr>
            <a:r>
              <a:rPr lang="en-US" altLang="zh-CN" sz="4000" dirty="0">
                <a:solidFill>
                  <a:srgbClr val="B3342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PART</a:t>
            </a:r>
            <a:endParaRPr lang="zh-CN" altLang="en-US" sz="4000" dirty="0">
              <a:solidFill>
                <a:srgbClr val="B3342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2" name="图片 1" descr="中国人民大学logo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9227" y="4946831"/>
            <a:ext cx="1736090" cy="1548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4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4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build="p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6"/>
          <p:cNvCxnSpPr/>
          <p:nvPr/>
        </p:nvCxnSpPr>
        <p:spPr>
          <a:xfrm>
            <a:off x="6102275" y="1156606"/>
            <a:ext cx="0" cy="5676900"/>
          </a:xfrm>
          <a:prstGeom prst="line">
            <a:avLst/>
          </a:prstGeom>
          <a:ln>
            <a:solidFill>
              <a:srgbClr val="B334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9"/>
          <p:cNvSpPr/>
          <p:nvPr/>
        </p:nvSpPr>
        <p:spPr>
          <a:xfrm>
            <a:off x="5963745" y="1878276"/>
            <a:ext cx="280360" cy="280360"/>
          </a:xfrm>
          <a:prstGeom prst="ellipse">
            <a:avLst/>
          </a:prstGeom>
          <a:solidFill>
            <a:srgbClr val="B3342E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思源黑体 CN Normal" panose="020B0400000000000000" pitchFamily="34" charset="-122"/>
              <a:ea typeface="方正姚体" panose="02010601030101010101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타원 44"/>
          <p:cNvSpPr/>
          <p:nvPr/>
        </p:nvSpPr>
        <p:spPr>
          <a:xfrm>
            <a:off x="5963745" y="3191456"/>
            <a:ext cx="280360" cy="280360"/>
          </a:xfrm>
          <a:prstGeom prst="ellipse">
            <a:avLst/>
          </a:prstGeom>
          <a:solidFill>
            <a:srgbClr val="B3342E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思源黑体 CN Normal" panose="020B0400000000000000" pitchFamily="34" charset="-122"/>
              <a:ea typeface="方正姚体" panose="02010601030101010101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타원 47"/>
          <p:cNvSpPr/>
          <p:nvPr/>
        </p:nvSpPr>
        <p:spPr>
          <a:xfrm>
            <a:off x="5963745" y="4504636"/>
            <a:ext cx="280360" cy="280360"/>
          </a:xfrm>
          <a:prstGeom prst="ellipse">
            <a:avLst/>
          </a:prstGeom>
          <a:solidFill>
            <a:srgbClr val="B3342E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思源黑体 CN Normal" panose="020B0400000000000000" pitchFamily="34" charset="-122"/>
              <a:ea typeface="方正姚体" panose="02010601030101010101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타원 50"/>
          <p:cNvSpPr/>
          <p:nvPr/>
        </p:nvSpPr>
        <p:spPr>
          <a:xfrm>
            <a:off x="5963745" y="5817816"/>
            <a:ext cx="280360" cy="280360"/>
          </a:xfrm>
          <a:prstGeom prst="ellipse">
            <a:avLst/>
          </a:prstGeom>
          <a:solidFill>
            <a:srgbClr val="B3342E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思源黑体 CN Normal" panose="020B0400000000000000" pitchFamily="34" charset="-122"/>
              <a:ea typeface="方正姚体" panose="02010601030101010101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Freeform 82"/>
          <p:cNvSpPr>
            <a:spLocks noEditPoints="1"/>
          </p:cNvSpPr>
          <p:nvPr/>
        </p:nvSpPr>
        <p:spPr bwMode="auto">
          <a:xfrm>
            <a:off x="5212717" y="2612791"/>
            <a:ext cx="635187" cy="582964"/>
          </a:xfrm>
          <a:custGeom>
            <a:avLst/>
            <a:gdLst>
              <a:gd name="T0" fmla="*/ 258 w 664"/>
              <a:gd name="T1" fmla="*/ 142 h 609"/>
              <a:gd name="T2" fmla="*/ 129 w 664"/>
              <a:gd name="T3" fmla="*/ 168 h 609"/>
              <a:gd name="T4" fmla="*/ 107 w 664"/>
              <a:gd name="T5" fmla="*/ 252 h 609"/>
              <a:gd name="T6" fmla="*/ 109 w 664"/>
              <a:gd name="T7" fmla="*/ 271 h 609"/>
              <a:gd name="T8" fmla="*/ 101 w 664"/>
              <a:gd name="T9" fmla="*/ 346 h 609"/>
              <a:gd name="T10" fmla="*/ 122 w 664"/>
              <a:gd name="T11" fmla="*/ 386 h 609"/>
              <a:gd name="T12" fmla="*/ 145 w 664"/>
              <a:gd name="T13" fmla="*/ 431 h 609"/>
              <a:gd name="T14" fmla="*/ 17 w 664"/>
              <a:gd name="T15" fmla="*/ 478 h 609"/>
              <a:gd name="T16" fmla="*/ 0 w 664"/>
              <a:gd name="T17" fmla="*/ 606 h 609"/>
              <a:gd name="T18" fmla="*/ 28 w 664"/>
              <a:gd name="T19" fmla="*/ 544 h 609"/>
              <a:gd name="T20" fmla="*/ 36 w 664"/>
              <a:gd name="T21" fmla="*/ 479 h 609"/>
              <a:gd name="T22" fmla="*/ 146 w 664"/>
              <a:gd name="T23" fmla="*/ 450 h 609"/>
              <a:gd name="T24" fmla="*/ 149 w 664"/>
              <a:gd name="T25" fmla="*/ 481 h 609"/>
              <a:gd name="T26" fmla="*/ 285 w 664"/>
              <a:gd name="T27" fmla="*/ 481 h 609"/>
              <a:gd name="T28" fmla="*/ 288 w 664"/>
              <a:gd name="T29" fmla="*/ 450 h 609"/>
              <a:gd name="T30" fmla="*/ 403 w 664"/>
              <a:gd name="T31" fmla="*/ 479 h 609"/>
              <a:gd name="T32" fmla="*/ 412 w 664"/>
              <a:gd name="T33" fmla="*/ 544 h 609"/>
              <a:gd name="T34" fmla="*/ 440 w 664"/>
              <a:gd name="T35" fmla="*/ 606 h 609"/>
              <a:gd name="T36" fmla="*/ 423 w 664"/>
              <a:gd name="T37" fmla="*/ 478 h 609"/>
              <a:gd name="T38" fmla="*/ 290 w 664"/>
              <a:gd name="T39" fmla="*/ 430 h 609"/>
              <a:gd name="T40" fmla="*/ 312 w 664"/>
              <a:gd name="T41" fmla="*/ 387 h 609"/>
              <a:gd name="T42" fmla="*/ 333 w 664"/>
              <a:gd name="T43" fmla="*/ 346 h 609"/>
              <a:gd name="T44" fmla="*/ 335 w 664"/>
              <a:gd name="T45" fmla="*/ 278 h 609"/>
              <a:gd name="T46" fmla="*/ 328 w 664"/>
              <a:gd name="T47" fmla="*/ 251 h 609"/>
              <a:gd name="T48" fmla="*/ 306 w 664"/>
              <a:gd name="T49" fmla="*/ 168 h 609"/>
              <a:gd name="T50" fmla="*/ 277 w 664"/>
              <a:gd name="T51" fmla="*/ 20 h 609"/>
              <a:gd name="T52" fmla="*/ 645 w 664"/>
              <a:gd name="T53" fmla="*/ 293 h 609"/>
              <a:gd name="T54" fmla="*/ 373 w 664"/>
              <a:gd name="T55" fmla="*/ 360 h 609"/>
              <a:gd name="T56" fmla="*/ 353 w 664"/>
              <a:gd name="T57" fmla="*/ 297 h 609"/>
              <a:gd name="T58" fmla="*/ 457 w 664"/>
              <a:gd name="T59" fmla="*/ 313 h 609"/>
              <a:gd name="T60" fmla="*/ 664 w 664"/>
              <a:gd name="T61" fmla="*/ 0 h 609"/>
              <a:gd name="T62" fmla="*/ 320 w 664"/>
              <a:gd name="T63" fmla="*/ 290 h 609"/>
              <a:gd name="T64" fmla="*/ 313 w 664"/>
              <a:gd name="T65" fmla="*/ 344 h 609"/>
              <a:gd name="T66" fmla="*/ 299 w 664"/>
              <a:gd name="T67" fmla="*/ 329 h 609"/>
              <a:gd name="T68" fmla="*/ 293 w 664"/>
              <a:gd name="T69" fmla="*/ 385 h 609"/>
              <a:gd name="T70" fmla="*/ 273 w 664"/>
              <a:gd name="T71" fmla="*/ 407 h 609"/>
              <a:gd name="T72" fmla="*/ 269 w 664"/>
              <a:gd name="T73" fmla="*/ 444 h 609"/>
              <a:gd name="T74" fmla="*/ 213 w 664"/>
              <a:gd name="T75" fmla="*/ 511 h 609"/>
              <a:gd name="T76" fmla="*/ 165 w 664"/>
              <a:gd name="T77" fmla="*/ 444 h 609"/>
              <a:gd name="T78" fmla="*/ 192 w 664"/>
              <a:gd name="T79" fmla="*/ 443 h 609"/>
              <a:gd name="T80" fmla="*/ 243 w 664"/>
              <a:gd name="T81" fmla="*/ 424 h 609"/>
              <a:gd name="T82" fmla="*/ 156 w 664"/>
              <a:gd name="T83" fmla="*/ 403 h 609"/>
              <a:gd name="T84" fmla="*/ 142 w 664"/>
              <a:gd name="T85" fmla="*/ 384 h 609"/>
              <a:gd name="T86" fmla="*/ 135 w 664"/>
              <a:gd name="T87" fmla="*/ 329 h 609"/>
              <a:gd name="T88" fmla="*/ 115 w 664"/>
              <a:gd name="T89" fmla="*/ 290 h 609"/>
              <a:gd name="T90" fmla="*/ 130 w 664"/>
              <a:gd name="T91" fmla="*/ 281 h 609"/>
              <a:gd name="T92" fmla="*/ 141 w 664"/>
              <a:gd name="T93" fmla="*/ 221 h 609"/>
              <a:gd name="T94" fmla="*/ 283 w 664"/>
              <a:gd name="T95" fmla="*/ 212 h 609"/>
              <a:gd name="T96" fmla="*/ 293 w 664"/>
              <a:gd name="T97" fmla="*/ 281 h 609"/>
              <a:gd name="T98" fmla="*/ 303 w 664"/>
              <a:gd name="T99" fmla="*/ 299 h 609"/>
              <a:gd name="T100" fmla="*/ 306 w 664"/>
              <a:gd name="T101" fmla="*/ 203 h 609"/>
              <a:gd name="T102" fmla="*/ 151 w 664"/>
              <a:gd name="T103" fmla="*/ 192 h 609"/>
              <a:gd name="T104" fmla="*/ 142 w 664"/>
              <a:gd name="T105" fmla="*/ 182 h 609"/>
              <a:gd name="T106" fmla="*/ 292 w 664"/>
              <a:gd name="T107" fmla="*/ 183 h 609"/>
              <a:gd name="T108" fmla="*/ 580 w 664"/>
              <a:gd name="T109" fmla="*/ 94 h 609"/>
              <a:gd name="T110" fmla="*/ 342 w 664"/>
              <a:gd name="T111" fmla="*/ 113 h 609"/>
              <a:gd name="T112" fmla="*/ 580 w 664"/>
              <a:gd name="T113" fmla="*/ 94 h 609"/>
              <a:gd name="T114" fmla="*/ 580 w 664"/>
              <a:gd name="T115" fmla="*/ 171 h 609"/>
              <a:gd name="T116" fmla="*/ 342 w 664"/>
              <a:gd name="T117" fmla="*/ 151 h 609"/>
              <a:gd name="T118" fmla="*/ 342 w 664"/>
              <a:gd name="T119" fmla="*/ 228 h 609"/>
              <a:gd name="T120" fmla="*/ 580 w 664"/>
              <a:gd name="T121" fmla="*/ 209 h 609"/>
              <a:gd name="T122" fmla="*/ 342 w 664"/>
              <a:gd name="T123" fmla="*/ 228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64" h="609">
                <a:moveTo>
                  <a:pt x="258" y="0"/>
                </a:moveTo>
                <a:cubicBezTo>
                  <a:pt x="258" y="142"/>
                  <a:pt x="258" y="142"/>
                  <a:pt x="258" y="142"/>
                </a:cubicBezTo>
                <a:cubicBezTo>
                  <a:pt x="245" y="139"/>
                  <a:pt x="231" y="137"/>
                  <a:pt x="217" y="137"/>
                </a:cubicBezTo>
                <a:cubicBezTo>
                  <a:pt x="181" y="137"/>
                  <a:pt x="149" y="149"/>
                  <a:pt x="129" y="168"/>
                </a:cubicBezTo>
                <a:cubicBezTo>
                  <a:pt x="101" y="193"/>
                  <a:pt x="105" y="229"/>
                  <a:pt x="106" y="247"/>
                </a:cubicBezTo>
                <a:cubicBezTo>
                  <a:pt x="106" y="248"/>
                  <a:pt x="107" y="250"/>
                  <a:pt x="107" y="252"/>
                </a:cubicBezTo>
                <a:cubicBezTo>
                  <a:pt x="107" y="253"/>
                  <a:pt x="107" y="253"/>
                  <a:pt x="107" y="253"/>
                </a:cubicBezTo>
                <a:cubicBezTo>
                  <a:pt x="108" y="259"/>
                  <a:pt x="108" y="265"/>
                  <a:pt x="109" y="271"/>
                </a:cubicBezTo>
                <a:cubicBezTo>
                  <a:pt x="100" y="274"/>
                  <a:pt x="94" y="283"/>
                  <a:pt x="95" y="292"/>
                </a:cubicBezTo>
                <a:cubicBezTo>
                  <a:pt x="101" y="346"/>
                  <a:pt x="101" y="346"/>
                  <a:pt x="101" y="346"/>
                </a:cubicBezTo>
                <a:cubicBezTo>
                  <a:pt x="102" y="356"/>
                  <a:pt x="110" y="363"/>
                  <a:pt x="120" y="364"/>
                </a:cubicBezTo>
                <a:cubicBezTo>
                  <a:pt x="121" y="371"/>
                  <a:pt x="121" y="379"/>
                  <a:pt x="122" y="386"/>
                </a:cubicBezTo>
                <a:cubicBezTo>
                  <a:pt x="123" y="397"/>
                  <a:pt x="131" y="410"/>
                  <a:pt x="144" y="419"/>
                </a:cubicBezTo>
                <a:cubicBezTo>
                  <a:pt x="144" y="422"/>
                  <a:pt x="145" y="426"/>
                  <a:pt x="145" y="431"/>
                </a:cubicBezTo>
                <a:cubicBezTo>
                  <a:pt x="116" y="434"/>
                  <a:pt x="87" y="438"/>
                  <a:pt x="55" y="444"/>
                </a:cubicBezTo>
                <a:cubicBezTo>
                  <a:pt x="34" y="448"/>
                  <a:pt x="17" y="463"/>
                  <a:pt x="17" y="478"/>
                </a:cubicBezTo>
                <a:cubicBezTo>
                  <a:pt x="12" y="507"/>
                  <a:pt x="10" y="525"/>
                  <a:pt x="8" y="542"/>
                </a:cubicBezTo>
                <a:cubicBezTo>
                  <a:pt x="7" y="560"/>
                  <a:pt x="5" y="577"/>
                  <a:pt x="0" y="606"/>
                </a:cubicBezTo>
                <a:cubicBezTo>
                  <a:pt x="19" y="609"/>
                  <a:pt x="19" y="609"/>
                  <a:pt x="19" y="609"/>
                </a:cubicBezTo>
                <a:cubicBezTo>
                  <a:pt x="24" y="580"/>
                  <a:pt x="26" y="562"/>
                  <a:pt x="28" y="544"/>
                </a:cubicBezTo>
                <a:cubicBezTo>
                  <a:pt x="29" y="527"/>
                  <a:pt x="31" y="509"/>
                  <a:pt x="36" y="481"/>
                </a:cubicBezTo>
                <a:cubicBezTo>
                  <a:pt x="36" y="479"/>
                  <a:pt x="36" y="479"/>
                  <a:pt x="36" y="479"/>
                </a:cubicBezTo>
                <a:cubicBezTo>
                  <a:pt x="36" y="474"/>
                  <a:pt x="45" y="465"/>
                  <a:pt x="58" y="463"/>
                </a:cubicBezTo>
                <a:cubicBezTo>
                  <a:pt x="89" y="457"/>
                  <a:pt x="118" y="453"/>
                  <a:pt x="146" y="450"/>
                </a:cubicBezTo>
                <a:cubicBezTo>
                  <a:pt x="147" y="461"/>
                  <a:pt x="148" y="472"/>
                  <a:pt x="149" y="477"/>
                </a:cubicBezTo>
                <a:cubicBezTo>
                  <a:pt x="149" y="481"/>
                  <a:pt x="149" y="481"/>
                  <a:pt x="149" y="481"/>
                </a:cubicBezTo>
                <a:cubicBezTo>
                  <a:pt x="212" y="536"/>
                  <a:pt x="212" y="536"/>
                  <a:pt x="212" y="536"/>
                </a:cubicBezTo>
                <a:cubicBezTo>
                  <a:pt x="285" y="481"/>
                  <a:pt x="285" y="481"/>
                  <a:pt x="285" y="481"/>
                </a:cubicBezTo>
                <a:cubicBezTo>
                  <a:pt x="286" y="477"/>
                  <a:pt x="286" y="477"/>
                  <a:pt x="286" y="477"/>
                </a:cubicBezTo>
                <a:cubicBezTo>
                  <a:pt x="287" y="472"/>
                  <a:pt x="287" y="461"/>
                  <a:pt x="288" y="450"/>
                </a:cubicBezTo>
                <a:cubicBezTo>
                  <a:pt x="318" y="452"/>
                  <a:pt x="348" y="457"/>
                  <a:pt x="381" y="463"/>
                </a:cubicBezTo>
                <a:cubicBezTo>
                  <a:pt x="394" y="465"/>
                  <a:pt x="403" y="474"/>
                  <a:pt x="403" y="479"/>
                </a:cubicBezTo>
                <a:cubicBezTo>
                  <a:pt x="403" y="481"/>
                  <a:pt x="403" y="481"/>
                  <a:pt x="403" y="481"/>
                </a:cubicBezTo>
                <a:cubicBezTo>
                  <a:pt x="408" y="509"/>
                  <a:pt x="410" y="527"/>
                  <a:pt x="412" y="544"/>
                </a:cubicBezTo>
                <a:cubicBezTo>
                  <a:pt x="413" y="562"/>
                  <a:pt x="415" y="580"/>
                  <a:pt x="420" y="609"/>
                </a:cubicBezTo>
                <a:cubicBezTo>
                  <a:pt x="440" y="606"/>
                  <a:pt x="440" y="606"/>
                  <a:pt x="440" y="606"/>
                </a:cubicBezTo>
                <a:cubicBezTo>
                  <a:pt x="434" y="577"/>
                  <a:pt x="433" y="560"/>
                  <a:pt x="431" y="542"/>
                </a:cubicBezTo>
                <a:cubicBezTo>
                  <a:pt x="429" y="525"/>
                  <a:pt x="427" y="507"/>
                  <a:pt x="423" y="478"/>
                </a:cubicBezTo>
                <a:cubicBezTo>
                  <a:pt x="422" y="463"/>
                  <a:pt x="406" y="448"/>
                  <a:pt x="385" y="444"/>
                </a:cubicBezTo>
                <a:cubicBezTo>
                  <a:pt x="351" y="437"/>
                  <a:pt x="320" y="433"/>
                  <a:pt x="290" y="430"/>
                </a:cubicBezTo>
                <a:cubicBezTo>
                  <a:pt x="290" y="426"/>
                  <a:pt x="290" y="422"/>
                  <a:pt x="291" y="419"/>
                </a:cubicBezTo>
                <a:cubicBezTo>
                  <a:pt x="303" y="409"/>
                  <a:pt x="311" y="397"/>
                  <a:pt x="312" y="387"/>
                </a:cubicBezTo>
                <a:cubicBezTo>
                  <a:pt x="313" y="379"/>
                  <a:pt x="314" y="371"/>
                  <a:pt x="315" y="364"/>
                </a:cubicBezTo>
                <a:cubicBezTo>
                  <a:pt x="324" y="363"/>
                  <a:pt x="332" y="356"/>
                  <a:pt x="333" y="346"/>
                </a:cubicBezTo>
                <a:cubicBezTo>
                  <a:pt x="339" y="292"/>
                  <a:pt x="339" y="292"/>
                  <a:pt x="339" y="292"/>
                </a:cubicBezTo>
                <a:cubicBezTo>
                  <a:pt x="340" y="287"/>
                  <a:pt x="338" y="282"/>
                  <a:pt x="335" y="278"/>
                </a:cubicBezTo>
                <a:cubicBezTo>
                  <a:pt x="332" y="275"/>
                  <a:pt x="329" y="272"/>
                  <a:pt x="325" y="271"/>
                </a:cubicBezTo>
                <a:cubicBezTo>
                  <a:pt x="326" y="265"/>
                  <a:pt x="327" y="258"/>
                  <a:pt x="328" y="251"/>
                </a:cubicBezTo>
                <a:cubicBezTo>
                  <a:pt x="328" y="250"/>
                  <a:pt x="328" y="248"/>
                  <a:pt x="328" y="247"/>
                </a:cubicBezTo>
                <a:cubicBezTo>
                  <a:pt x="330" y="229"/>
                  <a:pt x="333" y="193"/>
                  <a:pt x="306" y="168"/>
                </a:cubicBezTo>
                <a:cubicBezTo>
                  <a:pt x="298" y="161"/>
                  <a:pt x="288" y="154"/>
                  <a:pt x="277" y="149"/>
                </a:cubicBezTo>
                <a:cubicBezTo>
                  <a:pt x="277" y="20"/>
                  <a:pt x="277" y="20"/>
                  <a:pt x="277" y="20"/>
                </a:cubicBezTo>
                <a:cubicBezTo>
                  <a:pt x="645" y="20"/>
                  <a:pt x="645" y="20"/>
                  <a:pt x="645" y="20"/>
                </a:cubicBezTo>
                <a:cubicBezTo>
                  <a:pt x="645" y="293"/>
                  <a:pt x="645" y="293"/>
                  <a:pt x="645" y="293"/>
                </a:cubicBezTo>
                <a:cubicBezTo>
                  <a:pt x="450" y="293"/>
                  <a:pt x="450" y="293"/>
                  <a:pt x="450" y="293"/>
                </a:cubicBezTo>
                <a:cubicBezTo>
                  <a:pt x="373" y="360"/>
                  <a:pt x="373" y="360"/>
                  <a:pt x="373" y="360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53" y="297"/>
                  <a:pt x="353" y="297"/>
                  <a:pt x="353" y="297"/>
                </a:cubicBezTo>
                <a:cubicBezTo>
                  <a:pt x="353" y="402"/>
                  <a:pt x="353" y="402"/>
                  <a:pt x="353" y="402"/>
                </a:cubicBezTo>
                <a:cubicBezTo>
                  <a:pt x="457" y="313"/>
                  <a:pt x="457" y="313"/>
                  <a:pt x="457" y="313"/>
                </a:cubicBezTo>
                <a:cubicBezTo>
                  <a:pt x="664" y="313"/>
                  <a:pt x="664" y="313"/>
                  <a:pt x="664" y="313"/>
                </a:cubicBezTo>
                <a:cubicBezTo>
                  <a:pt x="664" y="0"/>
                  <a:pt x="664" y="0"/>
                  <a:pt x="664" y="0"/>
                </a:cubicBezTo>
                <a:lnTo>
                  <a:pt x="258" y="0"/>
                </a:lnTo>
                <a:close/>
                <a:moveTo>
                  <a:pt x="320" y="290"/>
                </a:moveTo>
                <a:cubicBezTo>
                  <a:pt x="314" y="344"/>
                  <a:pt x="314" y="344"/>
                  <a:pt x="314" y="344"/>
                </a:cubicBezTo>
                <a:cubicBezTo>
                  <a:pt x="313" y="344"/>
                  <a:pt x="313" y="344"/>
                  <a:pt x="313" y="344"/>
                </a:cubicBezTo>
                <a:cubicBezTo>
                  <a:pt x="313" y="344"/>
                  <a:pt x="313" y="344"/>
                  <a:pt x="313" y="344"/>
                </a:cubicBezTo>
                <a:cubicBezTo>
                  <a:pt x="299" y="329"/>
                  <a:pt x="299" y="329"/>
                  <a:pt x="299" y="329"/>
                </a:cubicBezTo>
                <a:cubicBezTo>
                  <a:pt x="297" y="349"/>
                  <a:pt x="297" y="349"/>
                  <a:pt x="297" y="349"/>
                </a:cubicBezTo>
                <a:cubicBezTo>
                  <a:pt x="295" y="361"/>
                  <a:pt x="294" y="373"/>
                  <a:pt x="293" y="385"/>
                </a:cubicBezTo>
                <a:cubicBezTo>
                  <a:pt x="292" y="390"/>
                  <a:pt x="286" y="398"/>
                  <a:pt x="276" y="405"/>
                </a:cubicBezTo>
                <a:cubicBezTo>
                  <a:pt x="273" y="407"/>
                  <a:pt x="273" y="407"/>
                  <a:pt x="273" y="407"/>
                </a:cubicBezTo>
                <a:cubicBezTo>
                  <a:pt x="272" y="412"/>
                  <a:pt x="272" y="412"/>
                  <a:pt x="272" y="412"/>
                </a:cubicBezTo>
                <a:cubicBezTo>
                  <a:pt x="271" y="418"/>
                  <a:pt x="270" y="431"/>
                  <a:pt x="269" y="444"/>
                </a:cubicBezTo>
                <a:cubicBezTo>
                  <a:pt x="268" y="454"/>
                  <a:pt x="268" y="464"/>
                  <a:pt x="267" y="471"/>
                </a:cubicBezTo>
                <a:cubicBezTo>
                  <a:pt x="213" y="511"/>
                  <a:pt x="213" y="511"/>
                  <a:pt x="213" y="511"/>
                </a:cubicBezTo>
                <a:cubicBezTo>
                  <a:pt x="167" y="471"/>
                  <a:pt x="167" y="471"/>
                  <a:pt x="167" y="471"/>
                </a:cubicBezTo>
                <a:cubicBezTo>
                  <a:pt x="167" y="465"/>
                  <a:pt x="166" y="454"/>
                  <a:pt x="165" y="444"/>
                </a:cubicBezTo>
                <a:cubicBezTo>
                  <a:pt x="165" y="439"/>
                  <a:pt x="165" y="434"/>
                  <a:pt x="164" y="429"/>
                </a:cubicBezTo>
                <a:cubicBezTo>
                  <a:pt x="192" y="443"/>
                  <a:pt x="192" y="443"/>
                  <a:pt x="192" y="443"/>
                </a:cubicBezTo>
                <a:cubicBezTo>
                  <a:pt x="243" y="443"/>
                  <a:pt x="243" y="443"/>
                  <a:pt x="243" y="443"/>
                </a:cubicBezTo>
                <a:cubicBezTo>
                  <a:pt x="243" y="424"/>
                  <a:pt x="243" y="424"/>
                  <a:pt x="243" y="424"/>
                </a:cubicBezTo>
                <a:cubicBezTo>
                  <a:pt x="196" y="424"/>
                  <a:pt x="196" y="424"/>
                  <a:pt x="196" y="424"/>
                </a:cubicBezTo>
                <a:cubicBezTo>
                  <a:pt x="156" y="403"/>
                  <a:pt x="156" y="403"/>
                  <a:pt x="156" y="403"/>
                </a:cubicBezTo>
                <a:cubicBezTo>
                  <a:pt x="156" y="403"/>
                  <a:pt x="156" y="403"/>
                  <a:pt x="156" y="403"/>
                </a:cubicBezTo>
                <a:cubicBezTo>
                  <a:pt x="147" y="397"/>
                  <a:pt x="142" y="389"/>
                  <a:pt x="142" y="384"/>
                </a:cubicBezTo>
                <a:cubicBezTo>
                  <a:pt x="140" y="373"/>
                  <a:pt x="139" y="361"/>
                  <a:pt x="138" y="349"/>
                </a:cubicBezTo>
                <a:cubicBezTo>
                  <a:pt x="135" y="329"/>
                  <a:pt x="135" y="329"/>
                  <a:pt x="135" y="329"/>
                </a:cubicBezTo>
                <a:cubicBezTo>
                  <a:pt x="120" y="344"/>
                  <a:pt x="120" y="344"/>
                  <a:pt x="120" y="344"/>
                </a:cubicBezTo>
                <a:cubicBezTo>
                  <a:pt x="115" y="290"/>
                  <a:pt x="115" y="290"/>
                  <a:pt x="115" y="290"/>
                </a:cubicBezTo>
                <a:cubicBezTo>
                  <a:pt x="132" y="299"/>
                  <a:pt x="132" y="299"/>
                  <a:pt x="132" y="299"/>
                </a:cubicBezTo>
                <a:cubicBezTo>
                  <a:pt x="130" y="281"/>
                  <a:pt x="130" y="281"/>
                  <a:pt x="130" y="281"/>
                </a:cubicBezTo>
                <a:cubicBezTo>
                  <a:pt x="141" y="281"/>
                  <a:pt x="141" y="281"/>
                  <a:pt x="141" y="281"/>
                </a:cubicBezTo>
                <a:cubicBezTo>
                  <a:pt x="141" y="221"/>
                  <a:pt x="141" y="221"/>
                  <a:pt x="141" y="221"/>
                </a:cubicBezTo>
                <a:cubicBezTo>
                  <a:pt x="141" y="216"/>
                  <a:pt x="145" y="212"/>
                  <a:pt x="151" y="212"/>
                </a:cubicBezTo>
                <a:cubicBezTo>
                  <a:pt x="283" y="212"/>
                  <a:pt x="283" y="212"/>
                  <a:pt x="283" y="212"/>
                </a:cubicBezTo>
                <a:cubicBezTo>
                  <a:pt x="289" y="212"/>
                  <a:pt x="293" y="216"/>
                  <a:pt x="293" y="221"/>
                </a:cubicBezTo>
                <a:cubicBezTo>
                  <a:pt x="293" y="281"/>
                  <a:pt x="293" y="281"/>
                  <a:pt x="293" y="281"/>
                </a:cubicBezTo>
                <a:cubicBezTo>
                  <a:pt x="305" y="281"/>
                  <a:pt x="305" y="281"/>
                  <a:pt x="305" y="281"/>
                </a:cubicBezTo>
                <a:cubicBezTo>
                  <a:pt x="303" y="299"/>
                  <a:pt x="303" y="299"/>
                  <a:pt x="303" y="299"/>
                </a:cubicBezTo>
                <a:lnTo>
                  <a:pt x="320" y="290"/>
                </a:lnTo>
                <a:close/>
                <a:moveTo>
                  <a:pt x="306" y="203"/>
                </a:moveTo>
                <a:cubicBezTo>
                  <a:pt x="301" y="197"/>
                  <a:pt x="293" y="192"/>
                  <a:pt x="283" y="192"/>
                </a:cubicBezTo>
                <a:cubicBezTo>
                  <a:pt x="151" y="192"/>
                  <a:pt x="151" y="192"/>
                  <a:pt x="151" y="192"/>
                </a:cubicBezTo>
                <a:cubicBezTo>
                  <a:pt x="142" y="192"/>
                  <a:pt x="134" y="196"/>
                  <a:pt x="129" y="203"/>
                </a:cubicBezTo>
                <a:cubicBezTo>
                  <a:pt x="131" y="195"/>
                  <a:pt x="136" y="188"/>
                  <a:pt x="142" y="182"/>
                </a:cubicBezTo>
                <a:cubicBezTo>
                  <a:pt x="159" y="166"/>
                  <a:pt x="187" y="156"/>
                  <a:pt x="217" y="156"/>
                </a:cubicBezTo>
                <a:cubicBezTo>
                  <a:pt x="248" y="156"/>
                  <a:pt x="276" y="166"/>
                  <a:pt x="292" y="183"/>
                </a:cubicBezTo>
                <a:cubicBezTo>
                  <a:pt x="299" y="189"/>
                  <a:pt x="303" y="196"/>
                  <a:pt x="306" y="203"/>
                </a:cubicBezTo>
                <a:close/>
                <a:moveTo>
                  <a:pt x="580" y="94"/>
                </a:moveTo>
                <a:cubicBezTo>
                  <a:pt x="342" y="94"/>
                  <a:pt x="342" y="94"/>
                  <a:pt x="342" y="94"/>
                </a:cubicBezTo>
                <a:cubicBezTo>
                  <a:pt x="342" y="113"/>
                  <a:pt x="342" y="113"/>
                  <a:pt x="342" y="113"/>
                </a:cubicBezTo>
                <a:cubicBezTo>
                  <a:pt x="580" y="113"/>
                  <a:pt x="580" y="113"/>
                  <a:pt x="580" y="113"/>
                </a:cubicBezTo>
                <a:lnTo>
                  <a:pt x="580" y="94"/>
                </a:lnTo>
                <a:close/>
                <a:moveTo>
                  <a:pt x="342" y="171"/>
                </a:moveTo>
                <a:cubicBezTo>
                  <a:pt x="580" y="171"/>
                  <a:pt x="580" y="171"/>
                  <a:pt x="580" y="171"/>
                </a:cubicBezTo>
                <a:cubicBezTo>
                  <a:pt x="580" y="151"/>
                  <a:pt x="580" y="151"/>
                  <a:pt x="580" y="151"/>
                </a:cubicBezTo>
                <a:cubicBezTo>
                  <a:pt x="342" y="151"/>
                  <a:pt x="342" y="151"/>
                  <a:pt x="342" y="151"/>
                </a:cubicBezTo>
                <a:lnTo>
                  <a:pt x="342" y="171"/>
                </a:lnTo>
                <a:close/>
                <a:moveTo>
                  <a:pt x="342" y="228"/>
                </a:moveTo>
                <a:cubicBezTo>
                  <a:pt x="580" y="228"/>
                  <a:pt x="580" y="228"/>
                  <a:pt x="580" y="228"/>
                </a:cubicBezTo>
                <a:cubicBezTo>
                  <a:pt x="580" y="209"/>
                  <a:pt x="580" y="209"/>
                  <a:pt x="580" y="209"/>
                </a:cubicBezTo>
                <a:cubicBezTo>
                  <a:pt x="342" y="209"/>
                  <a:pt x="342" y="209"/>
                  <a:pt x="342" y="209"/>
                </a:cubicBezTo>
                <a:lnTo>
                  <a:pt x="342" y="228"/>
                </a:lnTo>
                <a:close/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6" name="Freeform 84"/>
          <p:cNvSpPr>
            <a:spLocks noEditPoints="1"/>
          </p:cNvSpPr>
          <p:nvPr/>
        </p:nvSpPr>
        <p:spPr bwMode="auto">
          <a:xfrm>
            <a:off x="5190451" y="5130698"/>
            <a:ext cx="657453" cy="623042"/>
          </a:xfrm>
          <a:custGeom>
            <a:avLst/>
            <a:gdLst>
              <a:gd name="T0" fmla="*/ 497 w 687"/>
              <a:gd name="T1" fmla="*/ 171 h 651"/>
              <a:gd name="T2" fmla="*/ 319 w 687"/>
              <a:gd name="T3" fmla="*/ 209 h 651"/>
              <a:gd name="T4" fmla="*/ 240 w 687"/>
              <a:gd name="T5" fmla="*/ 207 h 651"/>
              <a:gd name="T6" fmla="*/ 0 w 687"/>
              <a:gd name="T7" fmla="*/ 514 h 651"/>
              <a:gd name="T8" fmla="*/ 200 w 687"/>
              <a:gd name="T9" fmla="*/ 393 h 651"/>
              <a:gd name="T10" fmla="*/ 303 w 687"/>
              <a:gd name="T11" fmla="*/ 396 h 651"/>
              <a:gd name="T12" fmla="*/ 312 w 687"/>
              <a:gd name="T13" fmla="*/ 486 h 651"/>
              <a:gd name="T14" fmla="*/ 295 w 687"/>
              <a:gd name="T15" fmla="*/ 551 h 651"/>
              <a:gd name="T16" fmla="*/ 279 w 687"/>
              <a:gd name="T17" fmla="*/ 643 h 651"/>
              <a:gd name="T18" fmla="*/ 586 w 687"/>
              <a:gd name="T19" fmla="*/ 597 h 651"/>
              <a:gd name="T20" fmla="*/ 580 w 687"/>
              <a:gd name="T21" fmla="*/ 505 h 651"/>
              <a:gd name="T22" fmla="*/ 594 w 687"/>
              <a:gd name="T23" fmla="*/ 440 h 651"/>
              <a:gd name="T24" fmla="*/ 631 w 687"/>
              <a:gd name="T25" fmla="*/ 171 h 651"/>
              <a:gd name="T26" fmla="*/ 687 w 687"/>
              <a:gd name="T27" fmla="*/ 7 h 651"/>
              <a:gd name="T28" fmla="*/ 137 w 687"/>
              <a:gd name="T29" fmla="*/ 631 h 651"/>
              <a:gd name="T30" fmla="*/ 254 w 687"/>
              <a:gd name="T31" fmla="*/ 514 h 651"/>
              <a:gd name="T32" fmla="*/ 245 w 687"/>
              <a:gd name="T33" fmla="*/ 226 h 651"/>
              <a:gd name="T34" fmla="*/ 137 w 687"/>
              <a:gd name="T35" fmla="*/ 378 h 651"/>
              <a:gd name="T36" fmla="*/ 373 w 687"/>
              <a:gd name="T37" fmla="*/ 386 h 651"/>
              <a:gd name="T38" fmla="*/ 534 w 687"/>
              <a:gd name="T39" fmla="*/ 531 h 651"/>
              <a:gd name="T40" fmla="*/ 534 w 687"/>
              <a:gd name="T41" fmla="*/ 505 h 651"/>
              <a:gd name="T42" fmla="*/ 561 w 687"/>
              <a:gd name="T43" fmla="*/ 505 h 651"/>
              <a:gd name="T44" fmla="*/ 554 w 687"/>
              <a:gd name="T45" fmla="*/ 505 h 651"/>
              <a:gd name="T46" fmla="*/ 508 w 687"/>
              <a:gd name="T47" fmla="*/ 577 h 651"/>
              <a:gd name="T48" fmla="*/ 320 w 687"/>
              <a:gd name="T49" fmla="*/ 577 h 651"/>
              <a:gd name="T50" fmla="*/ 320 w 687"/>
              <a:gd name="T51" fmla="*/ 551 h 651"/>
              <a:gd name="T52" fmla="*/ 398 w 687"/>
              <a:gd name="T53" fmla="*/ 460 h 651"/>
              <a:gd name="T54" fmla="*/ 398 w 687"/>
              <a:gd name="T55" fmla="*/ 486 h 651"/>
              <a:gd name="T56" fmla="*/ 360 w 687"/>
              <a:gd name="T57" fmla="*/ 486 h 651"/>
              <a:gd name="T58" fmla="*/ 502 w 687"/>
              <a:gd name="T59" fmla="*/ 505 h 651"/>
              <a:gd name="T60" fmla="*/ 334 w 687"/>
              <a:gd name="T61" fmla="*/ 505 h 651"/>
              <a:gd name="T62" fmla="*/ 527 w 687"/>
              <a:gd name="T63" fmla="*/ 551 h 651"/>
              <a:gd name="T64" fmla="*/ 527 w 687"/>
              <a:gd name="T65" fmla="*/ 577 h 651"/>
              <a:gd name="T66" fmla="*/ 511 w 687"/>
              <a:gd name="T67" fmla="*/ 623 h 651"/>
              <a:gd name="T68" fmla="*/ 567 w 687"/>
              <a:gd name="T69" fmla="*/ 577 h 651"/>
              <a:gd name="T70" fmla="*/ 567 w 687"/>
              <a:gd name="T71" fmla="*/ 551 h 651"/>
              <a:gd name="T72" fmla="*/ 545 w 687"/>
              <a:gd name="T73" fmla="*/ 460 h 651"/>
              <a:gd name="T74" fmla="*/ 545 w 687"/>
              <a:gd name="T75" fmla="*/ 486 h 651"/>
              <a:gd name="T76" fmla="*/ 548 w 687"/>
              <a:gd name="T77" fmla="*/ 415 h 651"/>
              <a:gd name="T78" fmla="*/ 516 w 687"/>
              <a:gd name="T79" fmla="*/ 440 h 651"/>
              <a:gd name="T80" fmla="*/ 516 w 687"/>
              <a:gd name="T81" fmla="*/ 415 h 651"/>
              <a:gd name="T82" fmla="*/ 328 w 687"/>
              <a:gd name="T83" fmla="*/ 440 h 651"/>
              <a:gd name="T84" fmla="*/ 328 w 687"/>
              <a:gd name="T85" fmla="*/ 415 h 651"/>
              <a:gd name="T86" fmla="*/ 331 w 687"/>
              <a:gd name="T87" fmla="*/ 486 h 651"/>
              <a:gd name="T88" fmla="*/ 309 w 687"/>
              <a:gd name="T89" fmla="*/ 505 h 651"/>
              <a:gd name="T90" fmla="*/ 309 w 687"/>
              <a:gd name="T91" fmla="*/ 531 h 651"/>
              <a:gd name="T92" fmla="*/ 492 w 687"/>
              <a:gd name="T93" fmla="*/ 597 h 651"/>
              <a:gd name="T94" fmla="*/ 298 w 687"/>
              <a:gd name="T95" fmla="*/ 597 h 651"/>
              <a:gd name="T96" fmla="*/ 543 w 687"/>
              <a:gd name="T97" fmla="*/ 597 h 651"/>
              <a:gd name="T98" fmla="*/ 573 w 687"/>
              <a:gd name="T99" fmla="*/ 486 h 651"/>
              <a:gd name="T100" fmla="*/ 584 w 687"/>
              <a:gd name="T101" fmla="*/ 486 h 651"/>
              <a:gd name="T102" fmla="*/ 567 w 687"/>
              <a:gd name="T103" fmla="*/ 440 h 651"/>
              <a:gd name="T104" fmla="*/ 574 w 687"/>
              <a:gd name="T105" fmla="*/ 440 h 651"/>
              <a:gd name="T106" fmla="*/ 618 w 687"/>
              <a:gd name="T107" fmla="*/ 156 h 651"/>
              <a:gd name="T108" fmla="*/ 557 w 687"/>
              <a:gd name="T109" fmla="*/ 167 h 651"/>
              <a:gd name="T110" fmla="*/ 668 w 687"/>
              <a:gd name="T111" fmla="*/ 28 h 651"/>
              <a:gd name="T112" fmla="*/ 137 w 687"/>
              <a:gd name="T113" fmla="*/ 610 h 651"/>
              <a:gd name="T114" fmla="*/ 41 w 687"/>
              <a:gd name="T115" fmla="*/ 514 h 651"/>
              <a:gd name="T116" fmla="*/ 60 w 687"/>
              <a:gd name="T117" fmla="*/ 514 h 651"/>
              <a:gd name="T118" fmla="*/ 129 w 687"/>
              <a:gd name="T119" fmla="*/ 453 h 651"/>
              <a:gd name="T120" fmla="*/ 127 w 687"/>
              <a:gd name="T121" fmla="*/ 484 h 651"/>
              <a:gd name="T122" fmla="*/ 121 w 687"/>
              <a:gd name="T123" fmla="*/ 565 h 651"/>
              <a:gd name="T124" fmla="*/ 146 w 687"/>
              <a:gd name="T125" fmla="*/ 546 h 6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87" h="651">
                <a:moveTo>
                  <a:pt x="671" y="0"/>
                </a:moveTo>
                <a:cubicBezTo>
                  <a:pt x="491" y="154"/>
                  <a:pt x="491" y="154"/>
                  <a:pt x="491" y="154"/>
                </a:cubicBezTo>
                <a:cubicBezTo>
                  <a:pt x="497" y="171"/>
                  <a:pt x="497" y="171"/>
                  <a:pt x="497" y="171"/>
                </a:cubicBezTo>
                <a:cubicBezTo>
                  <a:pt x="530" y="171"/>
                  <a:pt x="530" y="171"/>
                  <a:pt x="530" y="17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319" y="209"/>
                  <a:pt x="319" y="209"/>
                  <a:pt x="319" y="209"/>
                </a:cubicBezTo>
                <a:cubicBezTo>
                  <a:pt x="319" y="209"/>
                  <a:pt x="319" y="209"/>
                  <a:pt x="319" y="209"/>
                </a:cubicBezTo>
                <a:cubicBezTo>
                  <a:pt x="317" y="207"/>
                  <a:pt x="317" y="207"/>
                  <a:pt x="317" y="207"/>
                </a:cubicBezTo>
                <a:cubicBezTo>
                  <a:pt x="240" y="207"/>
                  <a:pt x="240" y="207"/>
                  <a:pt x="240" y="207"/>
                </a:cubicBezTo>
                <a:cubicBezTo>
                  <a:pt x="233" y="211"/>
                  <a:pt x="233" y="211"/>
                  <a:pt x="233" y="211"/>
                </a:cubicBezTo>
                <a:cubicBezTo>
                  <a:pt x="108" y="381"/>
                  <a:pt x="108" y="381"/>
                  <a:pt x="108" y="381"/>
                </a:cubicBezTo>
                <a:cubicBezTo>
                  <a:pt x="46" y="394"/>
                  <a:pt x="0" y="449"/>
                  <a:pt x="0" y="514"/>
                </a:cubicBezTo>
                <a:cubicBezTo>
                  <a:pt x="0" y="589"/>
                  <a:pt x="61" y="651"/>
                  <a:pt x="137" y="651"/>
                </a:cubicBezTo>
                <a:cubicBezTo>
                  <a:pt x="212" y="651"/>
                  <a:pt x="273" y="589"/>
                  <a:pt x="273" y="514"/>
                </a:cubicBezTo>
                <a:cubicBezTo>
                  <a:pt x="273" y="462"/>
                  <a:pt x="243" y="416"/>
                  <a:pt x="200" y="393"/>
                </a:cubicBezTo>
                <a:cubicBezTo>
                  <a:pt x="277" y="288"/>
                  <a:pt x="277" y="288"/>
                  <a:pt x="277" y="288"/>
                </a:cubicBezTo>
                <a:cubicBezTo>
                  <a:pt x="356" y="396"/>
                  <a:pt x="356" y="396"/>
                  <a:pt x="356" y="396"/>
                </a:cubicBezTo>
                <a:cubicBezTo>
                  <a:pt x="303" y="396"/>
                  <a:pt x="303" y="396"/>
                  <a:pt x="303" y="396"/>
                </a:cubicBezTo>
                <a:cubicBezTo>
                  <a:pt x="303" y="460"/>
                  <a:pt x="303" y="460"/>
                  <a:pt x="303" y="460"/>
                </a:cubicBezTo>
                <a:cubicBezTo>
                  <a:pt x="312" y="460"/>
                  <a:pt x="312" y="460"/>
                  <a:pt x="312" y="460"/>
                </a:cubicBezTo>
                <a:cubicBezTo>
                  <a:pt x="312" y="486"/>
                  <a:pt x="312" y="486"/>
                  <a:pt x="312" y="486"/>
                </a:cubicBezTo>
                <a:cubicBezTo>
                  <a:pt x="289" y="486"/>
                  <a:pt x="289" y="486"/>
                  <a:pt x="289" y="486"/>
                </a:cubicBezTo>
                <a:cubicBezTo>
                  <a:pt x="289" y="551"/>
                  <a:pt x="289" y="551"/>
                  <a:pt x="289" y="551"/>
                </a:cubicBezTo>
                <a:cubicBezTo>
                  <a:pt x="295" y="551"/>
                  <a:pt x="295" y="551"/>
                  <a:pt x="295" y="551"/>
                </a:cubicBezTo>
                <a:cubicBezTo>
                  <a:pt x="295" y="578"/>
                  <a:pt x="295" y="578"/>
                  <a:pt x="295" y="578"/>
                </a:cubicBezTo>
                <a:cubicBezTo>
                  <a:pt x="279" y="578"/>
                  <a:pt x="279" y="578"/>
                  <a:pt x="279" y="578"/>
                </a:cubicBezTo>
                <a:cubicBezTo>
                  <a:pt x="279" y="643"/>
                  <a:pt x="279" y="643"/>
                  <a:pt x="279" y="643"/>
                </a:cubicBezTo>
                <a:cubicBezTo>
                  <a:pt x="570" y="643"/>
                  <a:pt x="570" y="643"/>
                  <a:pt x="570" y="643"/>
                </a:cubicBezTo>
                <a:cubicBezTo>
                  <a:pt x="570" y="597"/>
                  <a:pt x="570" y="597"/>
                  <a:pt x="570" y="597"/>
                </a:cubicBezTo>
                <a:cubicBezTo>
                  <a:pt x="586" y="597"/>
                  <a:pt x="586" y="597"/>
                  <a:pt x="586" y="597"/>
                </a:cubicBezTo>
                <a:cubicBezTo>
                  <a:pt x="586" y="532"/>
                  <a:pt x="586" y="532"/>
                  <a:pt x="586" y="532"/>
                </a:cubicBezTo>
                <a:cubicBezTo>
                  <a:pt x="580" y="532"/>
                  <a:pt x="580" y="532"/>
                  <a:pt x="580" y="532"/>
                </a:cubicBezTo>
                <a:cubicBezTo>
                  <a:pt x="580" y="505"/>
                  <a:pt x="580" y="505"/>
                  <a:pt x="580" y="505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594" y="440"/>
                  <a:pt x="594" y="440"/>
                  <a:pt x="594" y="440"/>
                </a:cubicBezTo>
                <a:cubicBezTo>
                  <a:pt x="594" y="396"/>
                  <a:pt x="594" y="396"/>
                  <a:pt x="594" y="396"/>
                </a:cubicBezTo>
                <a:cubicBezTo>
                  <a:pt x="468" y="396"/>
                  <a:pt x="468" y="396"/>
                  <a:pt x="468" y="396"/>
                </a:cubicBezTo>
                <a:cubicBezTo>
                  <a:pt x="631" y="171"/>
                  <a:pt x="631" y="171"/>
                  <a:pt x="631" y="171"/>
                </a:cubicBezTo>
                <a:cubicBezTo>
                  <a:pt x="676" y="171"/>
                  <a:pt x="676" y="171"/>
                  <a:pt x="676" y="171"/>
                </a:cubicBezTo>
                <a:cubicBezTo>
                  <a:pt x="685" y="162"/>
                  <a:pt x="685" y="162"/>
                  <a:pt x="685" y="162"/>
                </a:cubicBezTo>
                <a:cubicBezTo>
                  <a:pt x="687" y="7"/>
                  <a:pt x="687" y="7"/>
                  <a:pt x="687" y="7"/>
                </a:cubicBezTo>
                <a:lnTo>
                  <a:pt x="671" y="0"/>
                </a:lnTo>
                <a:close/>
                <a:moveTo>
                  <a:pt x="254" y="514"/>
                </a:moveTo>
                <a:cubicBezTo>
                  <a:pt x="254" y="579"/>
                  <a:pt x="201" y="631"/>
                  <a:pt x="137" y="631"/>
                </a:cubicBezTo>
                <a:cubicBezTo>
                  <a:pt x="72" y="631"/>
                  <a:pt x="19" y="579"/>
                  <a:pt x="19" y="514"/>
                </a:cubicBezTo>
                <a:cubicBezTo>
                  <a:pt x="19" y="450"/>
                  <a:pt x="72" y="397"/>
                  <a:pt x="137" y="397"/>
                </a:cubicBezTo>
                <a:cubicBezTo>
                  <a:pt x="201" y="397"/>
                  <a:pt x="254" y="450"/>
                  <a:pt x="254" y="514"/>
                </a:cubicBezTo>
                <a:close/>
                <a:moveTo>
                  <a:pt x="137" y="378"/>
                </a:moveTo>
                <a:cubicBezTo>
                  <a:pt x="136" y="378"/>
                  <a:pt x="135" y="378"/>
                  <a:pt x="134" y="378"/>
                </a:cubicBezTo>
                <a:cubicBezTo>
                  <a:pt x="245" y="226"/>
                  <a:pt x="245" y="226"/>
                  <a:pt x="245" y="226"/>
                </a:cubicBezTo>
                <a:cubicBezTo>
                  <a:pt x="298" y="226"/>
                  <a:pt x="298" y="226"/>
                  <a:pt x="298" y="226"/>
                </a:cubicBezTo>
                <a:cubicBezTo>
                  <a:pt x="182" y="385"/>
                  <a:pt x="182" y="385"/>
                  <a:pt x="182" y="385"/>
                </a:cubicBezTo>
                <a:cubicBezTo>
                  <a:pt x="167" y="380"/>
                  <a:pt x="152" y="378"/>
                  <a:pt x="137" y="378"/>
                </a:cubicBezTo>
                <a:close/>
                <a:moveTo>
                  <a:pt x="315" y="236"/>
                </a:moveTo>
                <a:cubicBezTo>
                  <a:pt x="400" y="350"/>
                  <a:pt x="400" y="350"/>
                  <a:pt x="400" y="350"/>
                </a:cubicBezTo>
                <a:cubicBezTo>
                  <a:pt x="373" y="386"/>
                  <a:pt x="373" y="386"/>
                  <a:pt x="373" y="386"/>
                </a:cubicBezTo>
                <a:cubicBezTo>
                  <a:pt x="289" y="271"/>
                  <a:pt x="289" y="271"/>
                  <a:pt x="289" y="271"/>
                </a:cubicBezTo>
                <a:lnTo>
                  <a:pt x="315" y="236"/>
                </a:lnTo>
                <a:close/>
                <a:moveTo>
                  <a:pt x="534" y="531"/>
                </a:moveTo>
                <a:cubicBezTo>
                  <a:pt x="522" y="531"/>
                  <a:pt x="522" y="531"/>
                  <a:pt x="522" y="531"/>
                </a:cubicBezTo>
                <a:cubicBezTo>
                  <a:pt x="522" y="505"/>
                  <a:pt x="522" y="505"/>
                  <a:pt x="522" y="505"/>
                </a:cubicBezTo>
                <a:cubicBezTo>
                  <a:pt x="534" y="505"/>
                  <a:pt x="534" y="505"/>
                  <a:pt x="534" y="505"/>
                </a:cubicBezTo>
                <a:lnTo>
                  <a:pt x="534" y="531"/>
                </a:lnTo>
                <a:close/>
                <a:moveTo>
                  <a:pt x="554" y="505"/>
                </a:moveTo>
                <a:cubicBezTo>
                  <a:pt x="561" y="505"/>
                  <a:pt x="561" y="505"/>
                  <a:pt x="561" y="505"/>
                </a:cubicBezTo>
                <a:cubicBezTo>
                  <a:pt x="561" y="531"/>
                  <a:pt x="561" y="531"/>
                  <a:pt x="561" y="531"/>
                </a:cubicBezTo>
                <a:cubicBezTo>
                  <a:pt x="554" y="531"/>
                  <a:pt x="554" y="531"/>
                  <a:pt x="554" y="531"/>
                </a:cubicBezTo>
                <a:lnTo>
                  <a:pt x="554" y="505"/>
                </a:lnTo>
                <a:close/>
                <a:moveTo>
                  <a:pt x="340" y="551"/>
                </a:moveTo>
                <a:cubicBezTo>
                  <a:pt x="508" y="551"/>
                  <a:pt x="508" y="551"/>
                  <a:pt x="508" y="551"/>
                </a:cubicBezTo>
                <a:cubicBezTo>
                  <a:pt x="508" y="577"/>
                  <a:pt x="508" y="577"/>
                  <a:pt x="508" y="577"/>
                </a:cubicBezTo>
                <a:cubicBezTo>
                  <a:pt x="340" y="577"/>
                  <a:pt x="340" y="577"/>
                  <a:pt x="340" y="577"/>
                </a:cubicBezTo>
                <a:lnTo>
                  <a:pt x="340" y="551"/>
                </a:lnTo>
                <a:close/>
                <a:moveTo>
                  <a:pt x="320" y="577"/>
                </a:moveTo>
                <a:cubicBezTo>
                  <a:pt x="314" y="577"/>
                  <a:pt x="314" y="577"/>
                  <a:pt x="314" y="577"/>
                </a:cubicBezTo>
                <a:cubicBezTo>
                  <a:pt x="314" y="551"/>
                  <a:pt x="314" y="551"/>
                  <a:pt x="314" y="551"/>
                </a:cubicBezTo>
                <a:cubicBezTo>
                  <a:pt x="320" y="551"/>
                  <a:pt x="320" y="551"/>
                  <a:pt x="320" y="551"/>
                </a:cubicBezTo>
                <a:lnTo>
                  <a:pt x="320" y="577"/>
                </a:lnTo>
                <a:close/>
                <a:moveTo>
                  <a:pt x="398" y="486"/>
                </a:moveTo>
                <a:cubicBezTo>
                  <a:pt x="398" y="460"/>
                  <a:pt x="398" y="460"/>
                  <a:pt x="398" y="460"/>
                </a:cubicBezTo>
                <a:cubicBezTo>
                  <a:pt x="526" y="460"/>
                  <a:pt x="526" y="460"/>
                  <a:pt x="526" y="460"/>
                </a:cubicBezTo>
                <a:cubicBezTo>
                  <a:pt x="526" y="486"/>
                  <a:pt x="526" y="486"/>
                  <a:pt x="526" y="486"/>
                </a:cubicBezTo>
                <a:lnTo>
                  <a:pt x="398" y="486"/>
                </a:lnTo>
                <a:close/>
                <a:moveTo>
                  <a:pt x="379" y="460"/>
                </a:moveTo>
                <a:cubicBezTo>
                  <a:pt x="379" y="486"/>
                  <a:pt x="379" y="486"/>
                  <a:pt x="379" y="486"/>
                </a:cubicBezTo>
                <a:cubicBezTo>
                  <a:pt x="360" y="486"/>
                  <a:pt x="360" y="486"/>
                  <a:pt x="360" y="486"/>
                </a:cubicBezTo>
                <a:cubicBezTo>
                  <a:pt x="360" y="460"/>
                  <a:pt x="360" y="460"/>
                  <a:pt x="360" y="460"/>
                </a:cubicBezTo>
                <a:lnTo>
                  <a:pt x="379" y="460"/>
                </a:lnTo>
                <a:close/>
                <a:moveTo>
                  <a:pt x="502" y="505"/>
                </a:moveTo>
                <a:cubicBezTo>
                  <a:pt x="502" y="531"/>
                  <a:pt x="502" y="531"/>
                  <a:pt x="502" y="531"/>
                </a:cubicBezTo>
                <a:cubicBezTo>
                  <a:pt x="334" y="531"/>
                  <a:pt x="334" y="531"/>
                  <a:pt x="334" y="531"/>
                </a:cubicBezTo>
                <a:cubicBezTo>
                  <a:pt x="334" y="505"/>
                  <a:pt x="334" y="505"/>
                  <a:pt x="334" y="505"/>
                </a:cubicBezTo>
                <a:lnTo>
                  <a:pt x="502" y="505"/>
                </a:lnTo>
                <a:close/>
                <a:moveTo>
                  <a:pt x="527" y="577"/>
                </a:moveTo>
                <a:cubicBezTo>
                  <a:pt x="527" y="551"/>
                  <a:pt x="527" y="551"/>
                  <a:pt x="527" y="551"/>
                </a:cubicBezTo>
                <a:cubicBezTo>
                  <a:pt x="539" y="551"/>
                  <a:pt x="539" y="551"/>
                  <a:pt x="539" y="551"/>
                </a:cubicBezTo>
                <a:cubicBezTo>
                  <a:pt x="539" y="577"/>
                  <a:pt x="539" y="577"/>
                  <a:pt x="539" y="577"/>
                </a:cubicBezTo>
                <a:lnTo>
                  <a:pt x="527" y="577"/>
                </a:lnTo>
                <a:close/>
                <a:moveTo>
                  <a:pt x="524" y="597"/>
                </a:moveTo>
                <a:cubicBezTo>
                  <a:pt x="524" y="623"/>
                  <a:pt x="524" y="623"/>
                  <a:pt x="524" y="623"/>
                </a:cubicBezTo>
                <a:cubicBezTo>
                  <a:pt x="511" y="623"/>
                  <a:pt x="511" y="623"/>
                  <a:pt x="511" y="623"/>
                </a:cubicBezTo>
                <a:cubicBezTo>
                  <a:pt x="511" y="597"/>
                  <a:pt x="511" y="597"/>
                  <a:pt x="511" y="597"/>
                </a:cubicBezTo>
                <a:lnTo>
                  <a:pt x="524" y="597"/>
                </a:lnTo>
                <a:close/>
                <a:moveTo>
                  <a:pt x="567" y="577"/>
                </a:moveTo>
                <a:cubicBezTo>
                  <a:pt x="558" y="577"/>
                  <a:pt x="558" y="577"/>
                  <a:pt x="558" y="577"/>
                </a:cubicBezTo>
                <a:cubicBezTo>
                  <a:pt x="558" y="551"/>
                  <a:pt x="558" y="551"/>
                  <a:pt x="558" y="551"/>
                </a:cubicBezTo>
                <a:cubicBezTo>
                  <a:pt x="567" y="551"/>
                  <a:pt x="567" y="551"/>
                  <a:pt x="567" y="551"/>
                </a:cubicBezTo>
                <a:lnTo>
                  <a:pt x="567" y="577"/>
                </a:lnTo>
                <a:close/>
                <a:moveTo>
                  <a:pt x="545" y="486"/>
                </a:moveTo>
                <a:cubicBezTo>
                  <a:pt x="545" y="460"/>
                  <a:pt x="545" y="460"/>
                  <a:pt x="545" y="460"/>
                </a:cubicBezTo>
                <a:cubicBezTo>
                  <a:pt x="554" y="460"/>
                  <a:pt x="554" y="460"/>
                  <a:pt x="554" y="460"/>
                </a:cubicBezTo>
                <a:cubicBezTo>
                  <a:pt x="554" y="486"/>
                  <a:pt x="554" y="486"/>
                  <a:pt x="554" y="486"/>
                </a:cubicBezTo>
                <a:lnTo>
                  <a:pt x="545" y="486"/>
                </a:lnTo>
                <a:close/>
                <a:moveTo>
                  <a:pt x="535" y="440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48" y="415"/>
                  <a:pt x="548" y="415"/>
                  <a:pt x="548" y="415"/>
                </a:cubicBezTo>
                <a:cubicBezTo>
                  <a:pt x="548" y="440"/>
                  <a:pt x="548" y="440"/>
                  <a:pt x="548" y="440"/>
                </a:cubicBezTo>
                <a:lnTo>
                  <a:pt x="535" y="440"/>
                </a:lnTo>
                <a:close/>
                <a:moveTo>
                  <a:pt x="516" y="440"/>
                </a:moveTo>
                <a:cubicBezTo>
                  <a:pt x="347" y="440"/>
                  <a:pt x="347" y="440"/>
                  <a:pt x="347" y="440"/>
                </a:cubicBezTo>
                <a:cubicBezTo>
                  <a:pt x="347" y="415"/>
                  <a:pt x="347" y="415"/>
                  <a:pt x="347" y="415"/>
                </a:cubicBezTo>
                <a:cubicBezTo>
                  <a:pt x="516" y="415"/>
                  <a:pt x="516" y="415"/>
                  <a:pt x="516" y="415"/>
                </a:cubicBezTo>
                <a:lnTo>
                  <a:pt x="516" y="440"/>
                </a:lnTo>
                <a:close/>
                <a:moveTo>
                  <a:pt x="328" y="415"/>
                </a:moveTo>
                <a:cubicBezTo>
                  <a:pt x="328" y="440"/>
                  <a:pt x="328" y="440"/>
                  <a:pt x="328" y="440"/>
                </a:cubicBezTo>
                <a:cubicBezTo>
                  <a:pt x="322" y="440"/>
                  <a:pt x="322" y="440"/>
                  <a:pt x="322" y="440"/>
                </a:cubicBezTo>
                <a:cubicBezTo>
                  <a:pt x="322" y="415"/>
                  <a:pt x="322" y="415"/>
                  <a:pt x="322" y="415"/>
                </a:cubicBezTo>
                <a:lnTo>
                  <a:pt x="328" y="415"/>
                </a:lnTo>
                <a:close/>
                <a:moveTo>
                  <a:pt x="341" y="460"/>
                </a:moveTo>
                <a:cubicBezTo>
                  <a:pt x="341" y="486"/>
                  <a:pt x="341" y="486"/>
                  <a:pt x="341" y="486"/>
                </a:cubicBezTo>
                <a:cubicBezTo>
                  <a:pt x="331" y="486"/>
                  <a:pt x="331" y="486"/>
                  <a:pt x="331" y="486"/>
                </a:cubicBezTo>
                <a:cubicBezTo>
                  <a:pt x="331" y="460"/>
                  <a:pt x="331" y="460"/>
                  <a:pt x="331" y="460"/>
                </a:cubicBezTo>
                <a:lnTo>
                  <a:pt x="341" y="460"/>
                </a:lnTo>
                <a:close/>
                <a:moveTo>
                  <a:pt x="309" y="505"/>
                </a:moveTo>
                <a:cubicBezTo>
                  <a:pt x="315" y="505"/>
                  <a:pt x="315" y="505"/>
                  <a:pt x="315" y="505"/>
                </a:cubicBezTo>
                <a:cubicBezTo>
                  <a:pt x="315" y="531"/>
                  <a:pt x="315" y="531"/>
                  <a:pt x="315" y="531"/>
                </a:cubicBezTo>
                <a:cubicBezTo>
                  <a:pt x="309" y="531"/>
                  <a:pt x="309" y="531"/>
                  <a:pt x="309" y="531"/>
                </a:cubicBezTo>
                <a:lnTo>
                  <a:pt x="309" y="505"/>
                </a:lnTo>
                <a:close/>
                <a:moveTo>
                  <a:pt x="298" y="597"/>
                </a:moveTo>
                <a:cubicBezTo>
                  <a:pt x="492" y="597"/>
                  <a:pt x="492" y="597"/>
                  <a:pt x="492" y="597"/>
                </a:cubicBezTo>
                <a:cubicBezTo>
                  <a:pt x="492" y="623"/>
                  <a:pt x="492" y="623"/>
                  <a:pt x="492" y="623"/>
                </a:cubicBezTo>
                <a:cubicBezTo>
                  <a:pt x="298" y="623"/>
                  <a:pt x="298" y="623"/>
                  <a:pt x="298" y="623"/>
                </a:cubicBezTo>
                <a:lnTo>
                  <a:pt x="298" y="597"/>
                </a:lnTo>
                <a:close/>
                <a:moveTo>
                  <a:pt x="551" y="623"/>
                </a:moveTo>
                <a:cubicBezTo>
                  <a:pt x="543" y="623"/>
                  <a:pt x="543" y="623"/>
                  <a:pt x="543" y="623"/>
                </a:cubicBezTo>
                <a:cubicBezTo>
                  <a:pt x="543" y="597"/>
                  <a:pt x="543" y="597"/>
                  <a:pt x="543" y="597"/>
                </a:cubicBezTo>
                <a:cubicBezTo>
                  <a:pt x="551" y="597"/>
                  <a:pt x="551" y="597"/>
                  <a:pt x="551" y="597"/>
                </a:cubicBezTo>
                <a:lnTo>
                  <a:pt x="551" y="623"/>
                </a:lnTo>
                <a:close/>
                <a:moveTo>
                  <a:pt x="573" y="486"/>
                </a:moveTo>
                <a:cubicBezTo>
                  <a:pt x="573" y="460"/>
                  <a:pt x="573" y="460"/>
                  <a:pt x="573" y="460"/>
                </a:cubicBezTo>
                <a:cubicBezTo>
                  <a:pt x="584" y="460"/>
                  <a:pt x="584" y="460"/>
                  <a:pt x="584" y="460"/>
                </a:cubicBezTo>
                <a:cubicBezTo>
                  <a:pt x="584" y="486"/>
                  <a:pt x="584" y="486"/>
                  <a:pt x="584" y="486"/>
                </a:cubicBezTo>
                <a:lnTo>
                  <a:pt x="573" y="486"/>
                </a:lnTo>
                <a:close/>
                <a:moveTo>
                  <a:pt x="574" y="440"/>
                </a:moveTo>
                <a:cubicBezTo>
                  <a:pt x="567" y="440"/>
                  <a:pt x="567" y="440"/>
                  <a:pt x="567" y="440"/>
                </a:cubicBezTo>
                <a:cubicBezTo>
                  <a:pt x="567" y="415"/>
                  <a:pt x="567" y="415"/>
                  <a:pt x="567" y="415"/>
                </a:cubicBezTo>
                <a:cubicBezTo>
                  <a:pt x="574" y="415"/>
                  <a:pt x="574" y="415"/>
                  <a:pt x="574" y="415"/>
                </a:cubicBezTo>
                <a:lnTo>
                  <a:pt x="574" y="440"/>
                </a:lnTo>
                <a:close/>
                <a:moveTo>
                  <a:pt x="666" y="152"/>
                </a:moveTo>
                <a:cubicBezTo>
                  <a:pt x="626" y="152"/>
                  <a:pt x="626" y="152"/>
                  <a:pt x="626" y="152"/>
                </a:cubicBezTo>
                <a:cubicBezTo>
                  <a:pt x="618" y="156"/>
                  <a:pt x="618" y="156"/>
                  <a:pt x="618" y="156"/>
                </a:cubicBezTo>
                <a:cubicBezTo>
                  <a:pt x="444" y="395"/>
                  <a:pt x="444" y="395"/>
                  <a:pt x="444" y="395"/>
                </a:cubicBezTo>
                <a:cubicBezTo>
                  <a:pt x="391" y="395"/>
                  <a:pt x="391" y="395"/>
                  <a:pt x="391" y="395"/>
                </a:cubicBezTo>
                <a:cubicBezTo>
                  <a:pt x="557" y="167"/>
                  <a:pt x="557" y="167"/>
                  <a:pt x="557" y="167"/>
                </a:cubicBezTo>
                <a:cubicBezTo>
                  <a:pt x="549" y="152"/>
                  <a:pt x="549" y="152"/>
                  <a:pt x="549" y="152"/>
                </a:cubicBezTo>
                <a:cubicBezTo>
                  <a:pt x="523" y="152"/>
                  <a:pt x="523" y="152"/>
                  <a:pt x="523" y="152"/>
                </a:cubicBezTo>
                <a:cubicBezTo>
                  <a:pt x="668" y="28"/>
                  <a:pt x="668" y="28"/>
                  <a:pt x="668" y="28"/>
                </a:cubicBezTo>
                <a:lnTo>
                  <a:pt x="666" y="152"/>
                </a:lnTo>
                <a:close/>
                <a:moveTo>
                  <a:pt x="41" y="514"/>
                </a:moveTo>
                <a:cubicBezTo>
                  <a:pt x="41" y="567"/>
                  <a:pt x="84" y="610"/>
                  <a:pt x="137" y="610"/>
                </a:cubicBezTo>
                <a:cubicBezTo>
                  <a:pt x="189" y="610"/>
                  <a:pt x="233" y="567"/>
                  <a:pt x="233" y="514"/>
                </a:cubicBezTo>
                <a:cubicBezTo>
                  <a:pt x="233" y="461"/>
                  <a:pt x="189" y="418"/>
                  <a:pt x="137" y="418"/>
                </a:cubicBezTo>
                <a:cubicBezTo>
                  <a:pt x="84" y="418"/>
                  <a:pt x="41" y="461"/>
                  <a:pt x="41" y="514"/>
                </a:cubicBezTo>
                <a:close/>
                <a:moveTo>
                  <a:pt x="213" y="514"/>
                </a:moveTo>
                <a:cubicBezTo>
                  <a:pt x="213" y="556"/>
                  <a:pt x="179" y="591"/>
                  <a:pt x="137" y="591"/>
                </a:cubicBezTo>
                <a:cubicBezTo>
                  <a:pt x="94" y="591"/>
                  <a:pt x="60" y="556"/>
                  <a:pt x="60" y="514"/>
                </a:cubicBezTo>
                <a:cubicBezTo>
                  <a:pt x="60" y="472"/>
                  <a:pt x="94" y="438"/>
                  <a:pt x="137" y="438"/>
                </a:cubicBezTo>
                <a:cubicBezTo>
                  <a:pt x="179" y="438"/>
                  <a:pt x="213" y="472"/>
                  <a:pt x="213" y="514"/>
                </a:cubicBezTo>
                <a:close/>
                <a:moveTo>
                  <a:pt x="129" y="453"/>
                </a:moveTo>
                <a:cubicBezTo>
                  <a:pt x="97" y="488"/>
                  <a:pt x="97" y="488"/>
                  <a:pt x="97" y="488"/>
                </a:cubicBezTo>
                <a:cubicBezTo>
                  <a:pt x="111" y="501"/>
                  <a:pt x="111" y="501"/>
                  <a:pt x="111" y="501"/>
                </a:cubicBezTo>
                <a:cubicBezTo>
                  <a:pt x="127" y="484"/>
                  <a:pt x="127" y="484"/>
                  <a:pt x="127" y="484"/>
                </a:cubicBezTo>
                <a:cubicBezTo>
                  <a:pt x="127" y="546"/>
                  <a:pt x="127" y="546"/>
                  <a:pt x="127" y="546"/>
                </a:cubicBezTo>
                <a:cubicBezTo>
                  <a:pt x="121" y="546"/>
                  <a:pt x="121" y="546"/>
                  <a:pt x="121" y="546"/>
                </a:cubicBezTo>
                <a:cubicBezTo>
                  <a:pt x="121" y="565"/>
                  <a:pt x="121" y="565"/>
                  <a:pt x="121" y="565"/>
                </a:cubicBezTo>
                <a:cubicBezTo>
                  <a:pt x="152" y="565"/>
                  <a:pt x="152" y="565"/>
                  <a:pt x="152" y="565"/>
                </a:cubicBezTo>
                <a:cubicBezTo>
                  <a:pt x="152" y="546"/>
                  <a:pt x="152" y="546"/>
                  <a:pt x="152" y="546"/>
                </a:cubicBezTo>
                <a:cubicBezTo>
                  <a:pt x="146" y="546"/>
                  <a:pt x="146" y="546"/>
                  <a:pt x="146" y="546"/>
                </a:cubicBezTo>
                <a:cubicBezTo>
                  <a:pt x="146" y="460"/>
                  <a:pt x="146" y="460"/>
                  <a:pt x="146" y="460"/>
                </a:cubicBezTo>
                <a:lnTo>
                  <a:pt x="129" y="453"/>
                </a:lnTo>
                <a:close/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Freeform 86"/>
          <p:cNvSpPr>
            <a:spLocks noEditPoints="1"/>
          </p:cNvSpPr>
          <p:nvPr/>
        </p:nvSpPr>
        <p:spPr bwMode="auto">
          <a:xfrm>
            <a:off x="6356647" y="1503706"/>
            <a:ext cx="720608" cy="370425"/>
          </a:xfrm>
          <a:custGeom>
            <a:avLst/>
            <a:gdLst>
              <a:gd name="T0" fmla="*/ 410 w 753"/>
              <a:gd name="T1" fmla="*/ 63 h 387"/>
              <a:gd name="T2" fmla="*/ 293 w 753"/>
              <a:gd name="T3" fmla="*/ 24 h 387"/>
              <a:gd name="T4" fmla="*/ 150 w 753"/>
              <a:gd name="T5" fmla="*/ 258 h 387"/>
              <a:gd name="T6" fmla="*/ 227 w 753"/>
              <a:gd name="T7" fmla="*/ 311 h 387"/>
              <a:gd name="T8" fmla="*/ 298 w 753"/>
              <a:gd name="T9" fmla="*/ 343 h 387"/>
              <a:gd name="T10" fmla="*/ 400 w 753"/>
              <a:gd name="T11" fmla="*/ 383 h 387"/>
              <a:gd name="T12" fmla="*/ 506 w 753"/>
              <a:gd name="T13" fmla="*/ 314 h 387"/>
              <a:gd name="T14" fmla="*/ 604 w 753"/>
              <a:gd name="T15" fmla="*/ 236 h 387"/>
              <a:gd name="T16" fmla="*/ 575 w 753"/>
              <a:gd name="T17" fmla="*/ 59 h 387"/>
              <a:gd name="T18" fmla="*/ 183 w 753"/>
              <a:gd name="T19" fmla="*/ 57 h 387"/>
              <a:gd name="T20" fmla="*/ 169 w 753"/>
              <a:gd name="T21" fmla="*/ 252 h 387"/>
              <a:gd name="T22" fmla="*/ 184 w 753"/>
              <a:gd name="T23" fmla="*/ 221 h 387"/>
              <a:gd name="T24" fmla="*/ 197 w 753"/>
              <a:gd name="T25" fmla="*/ 219 h 387"/>
              <a:gd name="T26" fmla="*/ 195 w 753"/>
              <a:gd name="T27" fmla="*/ 262 h 387"/>
              <a:gd name="T28" fmla="*/ 229 w 753"/>
              <a:gd name="T29" fmla="*/ 274 h 387"/>
              <a:gd name="T30" fmla="*/ 259 w 753"/>
              <a:gd name="T31" fmla="*/ 224 h 387"/>
              <a:gd name="T32" fmla="*/ 276 w 753"/>
              <a:gd name="T33" fmla="*/ 246 h 387"/>
              <a:gd name="T34" fmla="*/ 291 w 753"/>
              <a:gd name="T35" fmla="*/ 322 h 387"/>
              <a:gd name="T36" fmla="*/ 312 w 753"/>
              <a:gd name="T37" fmla="*/ 247 h 387"/>
              <a:gd name="T38" fmla="*/ 324 w 753"/>
              <a:gd name="T39" fmla="*/ 242 h 387"/>
              <a:gd name="T40" fmla="*/ 307 w 753"/>
              <a:gd name="T41" fmla="*/ 320 h 387"/>
              <a:gd name="T42" fmla="*/ 340 w 753"/>
              <a:gd name="T43" fmla="*/ 329 h 387"/>
              <a:gd name="T44" fmla="*/ 359 w 753"/>
              <a:gd name="T45" fmla="*/ 304 h 387"/>
              <a:gd name="T46" fmla="*/ 367 w 753"/>
              <a:gd name="T47" fmla="*/ 343 h 387"/>
              <a:gd name="T48" fmla="*/ 576 w 753"/>
              <a:gd name="T49" fmla="*/ 261 h 387"/>
              <a:gd name="T50" fmla="*/ 484 w 753"/>
              <a:gd name="T51" fmla="*/ 224 h 387"/>
              <a:gd name="T52" fmla="*/ 529 w 753"/>
              <a:gd name="T53" fmla="*/ 299 h 387"/>
              <a:gd name="T54" fmla="*/ 479 w 753"/>
              <a:gd name="T55" fmla="*/ 306 h 387"/>
              <a:gd name="T56" fmla="*/ 429 w 753"/>
              <a:gd name="T57" fmla="*/ 359 h 387"/>
              <a:gd name="T58" fmla="*/ 374 w 753"/>
              <a:gd name="T59" fmla="*/ 286 h 387"/>
              <a:gd name="T60" fmla="*/ 362 w 753"/>
              <a:gd name="T61" fmla="*/ 284 h 387"/>
              <a:gd name="T62" fmla="*/ 347 w 753"/>
              <a:gd name="T63" fmla="*/ 288 h 387"/>
              <a:gd name="T64" fmla="*/ 324 w 753"/>
              <a:gd name="T65" fmla="*/ 223 h 387"/>
              <a:gd name="T66" fmla="*/ 298 w 753"/>
              <a:gd name="T67" fmla="*/ 234 h 387"/>
              <a:gd name="T68" fmla="*/ 266 w 753"/>
              <a:gd name="T69" fmla="*/ 205 h 387"/>
              <a:gd name="T70" fmla="*/ 251 w 753"/>
              <a:gd name="T71" fmla="*/ 206 h 387"/>
              <a:gd name="T72" fmla="*/ 232 w 753"/>
              <a:gd name="T73" fmla="*/ 223 h 387"/>
              <a:gd name="T74" fmla="*/ 202 w 753"/>
              <a:gd name="T75" fmla="*/ 200 h 387"/>
              <a:gd name="T76" fmla="*/ 182 w 753"/>
              <a:gd name="T77" fmla="*/ 201 h 387"/>
              <a:gd name="T78" fmla="*/ 165 w 753"/>
              <a:gd name="T79" fmla="*/ 213 h 387"/>
              <a:gd name="T80" fmla="*/ 329 w 753"/>
              <a:gd name="T81" fmla="*/ 45 h 387"/>
              <a:gd name="T82" fmla="*/ 374 w 753"/>
              <a:gd name="T83" fmla="*/ 54 h 387"/>
              <a:gd name="T84" fmla="*/ 274 w 753"/>
              <a:gd name="T85" fmla="*/ 75 h 387"/>
              <a:gd name="T86" fmla="*/ 375 w 753"/>
              <a:gd name="T87" fmla="*/ 133 h 387"/>
              <a:gd name="T88" fmla="*/ 398 w 753"/>
              <a:gd name="T89" fmla="*/ 154 h 387"/>
              <a:gd name="T90" fmla="*/ 411 w 753"/>
              <a:gd name="T91" fmla="*/ 161 h 387"/>
              <a:gd name="T92" fmla="*/ 422 w 753"/>
              <a:gd name="T93" fmla="*/ 165 h 387"/>
              <a:gd name="T94" fmla="*/ 435 w 753"/>
              <a:gd name="T95" fmla="*/ 169 h 387"/>
              <a:gd name="T96" fmla="*/ 451 w 753"/>
              <a:gd name="T97" fmla="*/ 171 h 387"/>
              <a:gd name="T98" fmla="*/ 539 w 753"/>
              <a:gd name="T99" fmla="*/ 214 h 387"/>
              <a:gd name="T100" fmla="*/ 536 w 753"/>
              <a:gd name="T101" fmla="*/ 191 h 387"/>
              <a:gd name="T102" fmla="*/ 431 w 753"/>
              <a:gd name="T103" fmla="*/ 148 h 387"/>
              <a:gd name="T104" fmla="*/ 409 w 753"/>
              <a:gd name="T105" fmla="*/ 137 h 387"/>
              <a:gd name="T106" fmla="*/ 386 w 753"/>
              <a:gd name="T107" fmla="*/ 116 h 387"/>
              <a:gd name="T108" fmla="*/ 273 w 753"/>
              <a:gd name="T109" fmla="*/ 160 h 387"/>
              <a:gd name="T110" fmla="*/ 482 w 753"/>
              <a:gd name="T111" fmla="*/ 99 h 387"/>
              <a:gd name="T112" fmla="*/ 662 w 753"/>
              <a:gd name="T113" fmla="*/ 171 h 387"/>
              <a:gd name="T114" fmla="*/ 662 w 753"/>
              <a:gd name="T115" fmla="*/ 191 h 387"/>
              <a:gd name="T116" fmla="*/ 94 w 753"/>
              <a:gd name="T117" fmla="*/ 193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53" h="387">
                <a:moveTo>
                  <a:pt x="621" y="261"/>
                </a:moveTo>
                <a:cubicBezTo>
                  <a:pt x="753" y="217"/>
                  <a:pt x="753" y="217"/>
                  <a:pt x="753" y="217"/>
                </a:cubicBezTo>
                <a:cubicBezTo>
                  <a:pt x="681" y="0"/>
                  <a:pt x="681" y="0"/>
                  <a:pt x="681" y="0"/>
                </a:cubicBezTo>
                <a:cubicBezTo>
                  <a:pt x="549" y="44"/>
                  <a:pt x="549" y="44"/>
                  <a:pt x="549" y="44"/>
                </a:cubicBezTo>
                <a:cubicBezTo>
                  <a:pt x="553" y="56"/>
                  <a:pt x="553" y="56"/>
                  <a:pt x="553" y="56"/>
                </a:cubicBezTo>
                <a:cubicBezTo>
                  <a:pt x="484" y="79"/>
                  <a:pt x="484" y="79"/>
                  <a:pt x="484" y="79"/>
                </a:cubicBezTo>
                <a:cubicBezTo>
                  <a:pt x="410" y="63"/>
                  <a:pt x="410" y="63"/>
                  <a:pt x="410" y="63"/>
                </a:cubicBezTo>
                <a:cubicBezTo>
                  <a:pt x="402" y="39"/>
                  <a:pt x="402" y="39"/>
                  <a:pt x="402" y="39"/>
                </a:cubicBezTo>
                <a:cubicBezTo>
                  <a:pt x="402" y="37"/>
                  <a:pt x="400" y="35"/>
                  <a:pt x="398" y="33"/>
                </a:cubicBezTo>
                <a:cubicBezTo>
                  <a:pt x="396" y="33"/>
                  <a:pt x="395" y="32"/>
                  <a:pt x="393" y="32"/>
                </a:cubicBezTo>
                <a:cubicBezTo>
                  <a:pt x="331" y="26"/>
                  <a:pt x="331" y="26"/>
                  <a:pt x="331" y="26"/>
                </a:cubicBezTo>
                <a:cubicBezTo>
                  <a:pt x="330" y="26"/>
                  <a:pt x="329" y="26"/>
                  <a:pt x="328" y="26"/>
                </a:cubicBezTo>
                <a:cubicBezTo>
                  <a:pt x="299" y="23"/>
                  <a:pt x="299" y="23"/>
                  <a:pt x="299" y="23"/>
                </a:cubicBezTo>
                <a:cubicBezTo>
                  <a:pt x="297" y="23"/>
                  <a:pt x="295" y="23"/>
                  <a:pt x="293" y="24"/>
                </a:cubicBezTo>
                <a:cubicBezTo>
                  <a:pt x="204" y="54"/>
                  <a:pt x="204" y="54"/>
                  <a:pt x="204" y="54"/>
                </a:cubicBezTo>
                <a:cubicBezTo>
                  <a:pt x="207" y="45"/>
                  <a:pt x="207" y="45"/>
                  <a:pt x="207" y="45"/>
                </a:cubicBezTo>
                <a:cubicBezTo>
                  <a:pt x="73" y="0"/>
                  <a:pt x="73" y="0"/>
                  <a:pt x="73" y="0"/>
                </a:cubicBezTo>
                <a:cubicBezTo>
                  <a:pt x="0" y="220"/>
                  <a:pt x="0" y="220"/>
                  <a:pt x="0" y="220"/>
                </a:cubicBezTo>
                <a:cubicBezTo>
                  <a:pt x="134" y="264"/>
                  <a:pt x="134" y="264"/>
                  <a:pt x="134" y="264"/>
                </a:cubicBezTo>
                <a:cubicBezTo>
                  <a:pt x="140" y="247"/>
                  <a:pt x="140" y="247"/>
                  <a:pt x="140" y="247"/>
                </a:cubicBezTo>
                <a:cubicBezTo>
                  <a:pt x="143" y="251"/>
                  <a:pt x="146" y="255"/>
                  <a:pt x="150" y="258"/>
                </a:cubicBezTo>
                <a:cubicBezTo>
                  <a:pt x="151" y="259"/>
                  <a:pt x="151" y="261"/>
                  <a:pt x="151" y="262"/>
                </a:cubicBezTo>
                <a:cubicBezTo>
                  <a:pt x="154" y="271"/>
                  <a:pt x="160" y="278"/>
                  <a:pt x="169" y="282"/>
                </a:cubicBezTo>
                <a:cubicBezTo>
                  <a:pt x="173" y="285"/>
                  <a:pt x="179" y="286"/>
                  <a:pt x="184" y="286"/>
                </a:cubicBezTo>
                <a:cubicBezTo>
                  <a:pt x="184" y="286"/>
                  <a:pt x="184" y="286"/>
                  <a:pt x="184" y="286"/>
                </a:cubicBezTo>
                <a:cubicBezTo>
                  <a:pt x="189" y="286"/>
                  <a:pt x="194" y="285"/>
                  <a:pt x="198" y="283"/>
                </a:cubicBezTo>
                <a:cubicBezTo>
                  <a:pt x="209" y="288"/>
                  <a:pt x="209" y="288"/>
                  <a:pt x="209" y="288"/>
                </a:cubicBezTo>
                <a:cubicBezTo>
                  <a:pt x="211" y="298"/>
                  <a:pt x="217" y="307"/>
                  <a:pt x="227" y="311"/>
                </a:cubicBezTo>
                <a:cubicBezTo>
                  <a:pt x="231" y="314"/>
                  <a:pt x="237" y="315"/>
                  <a:pt x="242" y="315"/>
                </a:cubicBezTo>
                <a:cubicBezTo>
                  <a:pt x="247" y="315"/>
                  <a:pt x="252" y="314"/>
                  <a:pt x="256" y="312"/>
                </a:cubicBezTo>
                <a:cubicBezTo>
                  <a:pt x="265" y="316"/>
                  <a:pt x="265" y="316"/>
                  <a:pt x="265" y="316"/>
                </a:cubicBezTo>
                <a:cubicBezTo>
                  <a:pt x="265" y="317"/>
                  <a:pt x="265" y="318"/>
                  <a:pt x="265" y="319"/>
                </a:cubicBezTo>
                <a:cubicBezTo>
                  <a:pt x="268" y="328"/>
                  <a:pt x="274" y="335"/>
                  <a:pt x="283" y="339"/>
                </a:cubicBezTo>
                <a:cubicBezTo>
                  <a:pt x="287" y="342"/>
                  <a:pt x="293" y="343"/>
                  <a:pt x="298" y="343"/>
                </a:cubicBezTo>
                <a:cubicBezTo>
                  <a:pt x="298" y="343"/>
                  <a:pt x="298" y="343"/>
                  <a:pt x="298" y="343"/>
                </a:cubicBezTo>
                <a:cubicBezTo>
                  <a:pt x="303" y="343"/>
                  <a:pt x="307" y="342"/>
                  <a:pt x="312" y="340"/>
                </a:cubicBezTo>
                <a:cubicBezTo>
                  <a:pt x="320" y="344"/>
                  <a:pt x="320" y="344"/>
                  <a:pt x="320" y="344"/>
                </a:cubicBezTo>
                <a:cubicBezTo>
                  <a:pt x="323" y="354"/>
                  <a:pt x="329" y="362"/>
                  <a:pt x="338" y="367"/>
                </a:cubicBezTo>
                <a:cubicBezTo>
                  <a:pt x="343" y="370"/>
                  <a:pt x="348" y="371"/>
                  <a:pt x="354" y="371"/>
                </a:cubicBezTo>
                <a:cubicBezTo>
                  <a:pt x="354" y="371"/>
                  <a:pt x="354" y="371"/>
                  <a:pt x="354" y="371"/>
                </a:cubicBezTo>
                <a:cubicBezTo>
                  <a:pt x="359" y="371"/>
                  <a:pt x="364" y="370"/>
                  <a:pt x="369" y="367"/>
                </a:cubicBezTo>
                <a:cubicBezTo>
                  <a:pt x="400" y="383"/>
                  <a:pt x="400" y="383"/>
                  <a:pt x="400" y="383"/>
                </a:cubicBezTo>
                <a:cubicBezTo>
                  <a:pt x="405" y="386"/>
                  <a:pt x="411" y="387"/>
                  <a:pt x="416" y="387"/>
                </a:cubicBezTo>
                <a:cubicBezTo>
                  <a:pt x="420" y="387"/>
                  <a:pt x="423" y="386"/>
                  <a:pt x="427" y="385"/>
                </a:cubicBezTo>
                <a:cubicBezTo>
                  <a:pt x="436" y="382"/>
                  <a:pt x="443" y="376"/>
                  <a:pt x="447" y="368"/>
                </a:cubicBezTo>
                <a:cubicBezTo>
                  <a:pt x="450" y="361"/>
                  <a:pt x="451" y="354"/>
                  <a:pt x="450" y="347"/>
                </a:cubicBezTo>
                <a:cubicBezTo>
                  <a:pt x="456" y="350"/>
                  <a:pt x="456" y="350"/>
                  <a:pt x="456" y="350"/>
                </a:cubicBezTo>
                <a:cubicBezTo>
                  <a:pt x="473" y="359"/>
                  <a:pt x="494" y="352"/>
                  <a:pt x="503" y="335"/>
                </a:cubicBezTo>
                <a:cubicBezTo>
                  <a:pt x="506" y="328"/>
                  <a:pt x="507" y="321"/>
                  <a:pt x="506" y="314"/>
                </a:cubicBezTo>
                <a:cubicBezTo>
                  <a:pt x="509" y="316"/>
                  <a:pt x="509" y="316"/>
                  <a:pt x="509" y="316"/>
                </a:cubicBezTo>
                <a:cubicBezTo>
                  <a:pt x="517" y="320"/>
                  <a:pt x="527" y="320"/>
                  <a:pt x="535" y="317"/>
                </a:cubicBezTo>
                <a:cubicBezTo>
                  <a:pt x="544" y="315"/>
                  <a:pt x="551" y="308"/>
                  <a:pt x="555" y="300"/>
                </a:cubicBezTo>
                <a:cubicBezTo>
                  <a:pt x="559" y="294"/>
                  <a:pt x="560" y="286"/>
                  <a:pt x="559" y="279"/>
                </a:cubicBezTo>
                <a:cubicBezTo>
                  <a:pt x="566" y="282"/>
                  <a:pt x="574" y="282"/>
                  <a:pt x="582" y="280"/>
                </a:cubicBezTo>
                <a:cubicBezTo>
                  <a:pt x="591" y="277"/>
                  <a:pt x="598" y="271"/>
                  <a:pt x="602" y="263"/>
                </a:cubicBezTo>
                <a:cubicBezTo>
                  <a:pt x="606" y="254"/>
                  <a:pt x="607" y="245"/>
                  <a:pt x="604" y="236"/>
                </a:cubicBezTo>
                <a:cubicBezTo>
                  <a:pt x="603" y="233"/>
                  <a:pt x="602" y="231"/>
                  <a:pt x="600" y="228"/>
                </a:cubicBezTo>
                <a:cubicBezTo>
                  <a:pt x="609" y="225"/>
                  <a:pt x="609" y="225"/>
                  <a:pt x="609" y="225"/>
                </a:cubicBezTo>
                <a:lnTo>
                  <a:pt x="621" y="261"/>
                </a:lnTo>
                <a:close/>
                <a:moveTo>
                  <a:pt x="729" y="205"/>
                </a:moveTo>
                <a:cubicBezTo>
                  <a:pt x="633" y="236"/>
                  <a:pt x="633" y="236"/>
                  <a:pt x="633" y="236"/>
                </a:cubicBezTo>
                <a:cubicBezTo>
                  <a:pt x="575" y="62"/>
                  <a:pt x="575" y="62"/>
                  <a:pt x="575" y="62"/>
                </a:cubicBezTo>
                <a:cubicBezTo>
                  <a:pt x="575" y="61"/>
                  <a:pt x="575" y="60"/>
                  <a:pt x="575" y="59"/>
                </a:cubicBezTo>
                <a:cubicBezTo>
                  <a:pt x="575" y="58"/>
                  <a:pt x="574" y="57"/>
                  <a:pt x="574" y="56"/>
                </a:cubicBezTo>
                <a:cubicBezTo>
                  <a:pt x="669" y="25"/>
                  <a:pt x="669" y="25"/>
                  <a:pt x="669" y="25"/>
                </a:cubicBezTo>
                <a:lnTo>
                  <a:pt x="729" y="205"/>
                </a:lnTo>
                <a:close/>
                <a:moveTo>
                  <a:pt x="122" y="240"/>
                </a:moveTo>
                <a:cubicBezTo>
                  <a:pt x="25" y="208"/>
                  <a:pt x="25" y="208"/>
                  <a:pt x="25" y="208"/>
                </a:cubicBezTo>
                <a:cubicBezTo>
                  <a:pt x="86" y="25"/>
                  <a:pt x="86" y="25"/>
                  <a:pt x="86" y="25"/>
                </a:cubicBezTo>
                <a:cubicBezTo>
                  <a:pt x="183" y="57"/>
                  <a:pt x="183" y="57"/>
                  <a:pt x="183" y="57"/>
                </a:cubicBezTo>
                <a:cubicBezTo>
                  <a:pt x="130" y="217"/>
                  <a:pt x="130" y="217"/>
                  <a:pt x="130" y="217"/>
                </a:cubicBezTo>
                <a:cubicBezTo>
                  <a:pt x="129" y="217"/>
                  <a:pt x="129" y="217"/>
                  <a:pt x="129" y="217"/>
                </a:cubicBezTo>
                <a:cubicBezTo>
                  <a:pt x="129" y="218"/>
                  <a:pt x="129" y="218"/>
                  <a:pt x="129" y="218"/>
                </a:cubicBezTo>
                <a:lnTo>
                  <a:pt x="122" y="240"/>
                </a:lnTo>
                <a:close/>
                <a:moveTo>
                  <a:pt x="177" y="265"/>
                </a:moveTo>
                <a:cubicBezTo>
                  <a:pt x="174" y="263"/>
                  <a:pt x="171" y="260"/>
                  <a:pt x="170" y="256"/>
                </a:cubicBezTo>
                <a:cubicBezTo>
                  <a:pt x="169" y="255"/>
                  <a:pt x="169" y="253"/>
                  <a:pt x="169" y="252"/>
                </a:cubicBezTo>
                <a:cubicBezTo>
                  <a:pt x="169" y="251"/>
                  <a:pt x="169" y="250"/>
                  <a:pt x="169" y="249"/>
                </a:cubicBezTo>
                <a:cubicBezTo>
                  <a:pt x="169" y="248"/>
                  <a:pt x="169" y="248"/>
                  <a:pt x="169" y="248"/>
                </a:cubicBezTo>
                <a:cubicBezTo>
                  <a:pt x="170" y="247"/>
                  <a:pt x="170" y="246"/>
                  <a:pt x="171" y="244"/>
                </a:cubicBezTo>
                <a:cubicBezTo>
                  <a:pt x="179" y="227"/>
                  <a:pt x="179" y="227"/>
                  <a:pt x="179" y="227"/>
                </a:cubicBezTo>
                <a:cubicBezTo>
                  <a:pt x="180" y="226"/>
                  <a:pt x="181" y="225"/>
                  <a:pt x="181" y="224"/>
                </a:cubicBezTo>
                <a:cubicBezTo>
                  <a:pt x="182" y="224"/>
                  <a:pt x="182" y="223"/>
                  <a:pt x="182" y="223"/>
                </a:cubicBezTo>
                <a:cubicBezTo>
                  <a:pt x="183" y="222"/>
                  <a:pt x="184" y="222"/>
                  <a:pt x="184" y="221"/>
                </a:cubicBezTo>
                <a:cubicBezTo>
                  <a:pt x="185" y="221"/>
                  <a:pt x="185" y="221"/>
                  <a:pt x="185" y="221"/>
                </a:cubicBezTo>
                <a:cubicBezTo>
                  <a:pt x="186" y="220"/>
                  <a:pt x="187" y="220"/>
                  <a:pt x="188" y="219"/>
                </a:cubicBezTo>
                <a:cubicBezTo>
                  <a:pt x="189" y="219"/>
                  <a:pt x="189" y="219"/>
                  <a:pt x="189" y="219"/>
                </a:cubicBezTo>
                <a:cubicBezTo>
                  <a:pt x="190" y="219"/>
                  <a:pt x="191" y="219"/>
                  <a:pt x="192" y="219"/>
                </a:cubicBezTo>
                <a:cubicBezTo>
                  <a:pt x="193" y="219"/>
                  <a:pt x="193" y="219"/>
                  <a:pt x="193" y="219"/>
                </a:cubicBezTo>
                <a:cubicBezTo>
                  <a:pt x="194" y="219"/>
                  <a:pt x="195" y="219"/>
                  <a:pt x="196" y="219"/>
                </a:cubicBezTo>
                <a:cubicBezTo>
                  <a:pt x="196" y="219"/>
                  <a:pt x="196" y="219"/>
                  <a:pt x="197" y="219"/>
                </a:cubicBezTo>
                <a:cubicBezTo>
                  <a:pt x="198" y="219"/>
                  <a:pt x="199" y="220"/>
                  <a:pt x="200" y="220"/>
                </a:cubicBezTo>
                <a:cubicBezTo>
                  <a:pt x="203" y="222"/>
                  <a:pt x="206" y="225"/>
                  <a:pt x="207" y="229"/>
                </a:cubicBezTo>
                <a:cubicBezTo>
                  <a:pt x="209" y="233"/>
                  <a:pt x="208" y="237"/>
                  <a:pt x="207" y="241"/>
                </a:cubicBezTo>
                <a:cubicBezTo>
                  <a:pt x="198" y="258"/>
                  <a:pt x="198" y="258"/>
                  <a:pt x="198" y="258"/>
                </a:cubicBezTo>
                <a:cubicBezTo>
                  <a:pt x="198" y="258"/>
                  <a:pt x="198" y="258"/>
                  <a:pt x="198" y="258"/>
                </a:cubicBezTo>
                <a:cubicBezTo>
                  <a:pt x="197" y="259"/>
                  <a:pt x="197" y="260"/>
                  <a:pt x="196" y="261"/>
                </a:cubicBezTo>
                <a:cubicBezTo>
                  <a:pt x="195" y="261"/>
                  <a:pt x="195" y="262"/>
                  <a:pt x="195" y="262"/>
                </a:cubicBezTo>
                <a:cubicBezTo>
                  <a:pt x="194" y="262"/>
                  <a:pt x="194" y="263"/>
                  <a:pt x="193" y="263"/>
                </a:cubicBezTo>
                <a:cubicBezTo>
                  <a:pt x="189" y="267"/>
                  <a:pt x="183" y="267"/>
                  <a:pt x="177" y="265"/>
                </a:cubicBezTo>
                <a:close/>
                <a:moveTo>
                  <a:pt x="235" y="294"/>
                </a:moveTo>
                <a:cubicBezTo>
                  <a:pt x="230" y="291"/>
                  <a:pt x="227" y="286"/>
                  <a:pt x="227" y="281"/>
                </a:cubicBezTo>
                <a:cubicBezTo>
                  <a:pt x="227" y="280"/>
                  <a:pt x="227" y="279"/>
                  <a:pt x="227" y="278"/>
                </a:cubicBezTo>
                <a:cubicBezTo>
                  <a:pt x="227" y="278"/>
                  <a:pt x="227" y="277"/>
                  <a:pt x="227" y="277"/>
                </a:cubicBezTo>
                <a:cubicBezTo>
                  <a:pt x="228" y="276"/>
                  <a:pt x="228" y="275"/>
                  <a:pt x="229" y="274"/>
                </a:cubicBezTo>
                <a:cubicBezTo>
                  <a:pt x="249" y="232"/>
                  <a:pt x="249" y="232"/>
                  <a:pt x="249" y="232"/>
                </a:cubicBezTo>
                <a:cubicBezTo>
                  <a:pt x="250" y="231"/>
                  <a:pt x="251" y="230"/>
                  <a:pt x="251" y="229"/>
                </a:cubicBezTo>
                <a:cubicBezTo>
                  <a:pt x="252" y="229"/>
                  <a:pt x="252" y="229"/>
                  <a:pt x="252" y="228"/>
                </a:cubicBezTo>
                <a:cubicBezTo>
                  <a:pt x="253" y="228"/>
                  <a:pt x="254" y="227"/>
                  <a:pt x="254" y="226"/>
                </a:cubicBezTo>
                <a:cubicBezTo>
                  <a:pt x="255" y="226"/>
                  <a:pt x="255" y="226"/>
                  <a:pt x="255" y="226"/>
                </a:cubicBezTo>
                <a:cubicBezTo>
                  <a:pt x="256" y="225"/>
                  <a:pt x="257" y="225"/>
                  <a:pt x="258" y="224"/>
                </a:cubicBezTo>
                <a:cubicBezTo>
                  <a:pt x="259" y="224"/>
                  <a:pt x="259" y="224"/>
                  <a:pt x="259" y="224"/>
                </a:cubicBezTo>
                <a:cubicBezTo>
                  <a:pt x="260" y="224"/>
                  <a:pt x="261" y="224"/>
                  <a:pt x="262" y="224"/>
                </a:cubicBezTo>
                <a:cubicBezTo>
                  <a:pt x="263" y="224"/>
                  <a:pt x="263" y="224"/>
                  <a:pt x="263" y="224"/>
                </a:cubicBezTo>
                <a:cubicBezTo>
                  <a:pt x="264" y="224"/>
                  <a:pt x="265" y="224"/>
                  <a:pt x="266" y="224"/>
                </a:cubicBezTo>
                <a:cubicBezTo>
                  <a:pt x="266" y="224"/>
                  <a:pt x="266" y="224"/>
                  <a:pt x="267" y="224"/>
                </a:cubicBezTo>
                <a:cubicBezTo>
                  <a:pt x="268" y="225"/>
                  <a:pt x="269" y="225"/>
                  <a:pt x="270" y="225"/>
                </a:cubicBezTo>
                <a:cubicBezTo>
                  <a:pt x="273" y="227"/>
                  <a:pt x="276" y="230"/>
                  <a:pt x="277" y="234"/>
                </a:cubicBezTo>
                <a:cubicBezTo>
                  <a:pt x="279" y="238"/>
                  <a:pt x="278" y="242"/>
                  <a:pt x="276" y="246"/>
                </a:cubicBezTo>
                <a:cubicBezTo>
                  <a:pt x="256" y="287"/>
                  <a:pt x="256" y="287"/>
                  <a:pt x="256" y="287"/>
                </a:cubicBezTo>
                <a:cubicBezTo>
                  <a:pt x="255" y="288"/>
                  <a:pt x="255" y="289"/>
                  <a:pt x="254" y="290"/>
                </a:cubicBezTo>
                <a:cubicBezTo>
                  <a:pt x="253" y="290"/>
                  <a:pt x="253" y="291"/>
                  <a:pt x="253" y="291"/>
                </a:cubicBezTo>
                <a:cubicBezTo>
                  <a:pt x="252" y="292"/>
                  <a:pt x="252" y="292"/>
                  <a:pt x="251" y="292"/>
                </a:cubicBezTo>
                <a:cubicBezTo>
                  <a:pt x="247" y="296"/>
                  <a:pt x="241" y="297"/>
                  <a:pt x="235" y="294"/>
                </a:cubicBezTo>
                <a:close/>
                <a:moveTo>
                  <a:pt x="298" y="323"/>
                </a:moveTo>
                <a:cubicBezTo>
                  <a:pt x="296" y="323"/>
                  <a:pt x="293" y="323"/>
                  <a:pt x="291" y="322"/>
                </a:cubicBezTo>
                <a:cubicBezTo>
                  <a:pt x="288" y="320"/>
                  <a:pt x="285" y="317"/>
                  <a:pt x="284" y="313"/>
                </a:cubicBezTo>
                <a:cubicBezTo>
                  <a:pt x="283" y="312"/>
                  <a:pt x="283" y="310"/>
                  <a:pt x="283" y="309"/>
                </a:cubicBezTo>
                <a:cubicBezTo>
                  <a:pt x="283" y="308"/>
                  <a:pt x="283" y="307"/>
                  <a:pt x="283" y="306"/>
                </a:cubicBezTo>
                <a:cubicBezTo>
                  <a:pt x="283" y="305"/>
                  <a:pt x="283" y="305"/>
                  <a:pt x="283" y="305"/>
                </a:cubicBezTo>
                <a:cubicBezTo>
                  <a:pt x="283" y="304"/>
                  <a:pt x="284" y="303"/>
                  <a:pt x="284" y="301"/>
                </a:cubicBezTo>
                <a:cubicBezTo>
                  <a:pt x="310" y="250"/>
                  <a:pt x="310" y="250"/>
                  <a:pt x="310" y="250"/>
                </a:cubicBezTo>
                <a:cubicBezTo>
                  <a:pt x="311" y="249"/>
                  <a:pt x="311" y="248"/>
                  <a:pt x="312" y="247"/>
                </a:cubicBezTo>
                <a:cubicBezTo>
                  <a:pt x="312" y="247"/>
                  <a:pt x="313" y="247"/>
                  <a:pt x="313" y="246"/>
                </a:cubicBezTo>
                <a:cubicBezTo>
                  <a:pt x="314" y="246"/>
                  <a:pt x="314" y="245"/>
                  <a:pt x="315" y="245"/>
                </a:cubicBezTo>
                <a:cubicBezTo>
                  <a:pt x="315" y="244"/>
                  <a:pt x="316" y="244"/>
                  <a:pt x="316" y="244"/>
                </a:cubicBezTo>
                <a:cubicBezTo>
                  <a:pt x="317" y="243"/>
                  <a:pt x="318" y="243"/>
                  <a:pt x="319" y="243"/>
                </a:cubicBezTo>
                <a:cubicBezTo>
                  <a:pt x="319" y="243"/>
                  <a:pt x="320" y="243"/>
                  <a:pt x="320" y="242"/>
                </a:cubicBezTo>
                <a:cubicBezTo>
                  <a:pt x="321" y="242"/>
                  <a:pt x="322" y="242"/>
                  <a:pt x="323" y="242"/>
                </a:cubicBezTo>
                <a:cubicBezTo>
                  <a:pt x="323" y="242"/>
                  <a:pt x="324" y="242"/>
                  <a:pt x="324" y="242"/>
                </a:cubicBezTo>
                <a:cubicBezTo>
                  <a:pt x="325" y="242"/>
                  <a:pt x="325" y="242"/>
                  <a:pt x="326" y="242"/>
                </a:cubicBezTo>
                <a:cubicBezTo>
                  <a:pt x="327" y="242"/>
                  <a:pt x="327" y="242"/>
                  <a:pt x="327" y="242"/>
                </a:cubicBezTo>
                <a:cubicBezTo>
                  <a:pt x="328" y="243"/>
                  <a:pt x="329" y="243"/>
                  <a:pt x="330" y="244"/>
                </a:cubicBezTo>
                <a:cubicBezTo>
                  <a:pt x="338" y="247"/>
                  <a:pt x="341" y="256"/>
                  <a:pt x="337" y="264"/>
                </a:cubicBezTo>
                <a:cubicBezTo>
                  <a:pt x="312" y="315"/>
                  <a:pt x="312" y="315"/>
                  <a:pt x="312" y="315"/>
                </a:cubicBezTo>
                <a:cubicBezTo>
                  <a:pt x="311" y="316"/>
                  <a:pt x="310" y="317"/>
                  <a:pt x="309" y="318"/>
                </a:cubicBezTo>
                <a:cubicBezTo>
                  <a:pt x="309" y="319"/>
                  <a:pt x="308" y="319"/>
                  <a:pt x="307" y="320"/>
                </a:cubicBezTo>
                <a:cubicBezTo>
                  <a:pt x="305" y="322"/>
                  <a:pt x="302" y="323"/>
                  <a:pt x="298" y="323"/>
                </a:cubicBezTo>
                <a:cubicBezTo>
                  <a:pt x="298" y="323"/>
                  <a:pt x="298" y="323"/>
                  <a:pt x="298" y="323"/>
                </a:cubicBezTo>
                <a:close/>
                <a:moveTo>
                  <a:pt x="347" y="350"/>
                </a:moveTo>
                <a:cubicBezTo>
                  <a:pt x="342" y="347"/>
                  <a:pt x="339" y="342"/>
                  <a:pt x="339" y="337"/>
                </a:cubicBezTo>
                <a:cubicBezTo>
                  <a:pt x="339" y="336"/>
                  <a:pt x="339" y="335"/>
                  <a:pt x="339" y="334"/>
                </a:cubicBezTo>
                <a:cubicBezTo>
                  <a:pt x="339" y="333"/>
                  <a:pt x="339" y="333"/>
                  <a:pt x="339" y="333"/>
                </a:cubicBezTo>
                <a:cubicBezTo>
                  <a:pt x="339" y="332"/>
                  <a:pt x="340" y="330"/>
                  <a:pt x="340" y="329"/>
                </a:cubicBezTo>
                <a:cubicBezTo>
                  <a:pt x="349" y="312"/>
                  <a:pt x="349" y="312"/>
                  <a:pt x="349" y="312"/>
                </a:cubicBezTo>
                <a:cubicBezTo>
                  <a:pt x="350" y="311"/>
                  <a:pt x="350" y="310"/>
                  <a:pt x="351" y="309"/>
                </a:cubicBezTo>
                <a:cubicBezTo>
                  <a:pt x="351" y="308"/>
                  <a:pt x="352" y="308"/>
                  <a:pt x="352" y="308"/>
                </a:cubicBezTo>
                <a:cubicBezTo>
                  <a:pt x="353" y="307"/>
                  <a:pt x="353" y="307"/>
                  <a:pt x="354" y="306"/>
                </a:cubicBezTo>
                <a:cubicBezTo>
                  <a:pt x="354" y="306"/>
                  <a:pt x="355" y="306"/>
                  <a:pt x="355" y="306"/>
                </a:cubicBezTo>
                <a:cubicBezTo>
                  <a:pt x="356" y="305"/>
                  <a:pt x="357" y="305"/>
                  <a:pt x="358" y="304"/>
                </a:cubicBezTo>
                <a:cubicBezTo>
                  <a:pt x="358" y="304"/>
                  <a:pt x="359" y="304"/>
                  <a:pt x="359" y="304"/>
                </a:cubicBezTo>
                <a:cubicBezTo>
                  <a:pt x="360" y="304"/>
                  <a:pt x="361" y="304"/>
                  <a:pt x="362" y="304"/>
                </a:cubicBezTo>
                <a:cubicBezTo>
                  <a:pt x="362" y="304"/>
                  <a:pt x="363" y="304"/>
                  <a:pt x="363" y="304"/>
                </a:cubicBezTo>
                <a:cubicBezTo>
                  <a:pt x="364" y="304"/>
                  <a:pt x="364" y="304"/>
                  <a:pt x="365" y="304"/>
                </a:cubicBezTo>
                <a:cubicBezTo>
                  <a:pt x="366" y="304"/>
                  <a:pt x="366" y="304"/>
                  <a:pt x="366" y="304"/>
                </a:cubicBezTo>
                <a:cubicBezTo>
                  <a:pt x="367" y="304"/>
                  <a:pt x="368" y="305"/>
                  <a:pt x="369" y="305"/>
                </a:cubicBezTo>
                <a:cubicBezTo>
                  <a:pt x="377" y="309"/>
                  <a:pt x="380" y="318"/>
                  <a:pt x="376" y="325"/>
                </a:cubicBezTo>
                <a:cubicBezTo>
                  <a:pt x="367" y="343"/>
                  <a:pt x="367" y="343"/>
                  <a:pt x="367" y="343"/>
                </a:cubicBezTo>
                <a:cubicBezTo>
                  <a:pt x="367" y="343"/>
                  <a:pt x="367" y="343"/>
                  <a:pt x="367" y="343"/>
                </a:cubicBezTo>
                <a:cubicBezTo>
                  <a:pt x="367" y="344"/>
                  <a:pt x="366" y="345"/>
                  <a:pt x="366" y="346"/>
                </a:cubicBezTo>
                <a:cubicBezTo>
                  <a:pt x="365" y="346"/>
                  <a:pt x="365" y="347"/>
                  <a:pt x="364" y="347"/>
                </a:cubicBezTo>
                <a:cubicBezTo>
                  <a:pt x="364" y="347"/>
                  <a:pt x="364" y="348"/>
                  <a:pt x="363" y="348"/>
                </a:cubicBezTo>
                <a:cubicBezTo>
                  <a:pt x="359" y="351"/>
                  <a:pt x="352" y="352"/>
                  <a:pt x="347" y="350"/>
                </a:cubicBezTo>
                <a:close/>
                <a:moveTo>
                  <a:pt x="585" y="254"/>
                </a:moveTo>
                <a:cubicBezTo>
                  <a:pt x="583" y="257"/>
                  <a:pt x="580" y="260"/>
                  <a:pt x="576" y="261"/>
                </a:cubicBezTo>
                <a:cubicBezTo>
                  <a:pt x="572" y="263"/>
                  <a:pt x="568" y="262"/>
                  <a:pt x="565" y="261"/>
                </a:cubicBezTo>
                <a:cubicBezTo>
                  <a:pt x="525" y="241"/>
                  <a:pt x="525" y="241"/>
                  <a:pt x="525" y="241"/>
                </a:cubicBezTo>
                <a:cubicBezTo>
                  <a:pt x="524" y="240"/>
                  <a:pt x="523" y="240"/>
                  <a:pt x="522" y="239"/>
                </a:cubicBezTo>
                <a:cubicBezTo>
                  <a:pt x="521" y="238"/>
                  <a:pt x="519" y="237"/>
                  <a:pt x="517" y="236"/>
                </a:cubicBezTo>
                <a:cubicBezTo>
                  <a:pt x="516" y="236"/>
                  <a:pt x="515" y="236"/>
                  <a:pt x="514" y="235"/>
                </a:cubicBezTo>
                <a:cubicBezTo>
                  <a:pt x="492" y="224"/>
                  <a:pt x="492" y="224"/>
                  <a:pt x="492" y="224"/>
                </a:cubicBezTo>
                <a:cubicBezTo>
                  <a:pt x="490" y="223"/>
                  <a:pt x="487" y="223"/>
                  <a:pt x="484" y="224"/>
                </a:cubicBezTo>
                <a:cubicBezTo>
                  <a:pt x="481" y="225"/>
                  <a:pt x="479" y="227"/>
                  <a:pt x="479" y="230"/>
                </a:cubicBezTo>
                <a:cubicBezTo>
                  <a:pt x="478" y="231"/>
                  <a:pt x="478" y="233"/>
                  <a:pt x="477" y="234"/>
                </a:cubicBezTo>
                <a:cubicBezTo>
                  <a:pt x="475" y="239"/>
                  <a:pt x="477" y="244"/>
                  <a:pt x="482" y="246"/>
                </a:cubicBezTo>
                <a:cubicBezTo>
                  <a:pt x="531" y="271"/>
                  <a:pt x="531" y="271"/>
                  <a:pt x="531" y="271"/>
                </a:cubicBezTo>
                <a:cubicBezTo>
                  <a:pt x="535" y="273"/>
                  <a:pt x="538" y="276"/>
                  <a:pt x="539" y="280"/>
                </a:cubicBezTo>
                <a:cubicBezTo>
                  <a:pt x="540" y="284"/>
                  <a:pt x="540" y="288"/>
                  <a:pt x="538" y="291"/>
                </a:cubicBezTo>
                <a:cubicBezTo>
                  <a:pt x="536" y="295"/>
                  <a:pt x="533" y="298"/>
                  <a:pt x="529" y="299"/>
                </a:cubicBezTo>
                <a:cubicBezTo>
                  <a:pt x="525" y="300"/>
                  <a:pt x="521" y="300"/>
                  <a:pt x="518" y="298"/>
                </a:cubicBezTo>
                <a:cubicBezTo>
                  <a:pt x="468" y="274"/>
                  <a:pt x="468" y="274"/>
                  <a:pt x="468" y="274"/>
                </a:cubicBezTo>
                <a:cubicBezTo>
                  <a:pt x="464" y="271"/>
                  <a:pt x="458" y="273"/>
                  <a:pt x="455" y="278"/>
                </a:cubicBezTo>
                <a:cubicBezTo>
                  <a:pt x="453" y="282"/>
                  <a:pt x="453" y="282"/>
                  <a:pt x="453" y="282"/>
                </a:cubicBezTo>
                <a:cubicBezTo>
                  <a:pt x="452" y="285"/>
                  <a:pt x="452" y="287"/>
                  <a:pt x="453" y="290"/>
                </a:cubicBezTo>
                <a:cubicBezTo>
                  <a:pt x="454" y="292"/>
                  <a:pt x="455" y="294"/>
                  <a:pt x="458" y="295"/>
                </a:cubicBezTo>
                <a:cubicBezTo>
                  <a:pt x="479" y="306"/>
                  <a:pt x="479" y="306"/>
                  <a:pt x="479" y="306"/>
                </a:cubicBezTo>
                <a:cubicBezTo>
                  <a:pt x="486" y="310"/>
                  <a:pt x="489" y="319"/>
                  <a:pt x="485" y="326"/>
                </a:cubicBezTo>
                <a:cubicBezTo>
                  <a:pt x="482" y="334"/>
                  <a:pt x="472" y="337"/>
                  <a:pt x="465" y="333"/>
                </a:cubicBezTo>
                <a:cubicBezTo>
                  <a:pt x="444" y="322"/>
                  <a:pt x="444" y="322"/>
                  <a:pt x="444" y="322"/>
                </a:cubicBezTo>
                <a:cubicBezTo>
                  <a:pt x="439" y="320"/>
                  <a:pt x="434" y="322"/>
                  <a:pt x="431" y="326"/>
                </a:cubicBezTo>
                <a:cubicBezTo>
                  <a:pt x="430" y="328"/>
                  <a:pt x="429" y="330"/>
                  <a:pt x="428" y="331"/>
                </a:cubicBezTo>
                <a:cubicBezTo>
                  <a:pt x="425" y="335"/>
                  <a:pt x="425" y="340"/>
                  <a:pt x="428" y="343"/>
                </a:cubicBezTo>
                <a:cubicBezTo>
                  <a:pt x="431" y="348"/>
                  <a:pt x="432" y="354"/>
                  <a:pt x="429" y="359"/>
                </a:cubicBezTo>
                <a:cubicBezTo>
                  <a:pt x="428" y="363"/>
                  <a:pt x="425" y="366"/>
                  <a:pt x="421" y="367"/>
                </a:cubicBezTo>
                <a:cubicBezTo>
                  <a:pt x="417" y="368"/>
                  <a:pt x="413" y="368"/>
                  <a:pt x="409" y="366"/>
                </a:cubicBezTo>
                <a:cubicBezTo>
                  <a:pt x="384" y="353"/>
                  <a:pt x="384" y="353"/>
                  <a:pt x="384" y="353"/>
                </a:cubicBezTo>
                <a:cubicBezTo>
                  <a:pt x="384" y="353"/>
                  <a:pt x="385" y="352"/>
                  <a:pt x="385" y="352"/>
                </a:cubicBezTo>
                <a:cubicBezTo>
                  <a:pt x="394" y="334"/>
                  <a:pt x="394" y="334"/>
                  <a:pt x="394" y="334"/>
                </a:cubicBezTo>
                <a:cubicBezTo>
                  <a:pt x="402" y="317"/>
                  <a:pt x="395" y="296"/>
                  <a:pt x="378" y="288"/>
                </a:cubicBezTo>
                <a:cubicBezTo>
                  <a:pt x="377" y="287"/>
                  <a:pt x="376" y="287"/>
                  <a:pt x="374" y="286"/>
                </a:cubicBezTo>
                <a:cubicBezTo>
                  <a:pt x="374" y="286"/>
                  <a:pt x="373" y="286"/>
                  <a:pt x="372" y="286"/>
                </a:cubicBezTo>
                <a:cubicBezTo>
                  <a:pt x="372" y="285"/>
                  <a:pt x="371" y="285"/>
                  <a:pt x="370" y="285"/>
                </a:cubicBezTo>
                <a:cubicBezTo>
                  <a:pt x="370" y="285"/>
                  <a:pt x="369" y="285"/>
                  <a:pt x="368" y="285"/>
                </a:cubicBezTo>
                <a:cubicBezTo>
                  <a:pt x="368" y="285"/>
                  <a:pt x="367" y="284"/>
                  <a:pt x="366" y="284"/>
                </a:cubicBezTo>
                <a:cubicBezTo>
                  <a:pt x="366" y="284"/>
                  <a:pt x="365" y="284"/>
                  <a:pt x="365" y="284"/>
                </a:cubicBezTo>
                <a:cubicBezTo>
                  <a:pt x="364" y="284"/>
                  <a:pt x="363" y="284"/>
                  <a:pt x="363" y="284"/>
                </a:cubicBezTo>
                <a:cubicBezTo>
                  <a:pt x="363" y="284"/>
                  <a:pt x="362" y="284"/>
                  <a:pt x="362" y="284"/>
                </a:cubicBezTo>
                <a:cubicBezTo>
                  <a:pt x="361" y="284"/>
                  <a:pt x="360" y="284"/>
                  <a:pt x="358" y="284"/>
                </a:cubicBezTo>
                <a:cubicBezTo>
                  <a:pt x="357" y="284"/>
                  <a:pt x="357" y="285"/>
                  <a:pt x="356" y="285"/>
                </a:cubicBezTo>
                <a:cubicBezTo>
                  <a:pt x="355" y="285"/>
                  <a:pt x="355" y="285"/>
                  <a:pt x="354" y="285"/>
                </a:cubicBezTo>
                <a:cubicBezTo>
                  <a:pt x="353" y="285"/>
                  <a:pt x="352" y="286"/>
                  <a:pt x="351" y="286"/>
                </a:cubicBezTo>
                <a:cubicBezTo>
                  <a:pt x="351" y="286"/>
                  <a:pt x="350" y="286"/>
                  <a:pt x="350" y="286"/>
                </a:cubicBezTo>
                <a:cubicBezTo>
                  <a:pt x="349" y="287"/>
                  <a:pt x="348" y="287"/>
                  <a:pt x="347" y="288"/>
                </a:cubicBezTo>
                <a:cubicBezTo>
                  <a:pt x="347" y="288"/>
                  <a:pt x="347" y="288"/>
                  <a:pt x="347" y="288"/>
                </a:cubicBezTo>
                <a:cubicBezTo>
                  <a:pt x="355" y="273"/>
                  <a:pt x="355" y="273"/>
                  <a:pt x="355" y="273"/>
                </a:cubicBezTo>
                <a:cubicBezTo>
                  <a:pt x="363" y="256"/>
                  <a:pt x="356" y="235"/>
                  <a:pt x="339" y="226"/>
                </a:cubicBezTo>
                <a:cubicBezTo>
                  <a:pt x="338" y="225"/>
                  <a:pt x="336" y="225"/>
                  <a:pt x="334" y="224"/>
                </a:cubicBezTo>
                <a:cubicBezTo>
                  <a:pt x="334" y="224"/>
                  <a:pt x="333" y="224"/>
                  <a:pt x="333" y="224"/>
                </a:cubicBezTo>
                <a:cubicBezTo>
                  <a:pt x="331" y="223"/>
                  <a:pt x="330" y="223"/>
                  <a:pt x="328" y="223"/>
                </a:cubicBezTo>
                <a:cubicBezTo>
                  <a:pt x="328" y="223"/>
                  <a:pt x="328" y="223"/>
                  <a:pt x="328" y="223"/>
                </a:cubicBezTo>
                <a:cubicBezTo>
                  <a:pt x="326" y="223"/>
                  <a:pt x="325" y="223"/>
                  <a:pt x="324" y="223"/>
                </a:cubicBezTo>
                <a:cubicBezTo>
                  <a:pt x="323" y="223"/>
                  <a:pt x="323" y="223"/>
                  <a:pt x="323" y="223"/>
                </a:cubicBezTo>
                <a:cubicBezTo>
                  <a:pt x="322" y="223"/>
                  <a:pt x="322" y="223"/>
                  <a:pt x="321" y="223"/>
                </a:cubicBezTo>
                <a:cubicBezTo>
                  <a:pt x="320" y="223"/>
                  <a:pt x="318" y="223"/>
                  <a:pt x="317" y="223"/>
                </a:cubicBezTo>
                <a:cubicBezTo>
                  <a:pt x="317" y="223"/>
                  <a:pt x="316" y="223"/>
                  <a:pt x="316" y="223"/>
                </a:cubicBezTo>
                <a:cubicBezTo>
                  <a:pt x="314" y="224"/>
                  <a:pt x="313" y="224"/>
                  <a:pt x="312" y="225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06" y="227"/>
                  <a:pt x="301" y="230"/>
                  <a:pt x="298" y="234"/>
                </a:cubicBezTo>
                <a:cubicBezTo>
                  <a:pt x="297" y="234"/>
                  <a:pt x="297" y="235"/>
                  <a:pt x="297" y="235"/>
                </a:cubicBezTo>
                <a:cubicBezTo>
                  <a:pt x="297" y="235"/>
                  <a:pt x="297" y="235"/>
                  <a:pt x="297" y="235"/>
                </a:cubicBezTo>
                <a:cubicBezTo>
                  <a:pt x="297" y="232"/>
                  <a:pt x="296" y="230"/>
                  <a:pt x="296" y="228"/>
                </a:cubicBezTo>
                <a:cubicBezTo>
                  <a:pt x="293" y="219"/>
                  <a:pt x="287" y="212"/>
                  <a:pt x="278" y="208"/>
                </a:cubicBezTo>
                <a:cubicBezTo>
                  <a:pt x="277" y="207"/>
                  <a:pt x="275" y="206"/>
                  <a:pt x="273" y="206"/>
                </a:cubicBezTo>
                <a:cubicBezTo>
                  <a:pt x="272" y="206"/>
                  <a:pt x="272" y="206"/>
                  <a:pt x="272" y="205"/>
                </a:cubicBezTo>
                <a:cubicBezTo>
                  <a:pt x="270" y="205"/>
                  <a:pt x="268" y="205"/>
                  <a:pt x="266" y="205"/>
                </a:cubicBezTo>
                <a:cubicBezTo>
                  <a:pt x="266" y="204"/>
                  <a:pt x="265" y="204"/>
                  <a:pt x="265" y="204"/>
                </a:cubicBezTo>
                <a:cubicBezTo>
                  <a:pt x="264" y="204"/>
                  <a:pt x="263" y="204"/>
                  <a:pt x="263" y="204"/>
                </a:cubicBezTo>
                <a:cubicBezTo>
                  <a:pt x="262" y="204"/>
                  <a:pt x="261" y="204"/>
                  <a:pt x="260" y="205"/>
                </a:cubicBezTo>
                <a:cubicBezTo>
                  <a:pt x="259" y="205"/>
                  <a:pt x="259" y="205"/>
                  <a:pt x="258" y="205"/>
                </a:cubicBezTo>
                <a:cubicBezTo>
                  <a:pt x="256" y="205"/>
                  <a:pt x="254" y="205"/>
                  <a:pt x="252" y="206"/>
                </a:cubicBezTo>
                <a:cubicBezTo>
                  <a:pt x="252" y="206"/>
                  <a:pt x="252" y="206"/>
                  <a:pt x="252" y="206"/>
                </a:cubicBezTo>
                <a:cubicBezTo>
                  <a:pt x="252" y="206"/>
                  <a:pt x="252" y="206"/>
                  <a:pt x="251" y="206"/>
                </a:cubicBezTo>
                <a:cubicBezTo>
                  <a:pt x="250" y="207"/>
                  <a:pt x="248" y="208"/>
                  <a:pt x="246" y="209"/>
                </a:cubicBezTo>
                <a:cubicBezTo>
                  <a:pt x="246" y="209"/>
                  <a:pt x="246" y="209"/>
                  <a:pt x="245" y="209"/>
                </a:cubicBezTo>
                <a:cubicBezTo>
                  <a:pt x="244" y="210"/>
                  <a:pt x="242" y="211"/>
                  <a:pt x="240" y="213"/>
                </a:cubicBezTo>
                <a:cubicBezTo>
                  <a:pt x="240" y="213"/>
                  <a:pt x="240" y="213"/>
                  <a:pt x="240" y="213"/>
                </a:cubicBezTo>
                <a:cubicBezTo>
                  <a:pt x="238" y="214"/>
                  <a:pt x="237" y="216"/>
                  <a:pt x="236" y="217"/>
                </a:cubicBezTo>
                <a:cubicBezTo>
                  <a:pt x="236" y="217"/>
                  <a:pt x="236" y="218"/>
                  <a:pt x="235" y="218"/>
                </a:cubicBezTo>
                <a:cubicBezTo>
                  <a:pt x="234" y="220"/>
                  <a:pt x="233" y="222"/>
                  <a:pt x="232" y="223"/>
                </a:cubicBezTo>
                <a:cubicBezTo>
                  <a:pt x="228" y="232"/>
                  <a:pt x="228" y="232"/>
                  <a:pt x="228" y="232"/>
                </a:cubicBezTo>
                <a:cubicBezTo>
                  <a:pt x="227" y="232"/>
                  <a:pt x="227" y="231"/>
                  <a:pt x="227" y="230"/>
                </a:cubicBezTo>
                <a:cubicBezTo>
                  <a:pt x="227" y="230"/>
                  <a:pt x="227" y="229"/>
                  <a:pt x="227" y="229"/>
                </a:cubicBezTo>
                <a:cubicBezTo>
                  <a:pt x="227" y="227"/>
                  <a:pt x="226" y="225"/>
                  <a:pt x="226" y="223"/>
                </a:cubicBezTo>
                <a:cubicBezTo>
                  <a:pt x="223" y="214"/>
                  <a:pt x="217" y="207"/>
                  <a:pt x="208" y="203"/>
                </a:cubicBezTo>
                <a:cubicBezTo>
                  <a:pt x="207" y="202"/>
                  <a:pt x="205" y="201"/>
                  <a:pt x="203" y="201"/>
                </a:cubicBezTo>
                <a:cubicBezTo>
                  <a:pt x="202" y="201"/>
                  <a:pt x="202" y="200"/>
                  <a:pt x="202" y="200"/>
                </a:cubicBezTo>
                <a:cubicBezTo>
                  <a:pt x="200" y="200"/>
                  <a:pt x="198" y="199"/>
                  <a:pt x="196" y="199"/>
                </a:cubicBezTo>
                <a:cubicBezTo>
                  <a:pt x="196" y="199"/>
                  <a:pt x="195" y="199"/>
                  <a:pt x="195" y="199"/>
                </a:cubicBezTo>
                <a:cubicBezTo>
                  <a:pt x="194" y="199"/>
                  <a:pt x="193" y="199"/>
                  <a:pt x="193" y="199"/>
                </a:cubicBezTo>
                <a:cubicBezTo>
                  <a:pt x="192" y="199"/>
                  <a:pt x="191" y="199"/>
                  <a:pt x="190" y="199"/>
                </a:cubicBezTo>
                <a:cubicBezTo>
                  <a:pt x="189" y="199"/>
                  <a:pt x="189" y="199"/>
                  <a:pt x="188" y="199"/>
                </a:cubicBezTo>
                <a:cubicBezTo>
                  <a:pt x="186" y="200"/>
                  <a:pt x="184" y="200"/>
                  <a:pt x="182" y="201"/>
                </a:cubicBezTo>
                <a:cubicBezTo>
                  <a:pt x="182" y="201"/>
                  <a:pt x="182" y="201"/>
                  <a:pt x="182" y="201"/>
                </a:cubicBezTo>
                <a:cubicBezTo>
                  <a:pt x="182" y="201"/>
                  <a:pt x="182" y="201"/>
                  <a:pt x="181" y="201"/>
                </a:cubicBezTo>
                <a:cubicBezTo>
                  <a:pt x="180" y="202"/>
                  <a:pt x="178" y="203"/>
                  <a:pt x="176" y="203"/>
                </a:cubicBezTo>
                <a:cubicBezTo>
                  <a:pt x="176" y="204"/>
                  <a:pt x="176" y="204"/>
                  <a:pt x="176" y="204"/>
                </a:cubicBezTo>
                <a:cubicBezTo>
                  <a:pt x="174" y="205"/>
                  <a:pt x="172" y="206"/>
                  <a:pt x="170" y="207"/>
                </a:cubicBezTo>
                <a:cubicBezTo>
                  <a:pt x="170" y="208"/>
                  <a:pt x="170" y="208"/>
                  <a:pt x="170" y="208"/>
                </a:cubicBezTo>
                <a:cubicBezTo>
                  <a:pt x="168" y="209"/>
                  <a:pt x="167" y="210"/>
                  <a:pt x="166" y="212"/>
                </a:cubicBezTo>
                <a:cubicBezTo>
                  <a:pt x="166" y="212"/>
                  <a:pt x="166" y="213"/>
                  <a:pt x="165" y="213"/>
                </a:cubicBezTo>
                <a:cubicBezTo>
                  <a:pt x="164" y="215"/>
                  <a:pt x="163" y="216"/>
                  <a:pt x="162" y="218"/>
                </a:cubicBezTo>
                <a:cubicBezTo>
                  <a:pt x="154" y="234"/>
                  <a:pt x="154" y="234"/>
                  <a:pt x="154" y="234"/>
                </a:cubicBezTo>
                <a:cubicBezTo>
                  <a:pt x="152" y="230"/>
                  <a:pt x="151" y="225"/>
                  <a:pt x="149" y="219"/>
                </a:cubicBezTo>
                <a:cubicBezTo>
                  <a:pt x="198" y="74"/>
                  <a:pt x="198" y="74"/>
                  <a:pt x="198" y="74"/>
                </a:cubicBezTo>
                <a:cubicBezTo>
                  <a:pt x="199" y="76"/>
                  <a:pt x="199" y="76"/>
                  <a:pt x="199" y="76"/>
                </a:cubicBezTo>
                <a:cubicBezTo>
                  <a:pt x="300" y="43"/>
                  <a:pt x="300" y="43"/>
                  <a:pt x="300" y="43"/>
                </a:cubicBezTo>
                <a:cubicBezTo>
                  <a:pt x="329" y="45"/>
                  <a:pt x="329" y="45"/>
                  <a:pt x="329" y="45"/>
                </a:cubicBezTo>
                <a:cubicBezTo>
                  <a:pt x="330" y="45"/>
                  <a:pt x="331" y="45"/>
                  <a:pt x="332" y="45"/>
                </a:cubicBezTo>
                <a:cubicBezTo>
                  <a:pt x="362" y="48"/>
                  <a:pt x="362" y="48"/>
                  <a:pt x="362" y="48"/>
                </a:cubicBezTo>
                <a:cubicBezTo>
                  <a:pt x="386" y="51"/>
                  <a:pt x="386" y="51"/>
                  <a:pt x="386" y="51"/>
                </a:cubicBezTo>
                <a:cubicBezTo>
                  <a:pt x="388" y="58"/>
                  <a:pt x="388" y="58"/>
                  <a:pt x="388" y="58"/>
                </a:cubicBezTo>
                <a:cubicBezTo>
                  <a:pt x="376" y="55"/>
                  <a:pt x="376" y="55"/>
                  <a:pt x="376" y="55"/>
                </a:cubicBezTo>
                <a:cubicBezTo>
                  <a:pt x="376" y="55"/>
                  <a:pt x="376" y="55"/>
                  <a:pt x="375" y="55"/>
                </a:cubicBezTo>
                <a:cubicBezTo>
                  <a:pt x="375" y="55"/>
                  <a:pt x="374" y="55"/>
                  <a:pt x="374" y="54"/>
                </a:cubicBezTo>
                <a:cubicBezTo>
                  <a:pt x="373" y="54"/>
                  <a:pt x="372" y="54"/>
                  <a:pt x="371" y="54"/>
                </a:cubicBezTo>
                <a:cubicBezTo>
                  <a:pt x="370" y="54"/>
                  <a:pt x="369" y="55"/>
                  <a:pt x="367" y="55"/>
                </a:cubicBezTo>
                <a:cubicBezTo>
                  <a:pt x="341" y="60"/>
                  <a:pt x="341" y="60"/>
                  <a:pt x="341" y="60"/>
                </a:cubicBezTo>
                <a:cubicBezTo>
                  <a:pt x="340" y="60"/>
                  <a:pt x="340" y="60"/>
                  <a:pt x="339" y="60"/>
                </a:cubicBezTo>
                <a:cubicBezTo>
                  <a:pt x="306" y="67"/>
                  <a:pt x="306" y="67"/>
                  <a:pt x="306" y="67"/>
                </a:cubicBezTo>
                <a:cubicBezTo>
                  <a:pt x="277" y="73"/>
                  <a:pt x="277" y="73"/>
                  <a:pt x="277" y="73"/>
                </a:cubicBezTo>
                <a:cubicBezTo>
                  <a:pt x="276" y="73"/>
                  <a:pt x="275" y="74"/>
                  <a:pt x="274" y="75"/>
                </a:cubicBezTo>
                <a:cubicBezTo>
                  <a:pt x="271" y="76"/>
                  <a:pt x="270" y="78"/>
                  <a:pt x="269" y="81"/>
                </a:cubicBezTo>
                <a:cubicBezTo>
                  <a:pt x="252" y="166"/>
                  <a:pt x="252" y="166"/>
                  <a:pt x="252" y="166"/>
                </a:cubicBezTo>
                <a:cubicBezTo>
                  <a:pt x="251" y="171"/>
                  <a:pt x="254" y="176"/>
                  <a:pt x="259" y="177"/>
                </a:cubicBezTo>
                <a:cubicBezTo>
                  <a:pt x="275" y="181"/>
                  <a:pt x="275" y="181"/>
                  <a:pt x="275" y="181"/>
                </a:cubicBezTo>
                <a:cubicBezTo>
                  <a:pt x="304" y="187"/>
                  <a:pt x="332" y="168"/>
                  <a:pt x="337" y="139"/>
                </a:cubicBezTo>
                <a:cubicBezTo>
                  <a:pt x="338" y="137"/>
                  <a:pt x="338" y="137"/>
                  <a:pt x="338" y="137"/>
                </a:cubicBezTo>
                <a:cubicBezTo>
                  <a:pt x="375" y="133"/>
                  <a:pt x="375" y="133"/>
                  <a:pt x="375" y="133"/>
                </a:cubicBezTo>
                <a:cubicBezTo>
                  <a:pt x="376" y="135"/>
                  <a:pt x="378" y="137"/>
                  <a:pt x="380" y="139"/>
                </a:cubicBezTo>
                <a:cubicBezTo>
                  <a:pt x="381" y="140"/>
                  <a:pt x="381" y="140"/>
                  <a:pt x="381" y="140"/>
                </a:cubicBezTo>
                <a:cubicBezTo>
                  <a:pt x="383" y="142"/>
                  <a:pt x="385" y="144"/>
                  <a:pt x="386" y="145"/>
                </a:cubicBezTo>
                <a:cubicBezTo>
                  <a:pt x="387" y="146"/>
                  <a:pt x="388" y="146"/>
                  <a:pt x="388" y="147"/>
                </a:cubicBezTo>
                <a:cubicBezTo>
                  <a:pt x="390" y="148"/>
                  <a:pt x="391" y="149"/>
                  <a:pt x="393" y="150"/>
                </a:cubicBezTo>
                <a:cubicBezTo>
                  <a:pt x="394" y="151"/>
                  <a:pt x="395" y="151"/>
                  <a:pt x="395" y="152"/>
                </a:cubicBezTo>
                <a:cubicBezTo>
                  <a:pt x="396" y="152"/>
                  <a:pt x="397" y="153"/>
                  <a:pt x="398" y="154"/>
                </a:cubicBezTo>
                <a:cubicBezTo>
                  <a:pt x="399" y="154"/>
                  <a:pt x="399" y="154"/>
                  <a:pt x="399" y="154"/>
                </a:cubicBezTo>
                <a:cubicBezTo>
                  <a:pt x="400" y="155"/>
                  <a:pt x="402" y="156"/>
                  <a:pt x="402" y="156"/>
                </a:cubicBezTo>
                <a:cubicBezTo>
                  <a:pt x="403" y="156"/>
                  <a:pt x="403" y="157"/>
                  <a:pt x="403" y="157"/>
                </a:cubicBezTo>
                <a:cubicBezTo>
                  <a:pt x="404" y="157"/>
                  <a:pt x="406" y="158"/>
                  <a:pt x="407" y="159"/>
                </a:cubicBezTo>
                <a:cubicBezTo>
                  <a:pt x="407" y="159"/>
                  <a:pt x="407" y="159"/>
                  <a:pt x="407" y="159"/>
                </a:cubicBezTo>
                <a:cubicBezTo>
                  <a:pt x="408" y="159"/>
                  <a:pt x="408" y="159"/>
                  <a:pt x="408" y="159"/>
                </a:cubicBezTo>
                <a:cubicBezTo>
                  <a:pt x="411" y="161"/>
                  <a:pt x="411" y="161"/>
                  <a:pt x="411" y="161"/>
                </a:cubicBezTo>
                <a:cubicBezTo>
                  <a:pt x="411" y="161"/>
                  <a:pt x="412" y="161"/>
                  <a:pt x="412" y="161"/>
                </a:cubicBezTo>
                <a:cubicBezTo>
                  <a:pt x="414" y="162"/>
                  <a:pt x="415" y="162"/>
                  <a:pt x="416" y="163"/>
                </a:cubicBezTo>
                <a:cubicBezTo>
                  <a:pt x="417" y="163"/>
                  <a:pt x="417" y="163"/>
                  <a:pt x="417" y="163"/>
                </a:cubicBezTo>
                <a:cubicBezTo>
                  <a:pt x="417" y="163"/>
                  <a:pt x="418" y="163"/>
                  <a:pt x="418" y="164"/>
                </a:cubicBezTo>
                <a:cubicBezTo>
                  <a:pt x="420" y="164"/>
                  <a:pt x="420" y="164"/>
                  <a:pt x="420" y="164"/>
                </a:cubicBezTo>
                <a:cubicBezTo>
                  <a:pt x="421" y="165"/>
                  <a:pt x="421" y="165"/>
                  <a:pt x="422" y="165"/>
                </a:cubicBezTo>
                <a:cubicBezTo>
                  <a:pt x="422" y="165"/>
                  <a:pt x="422" y="165"/>
                  <a:pt x="422" y="165"/>
                </a:cubicBezTo>
                <a:cubicBezTo>
                  <a:pt x="423" y="166"/>
                  <a:pt x="424" y="166"/>
                  <a:pt x="425" y="166"/>
                </a:cubicBezTo>
                <a:cubicBezTo>
                  <a:pt x="426" y="166"/>
                  <a:pt x="426" y="166"/>
                  <a:pt x="426" y="166"/>
                </a:cubicBezTo>
                <a:cubicBezTo>
                  <a:pt x="426" y="166"/>
                  <a:pt x="426" y="166"/>
                  <a:pt x="427" y="167"/>
                </a:cubicBezTo>
                <a:cubicBezTo>
                  <a:pt x="430" y="168"/>
                  <a:pt x="430" y="168"/>
                  <a:pt x="430" y="168"/>
                </a:cubicBezTo>
                <a:cubicBezTo>
                  <a:pt x="432" y="168"/>
                  <a:pt x="433" y="168"/>
                  <a:pt x="435" y="169"/>
                </a:cubicBezTo>
                <a:cubicBezTo>
                  <a:pt x="435" y="169"/>
                  <a:pt x="435" y="169"/>
                  <a:pt x="435" y="169"/>
                </a:cubicBezTo>
                <a:cubicBezTo>
                  <a:pt x="435" y="169"/>
                  <a:pt x="435" y="169"/>
                  <a:pt x="435" y="169"/>
                </a:cubicBezTo>
                <a:cubicBezTo>
                  <a:pt x="435" y="169"/>
                  <a:pt x="435" y="169"/>
                  <a:pt x="435" y="169"/>
                </a:cubicBezTo>
                <a:cubicBezTo>
                  <a:pt x="437" y="169"/>
                  <a:pt x="439" y="170"/>
                  <a:pt x="440" y="170"/>
                </a:cubicBezTo>
                <a:cubicBezTo>
                  <a:pt x="441" y="170"/>
                  <a:pt x="441" y="170"/>
                  <a:pt x="441" y="170"/>
                </a:cubicBezTo>
                <a:cubicBezTo>
                  <a:pt x="442" y="170"/>
                  <a:pt x="443" y="170"/>
                  <a:pt x="445" y="170"/>
                </a:cubicBezTo>
                <a:cubicBezTo>
                  <a:pt x="445" y="170"/>
                  <a:pt x="445" y="170"/>
                  <a:pt x="445" y="171"/>
                </a:cubicBezTo>
                <a:cubicBezTo>
                  <a:pt x="445" y="171"/>
                  <a:pt x="446" y="171"/>
                  <a:pt x="446" y="171"/>
                </a:cubicBezTo>
                <a:cubicBezTo>
                  <a:pt x="448" y="171"/>
                  <a:pt x="449" y="171"/>
                  <a:pt x="451" y="171"/>
                </a:cubicBezTo>
                <a:cubicBezTo>
                  <a:pt x="451" y="171"/>
                  <a:pt x="451" y="171"/>
                  <a:pt x="451" y="171"/>
                </a:cubicBezTo>
                <a:cubicBezTo>
                  <a:pt x="452" y="171"/>
                  <a:pt x="453" y="171"/>
                  <a:pt x="454" y="171"/>
                </a:cubicBezTo>
                <a:cubicBezTo>
                  <a:pt x="454" y="171"/>
                  <a:pt x="454" y="171"/>
                  <a:pt x="454" y="171"/>
                </a:cubicBezTo>
                <a:cubicBezTo>
                  <a:pt x="528" y="208"/>
                  <a:pt x="528" y="208"/>
                  <a:pt x="528" y="208"/>
                </a:cubicBezTo>
                <a:cubicBezTo>
                  <a:pt x="529" y="209"/>
                  <a:pt x="530" y="209"/>
                  <a:pt x="531" y="210"/>
                </a:cubicBezTo>
                <a:cubicBezTo>
                  <a:pt x="532" y="211"/>
                  <a:pt x="533" y="212"/>
                  <a:pt x="535" y="212"/>
                </a:cubicBezTo>
                <a:cubicBezTo>
                  <a:pt x="536" y="213"/>
                  <a:pt x="538" y="213"/>
                  <a:pt x="539" y="214"/>
                </a:cubicBezTo>
                <a:cubicBezTo>
                  <a:pt x="578" y="233"/>
                  <a:pt x="578" y="233"/>
                  <a:pt x="578" y="233"/>
                </a:cubicBezTo>
                <a:cubicBezTo>
                  <a:pt x="582" y="235"/>
                  <a:pt x="584" y="238"/>
                  <a:pt x="586" y="242"/>
                </a:cubicBezTo>
                <a:cubicBezTo>
                  <a:pt x="587" y="246"/>
                  <a:pt x="587" y="250"/>
                  <a:pt x="585" y="254"/>
                </a:cubicBezTo>
                <a:close/>
                <a:moveTo>
                  <a:pt x="582" y="214"/>
                </a:moveTo>
                <a:cubicBezTo>
                  <a:pt x="547" y="196"/>
                  <a:pt x="547" y="196"/>
                  <a:pt x="547" y="196"/>
                </a:cubicBezTo>
                <a:cubicBezTo>
                  <a:pt x="546" y="195"/>
                  <a:pt x="544" y="195"/>
                  <a:pt x="542" y="194"/>
                </a:cubicBezTo>
                <a:cubicBezTo>
                  <a:pt x="540" y="193"/>
                  <a:pt x="538" y="192"/>
                  <a:pt x="536" y="191"/>
                </a:cubicBezTo>
                <a:cubicBezTo>
                  <a:pt x="461" y="153"/>
                  <a:pt x="461" y="153"/>
                  <a:pt x="461" y="153"/>
                </a:cubicBezTo>
                <a:cubicBezTo>
                  <a:pt x="460" y="153"/>
                  <a:pt x="460" y="153"/>
                  <a:pt x="459" y="152"/>
                </a:cubicBezTo>
                <a:cubicBezTo>
                  <a:pt x="459" y="152"/>
                  <a:pt x="459" y="152"/>
                  <a:pt x="459" y="152"/>
                </a:cubicBezTo>
                <a:cubicBezTo>
                  <a:pt x="459" y="152"/>
                  <a:pt x="458" y="152"/>
                  <a:pt x="457" y="152"/>
                </a:cubicBezTo>
                <a:cubicBezTo>
                  <a:pt x="451" y="152"/>
                  <a:pt x="445" y="151"/>
                  <a:pt x="439" y="150"/>
                </a:cubicBezTo>
                <a:cubicBezTo>
                  <a:pt x="437" y="149"/>
                  <a:pt x="434" y="149"/>
                  <a:pt x="432" y="148"/>
                </a:cubicBezTo>
                <a:cubicBezTo>
                  <a:pt x="431" y="148"/>
                  <a:pt x="431" y="148"/>
                  <a:pt x="431" y="148"/>
                </a:cubicBezTo>
                <a:cubicBezTo>
                  <a:pt x="429" y="147"/>
                  <a:pt x="427" y="146"/>
                  <a:pt x="425" y="145"/>
                </a:cubicBezTo>
                <a:cubicBezTo>
                  <a:pt x="423" y="145"/>
                  <a:pt x="423" y="145"/>
                  <a:pt x="423" y="145"/>
                </a:cubicBezTo>
                <a:cubicBezTo>
                  <a:pt x="421" y="144"/>
                  <a:pt x="418" y="143"/>
                  <a:pt x="416" y="142"/>
                </a:cubicBezTo>
                <a:cubicBezTo>
                  <a:pt x="416" y="142"/>
                  <a:pt x="416" y="142"/>
                  <a:pt x="416" y="142"/>
                </a:cubicBezTo>
                <a:cubicBezTo>
                  <a:pt x="414" y="140"/>
                  <a:pt x="411" y="139"/>
                  <a:pt x="409" y="138"/>
                </a:cubicBezTo>
                <a:cubicBezTo>
                  <a:pt x="409" y="138"/>
                  <a:pt x="409" y="138"/>
                  <a:pt x="409" y="138"/>
                </a:cubicBezTo>
                <a:cubicBezTo>
                  <a:pt x="409" y="137"/>
                  <a:pt x="409" y="137"/>
                  <a:pt x="409" y="137"/>
                </a:cubicBezTo>
                <a:cubicBezTo>
                  <a:pt x="407" y="136"/>
                  <a:pt x="404" y="135"/>
                  <a:pt x="402" y="133"/>
                </a:cubicBezTo>
                <a:cubicBezTo>
                  <a:pt x="402" y="132"/>
                  <a:pt x="401" y="132"/>
                  <a:pt x="400" y="131"/>
                </a:cubicBezTo>
                <a:cubicBezTo>
                  <a:pt x="399" y="130"/>
                  <a:pt x="398" y="129"/>
                  <a:pt x="396" y="128"/>
                </a:cubicBezTo>
                <a:cubicBezTo>
                  <a:pt x="395" y="127"/>
                  <a:pt x="394" y="126"/>
                  <a:pt x="393" y="125"/>
                </a:cubicBezTo>
                <a:cubicBezTo>
                  <a:pt x="393" y="124"/>
                  <a:pt x="392" y="123"/>
                  <a:pt x="391" y="123"/>
                </a:cubicBezTo>
                <a:cubicBezTo>
                  <a:pt x="390" y="121"/>
                  <a:pt x="388" y="119"/>
                  <a:pt x="387" y="118"/>
                </a:cubicBezTo>
                <a:cubicBezTo>
                  <a:pt x="387" y="117"/>
                  <a:pt x="386" y="117"/>
                  <a:pt x="386" y="116"/>
                </a:cubicBezTo>
                <a:cubicBezTo>
                  <a:pt x="384" y="113"/>
                  <a:pt x="379" y="111"/>
                  <a:pt x="375" y="113"/>
                </a:cubicBezTo>
                <a:cubicBezTo>
                  <a:pt x="374" y="113"/>
                  <a:pt x="373" y="114"/>
                  <a:pt x="373" y="114"/>
                </a:cubicBezTo>
                <a:cubicBezTo>
                  <a:pt x="329" y="119"/>
                  <a:pt x="329" y="119"/>
                  <a:pt x="329" y="119"/>
                </a:cubicBezTo>
                <a:cubicBezTo>
                  <a:pt x="324" y="119"/>
                  <a:pt x="321" y="122"/>
                  <a:pt x="320" y="126"/>
                </a:cubicBezTo>
                <a:cubicBezTo>
                  <a:pt x="318" y="136"/>
                  <a:pt x="318" y="136"/>
                  <a:pt x="318" y="136"/>
                </a:cubicBezTo>
                <a:cubicBezTo>
                  <a:pt x="315" y="154"/>
                  <a:pt x="297" y="165"/>
                  <a:pt x="279" y="162"/>
                </a:cubicBezTo>
                <a:cubicBezTo>
                  <a:pt x="273" y="160"/>
                  <a:pt x="273" y="160"/>
                  <a:pt x="273" y="160"/>
                </a:cubicBezTo>
                <a:cubicBezTo>
                  <a:pt x="287" y="91"/>
                  <a:pt x="287" y="91"/>
                  <a:pt x="287" y="91"/>
                </a:cubicBezTo>
                <a:cubicBezTo>
                  <a:pt x="340" y="80"/>
                  <a:pt x="340" y="80"/>
                  <a:pt x="340" y="80"/>
                </a:cubicBezTo>
                <a:cubicBezTo>
                  <a:pt x="341" y="80"/>
                  <a:pt x="342" y="80"/>
                  <a:pt x="342" y="80"/>
                </a:cubicBezTo>
                <a:cubicBezTo>
                  <a:pt x="371" y="74"/>
                  <a:pt x="371" y="74"/>
                  <a:pt x="371" y="74"/>
                </a:cubicBezTo>
                <a:cubicBezTo>
                  <a:pt x="400" y="80"/>
                  <a:pt x="400" y="80"/>
                  <a:pt x="400" y="80"/>
                </a:cubicBezTo>
                <a:cubicBezTo>
                  <a:pt x="400" y="80"/>
                  <a:pt x="400" y="80"/>
                  <a:pt x="400" y="80"/>
                </a:cubicBezTo>
                <a:cubicBezTo>
                  <a:pt x="482" y="99"/>
                  <a:pt x="482" y="99"/>
                  <a:pt x="482" y="99"/>
                </a:cubicBezTo>
                <a:cubicBezTo>
                  <a:pt x="484" y="99"/>
                  <a:pt x="485" y="99"/>
                  <a:pt x="487" y="98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603" y="207"/>
                  <a:pt x="603" y="207"/>
                  <a:pt x="603" y="207"/>
                </a:cubicBezTo>
                <a:lnTo>
                  <a:pt x="582" y="214"/>
                </a:lnTo>
                <a:close/>
                <a:moveTo>
                  <a:pt x="662" y="214"/>
                </a:moveTo>
                <a:cubicBezTo>
                  <a:pt x="673" y="214"/>
                  <a:pt x="683" y="205"/>
                  <a:pt x="683" y="193"/>
                </a:cubicBezTo>
                <a:cubicBezTo>
                  <a:pt x="683" y="181"/>
                  <a:pt x="673" y="171"/>
                  <a:pt x="662" y="171"/>
                </a:cubicBezTo>
                <a:cubicBezTo>
                  <a:pt x="650" y="171"/>
                  <a:pt x="640" y="181"/>
                  <a:pt x="640" y="193"/>
                </a:cubicBezTo>
                <a:cubicBezTo>
                  <a:pt x="640" y="205"/>
                  <a:pt x="650" y="214"/>
                  <a:pt x="662" y="214"/>
                </a:cubicBezTo>
                <a:close/>
                <a:moveTo>
                  <a:pt x="662" y="191"/>
                </a:moveTo>
                <a:cubicBezTo>
                  <a:pt x="663" y="191"/>
                  <a:pt x="664" y="192"/>
                  <a:pt x="664" y="193"/>
                </a:cubicBezTo>
                <a:cubicBezTo>
                  <a:pt x="664" y="194"/>
                  <a:pt x="663" y="195"/>
                  <a:pt x="662" y="195"/>
                </a:cubicBezTo>
                <a:cubicBezTo>
                  <a:pt x="661" y="195"/>
                  <a:pt x="660" y="194"/>
                  <a:pt x="660" y="193"/>
                </a:cubicBezTo>
                <a:cubicBezTo>
                  <a:pt x="660" y="192"/>
                  <a:pt x="661" y="191"/>
                  <a:pt x="662" y="191"/>
                </a:cubicBezTo>
                <a:close/>
                <a:moveTo>
                  <a:pt x="96" y="171"/>
                </a:moveTo>
                <a:cubicBezTo>
                  <a:pt x="85" y="171"/>
                  <a:pt x="75" y="181"/>
                  <a:pt x="75" y="193"/>
                </a:cubicBezTo>
                <a:cubicBezTo>
                  <a:pt x="75" y="205"/>
                  <a:pt x="85" y="214"/>
                  <a:pt x="96" y="214"/>
                </a:cubicBezTo>
                <a:cubicBezTo>
                  <a:pt x="108" y="214"/>
                  <a:pt x="118" y="205"/>
                  <a:pt x="118" y="193"/>
                </a:cubicBezTo>
                <a:cubicBezTo>
                  <a:pt x="118" y="181"/>
                  <a:pt x="108" y="171"/>
                  <a:pt x="96" y="171"/>
                </a:cubicBezTo>
                <a:close/>
                <a:moveTo>
                  <a:pt x="96" y="195"/>
                </a:moveTo>
                <a:cubicBezTo>
                  <a:pt x="95" y="195"/>
                  <a:pt x="94" y="194"/>
                  <a:pt x="94" y="193"/>
                </a:cubicBezTo>
                <a:cubicBezTo>
                  <a:pt x="94" y="192"/>
                  <a:pt x="95" y="191"/>
                  <a:pt x="96" y="191"/>
                </a:cubicBezTo>
                <a:cubicBezTo>
                  <a:pt x="97" y="191"/>
                  <a:pt x="98" y="192"/>
                  <a:pt x="98" y="193"/>
                </a:cubicBezTo>
                <a:cubicBezTo>
                  <a:pt x="98" y="194"/>
                  <a:pt x="97" y="195"/>
                  <a:pt x="96" y="195"/>
                </a:cubicBezTo>
                <a:close/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8" name="Freeform 103"/>
          <p:cNvSpPr>
            <a:spLocks noEditPoints="1"/>
          </p:cNvSpPr>
          <p:nvPr/>
        </p:nvSpPr>
        <p:spPr bwMode="auto">
          <a:xfrm>
            <a:off x="6356647" y="3940135"/>
            <a:ext cx="684172" cy="486208"/>
          </a:xfrm>
          <a:custGeom>
            <a:avLst/>
            <a:gdLst>
              <a:gd name="T0" fmla="*/ 686 w 715"/>
              <a:gd name="T1" fmla="*/ 143 h 508"/>
              <a:gd name="T2" fmla="*/ 686 w 715"/>
              <a:gd name="T3" fmla="*/ 0 h 508"/>
              <a:gd name="T4" fmla="*/ 30 w 715"/>
              <a:gd name="T5" fmla="*/ 81 h 508"/>
              <a:gd name="T6" fmla="*/ 0 w 715"/>
              <a:gd name="T7" fmla="*/ 380 h 508"/>
              <a:gd name="T8" fmla="*/ 30 w 715"/>
              <a:gd name="T9" fmla="*/ 508 h 508"/>
              <a:gd name="T10" fmla="*/ 686 w 715"/>
              <a:gd name="T11" fmla="*/ 222 h 508"/>
              <a:gd name="T12" fmla="*/ 49 w 715"/>
              <a:gd name="T13" fmla="*/ 19 h 508"/>
              <a:gd name="T14" fmla="*/ 667 w 715"/>
              <a:gd name="T15" fmla="*/ 61 h 508"/>
              <a:gd name="T16" fmla="*/ 49 w 715"/>
              <a:gd name="T17" fmla="*/ 19 h 508"/>
              <a:gd name="T18" fmla="*/ 667 w 715"/>
              <a:gd name="T19" fmla="*/ 141 h 508"/>
              <a:gd name="T20" fmla="*/ 631 w 715"/>
              <a:gd name="T21" fmla="*/ 189 h 508"/>
              <a:gd name="T22" fmla="*/ 411 w 715"/>
              <a:gd name="T23" fmla="*/ 276 h 508"/>
              <a:gd name="T24" fmla="*/ 242 w 715"/>
              <a:gd name="T25" fmla="*/ 235 h 508"/>
              <a:gd name="T26" fmla="*/ 201 w 715"/>
              <a:gd name="T27" fmla="*/ 186 h 508"/>
              <a:gd name="T28" fmla="*/ 164 w 715"/>
              <a:gd name="T29" fmla="*/ 249 h 508"/>
              <a:gd name="T30" fmla="*/ 49 w 715"/>
              <a:gd name="T31" fmla="*/ 339 h 508"/>
              <a:gd name="T32" fmla="*/ 667 w 715"/>
              <a:gd name="T33" fmla="*/ 81 h 508"/>
              <a:gd name="T34" fmla="*/ 201 w 715"/>
              <a:gd name="T35" fmla="*/ 205 h 508"/>
              <a:gd name="T36" fmla="*/ 201 w 715"/>
              <a:gd name="T37" fmla="*/ 251 h 508"/>
              <a:gd name="T38" fmla="*/ 207 w 715"/>
              <a:gd name="T39" fmla="*/ 269 h 508"/>
              <a:gd name="T40" fmla="*/ 369 w 715"/>
              <a:gd name="T41" fmla="*/ 311 h 508"/>
              <a:gd name="T42" fmla="*/ 398 w 715"/>
              <a:gd name="T43" fmla="*/ 359 h 508"/>
              <a:gd name="T44" fmla="*/ 207 w 715"/>
              <a:gd name="T45" fmla="*/ 488 h 508"/>
              <a:gd name="T46" fmla="*/ 411 w 715"/>
              <a:gd name="T47" fmla="*/ 341 h 508"/>
              <a:gd name="T48" fmla="*/ 411 w 715"/>
              <a:gd name="T49" fmla="*/ 296 h 508"/>
              <a:gd name="T50" fmla="*/ 411 w 715"/>
              <a:gd name="T51" fmla="*/ 341 h 508"/>
              <a:gd name="T52" fmla="*/ 42 w 715"/>
              <a:gd name="T53" fmla="*/ 357 h 508"/>
              <a:gd name="T54" fmla="*/ 42 w 715"/>
              <a:gd name="T55" fmla="*/ 403 h 508"/>
              <a:gd name="T56" fmla="*/ 49 w 715"/>
              <a:gd name="T57" fmla="*/ 421 h 508"/>
              <a:gd name="T58" fmla="*/ 78 w 715"/>
              <a:gd name="T59" fmla="*/ 358 h 508"/>
              <a:gd name="T60" fmla="*/ 188 w 715"/>
              <a:gd name="T61" fmla="*/ 268 h 508"/>
              <a:gd name="T62" fmla="*/ 49 w 715"/>
              <a:gd name="T63" fmla="*/ 488 h 508"/>
              <a:gd name="T64" fmla="*/ 417 w 715"/>
              <a:gd name="T65" fmla="*/ 488 h 508"/>
              <a:gd name="T66" fmla="*/ 453 w 715"/>
              <a:gd name="T67" fmla="*/ 319 h 508"/>
              <a:gd name="T68" fmla="*/ 639 w 715"/>
              <a:gd name="T69" fmla="*/ 207 h 508"/>
              <a:gd name="T70" fmla="*/ 667 w 715"/>
              <a:gd name="T71" fmla="*/ 488 h 508"/>
              <a:gd name="T72" fmla="*/ 673 w 715"/>
              <a:gd name="T73" fmla="*/ 205 h 508"/>
              <a:gd name="T74" fmla="*/ 673 w 715"/>
              <a:gd name="T75" fmla="*/ 160 h 508"/>
              <a:gd name="T76" fmla="*/ 673 w 715"/>
              <a:gd name="T77" fmla="*/ 205 h 508"/>
              <a:gd name="T78" fmla="*/ 82 w 715"/>
              <a:gd name="T79" fmla="*/ 50 h 508"/>
              <a:gd name="T80" fmla="*/ 62 w 715"/>
              <a:gd name="T81" fmla="*/ 30 h 508"/>
              <a:gd name="T82" fmla="*/ 97 w 715"/>
              <a:gd name="T83" fmla="*/ 50 h 508"/>
              <a:gd name="T84" fmla="*/ 117 w 715"/>
              <a:gd name="T85" fmla="*/ 30 h 508"/>
              <a:gd name="T86" fmla="*/ 97 w 715"/>
              <a:gd name="T87" fmla="*/ 50 h 508"/>
              <a:gd name="T88" fmla="*/ 151 w 715"/>
              <a:gd name="T89" fmla="*/ 50 h 508"/>
              <a:gd name="T90" fmla="*/ 131 w 715"/>
              <a:gd name="T91" fmla="*/ 30 h 508"/>
              <a:gd name="T92" fmla="*/ 210 w 715"/>
              <a:gd name="T93" fmla="*/ 121 h 508"/>
              <a:gd name="T94" fmla="*/ 81 w 715"/>
              <a:gd name="T95" fmla="*/ 141 h 508"/>
              <a:gd name="T96" fmla="*/ 210 w 715"/>
              <a:gd name="T97" fmla="*/ 121 h 508"/>
              <a:gd name="T98" fmla="*/ 136 w 715"/>
              <a:gd name="T99" fmla="*/ 163 h 508"/>
              <a:gd name="T100" fmla="*/ 81 w 715"/>
              <a:gd name="T101" fmla="*/ 183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15" h="508">
                <a:moveTo>
                  <a:pt x="715" y="183"/>
                </a:moveTo>
                <a:cubicBezTo>
                  <a:pt x="715" y="164"/>
                  <a:pt x="703" y="148"/>
                  <a:pt x="686" y="143"/>
                </a:cubicBezTo>
                <a:cubicBezTo>
                  <a:pt x="686" y="81"/>
                  <a:pt x="686" y="81"/>
                  <a:pt x="686" y="81"/>
                </a:cubicBezTo>
                <a:cubicBezTo>
                  <a:pt x="686" y="0"/>
                  <a:pt x="686" y="0"/>
                  <a:pt x="686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81"/>
                  <a:pt x="30" y="81"/>
                  <a:pt x="30" y="81"/>
                </a:cubicBezTo>
                <a:cubicBezTo>
                  <a:pt x="30" y="340"/>
                  <a:pt x="30" y="340"/>
                  <a:pt x="30" y="340"/>
                </a:cubicBezTo>
                <a:cubicBezTo>
                  <a:pt x="12" y="345"/>
                  <a:pt x="0" y="361"/>
                  <a:pt x="0" y="380"/>
                </a:cubicBezTo>
                <a:cubicBezTo>
                  <a:pt x="0" y="399"/>
                  <a:pt x="12" y="415"/>
                  <a:pt x="30" y="420"/>
                </a:cubicBezTo>
                <a:cubicBezTo>
                  <a:pt x="30" y="508"/>
                  <a:pt x="30" y="508"/>
                  <a:pt x="30" y="508"/>
                </a:cubicBezTo>
                <a:cubicBezTo>
                  <a:pt x="686" y="508"/>
                  <a:pt x="686" y="508"/>
                  <a:pt x="686" y="508"/>
                </a:cubicBezTo>
                <a:cubicBezTo>
                  <a:pt x="686" y="222"/>
                  <a:pt x="686" y="222"/>
                  <a:pt x="686" y="222"/>
                </a:cubicBezTo>
                <a:cubicBezTo>
                  <a:pt x="703" y="217"/>
                  <a:pt x="715" y="201"/>
                  <a:pt x="715" y="183"/>
                </a:cubicBezTo>
                <a:close/>
                <a:moveTo>
                  <a:pt x="49" y="19"/>
                </a:moveTo>
                <a:cubicBezTo>
                  <a:pt x="667" y="19"/>
                  <a:pt x="667" y="19"/>
                  <a:pt x="667" y="19"/>
                </a:cubicBezTo>
                <a:cubicBezTo>
                  <a:pt x="667" y="61"/>
                  <a:pt x="667" y="61"/>
                  <a:pt x="667" y="61"/>
                </a:cubicBezTo>
                <a:cubicBezTo>
                  <a:pt x="49" y="61"/>
                  <a:pt x="49" y="61"/>
                  <a:pt x="49" y="61"/>
                </a:cubicBezTo>
                <a:lnTo>
                  <a:pt x="49" y="19"/>
                </a:lnTo>
                <a:close/>
                <a:moveTo>
                  <a:pt x="667" y="81"/>
                </a:moveTo>
                <a:cubicBezTo>
                  <a:pt x="667" y="141"/>
                  <a:pt x="667" y="141"/>
                  <a:pt x="667" y="141"/>
                </a:cubicBezTo>
                <a:cubicBezTo>
                  <a:pt x="647" y="144"/>
                  <a:pt x="631" y="161"/>
                  <a:pt x="631" y="183"/>
                </a:cubicBezTo>
                <a:cubicBezTo>
                  <a:pt x="631" y="185"/>
                  <a:pt x="631" y="187"/>
                  <a:pt x="631" y="189"/>
                </a:cubicBezTo>
                <a:cubicBezTo>
                  <a:pt x="442" y="291"/>
                  <a:pt x="442" y="291"/>
                  <a:pt x="442" y="291"/>
                </a:cubicBezTo>
                <a:cubicBezTo>
                  <a:pt x="435" y="282"/>
                  <a:pt x="423" y="276"/>
                  <a:pt x="411" y="276"/>
                </a:cubicBezTo>
                <a:cubicBezTo>
                  <a:pt x="397" y="276"/>
                  <a:pt x="385" y="283"/>
                  <a:pt x="377" y="293"/>
                </a:cubicBezTo>
                <a:cubicBezTo>
                  <a:pt x="242" y="235"/>
                  <a:pt x="242" y="235"/>
                  <a:pt x="242" y="235"/>
                </a:cubicBezTo>
                <a:cubicBezTo>
                  <a:pt x="242" y="233"/>
                  <a:pt x="243" y="230"/>
                  <a:pt x="243" y="228"/>
                </a:cubicBezTo>
                <a:cubicBezTo>
                  <a:pt x="243" y="205"/>
                  <a:pt x="224" y="186"/>
                  <a:pt x="201" y="186"/>
                </a:cubicBezTo>
                <a:cubicBezTo>
                  <a:pt x="177" y="186"/>
                  <a:pt x="158" y="205"/>
                  <a:pt x="158" y="228"/>
                </a:cubicBezTo>
                <a:cubicBezTo>
                  <a:pt x="158" y="236"/>
                  <a:pt x="161" y="243"/>
                  <a:pt x="164" y="249"/>
                </a:cubicBezTo>
                <a:cubicBezTo>
                  <a:pt x="64" y="344"/>
                  <a:pt x="64" y="344"/>
                  <a:pt x="64" y="344"/>
                </a:cubicBezTo>
                <a:cubicBezTo>
                  <a:pt x="60" y="341"/>
                  <a:pt x="55" y="339"/>
                  <a:pt x="49" y="339"/>
                </a:cubicBezTo>
                <a:cubicBezTo>
                  <a:pt x="49" y="81"/>
                  <a:pt x="49" y="81"/>
                  <a:pt x="49" y="81"/>
                </a:cubicBezTo>
                <a:lnTo>
                  <a:pt x="667" y="81"/>
                </a:lnTo>
                <a:close/>
                <a:moveTo>
                  <a:pt x="178" y="228"/>
                </a:moveTo>
                <a:cubicBezTo>
                  <a:pt x="178" y="215"/>
                  <a:pt x="188" y="205"/>
                  <a:pt x="201" y="205"/>
                </a:cubicBezTo>
                <a:cubicBezTo>
                  <a:pt x="213" y="205"/>
                  <a:pt x="223" y="215"/>
                  <a:pt x="223" y="228"/>
                </a:cubicBezTo>
                <a:cubicBezTo>
                  <a:pt x="223" y="240"/>
                  <a:pt x="213" y="251"/>
                  <a:pt x="201" y="251"/>
                </a:cubicBezTo>
                <a:cubicBezTo>
                  <a:pt x="188" y="251"/>
                  <a:pt x="178" y="240"/>
                  <a:pt x="178" y="228"/>
                </a:cubicBezTo>
                <a:close/>
                <a:moveTo>
                  <a:pt x="207" y="269"/>
                </a:moveTo>
                <a:cubicBezTo>
                  <a:pt x="218" y="268"/>
                  <a:pt x="228" y="262"/>
                  <a:pt x="234" y="253"/>
                </a:cubicBezTo>
                <a:cubicBezTo>
                  <a:pt x="369" y="311"/>
                  <a:pt x="369" y="311"/>
                  <a:pt x="369" y="311"/>
                </a:cubicBezTo>
                <a:cubicBezTo>
                  <a:pt x="369" y="314"/>
                  <a:pt x="369" y="316"/>
                  <a:pt x="369" y="319"/>
                </a:cubicBezTo>
                <a:cubicBezTo>
                  <a:pt x="369" y="337"/>
                  <a:pt x="381" y="353"/>
                  <a:pt x="398" y="359"/>
                </a:cubicBezTo>
                <a:cubicBezTo>
                  <a:pt x="398" y="488"/>
                  <a:pt x="398" y="488"/>
                  <a:pt x="398" y="488"/>
                </a:cubicBezTo>
                <a:cubicBezTo>
                  <a:pt x="207" y="488"/>
                  <a:pt x="207" y="488"/>
                  <a:pt x="207" y="488"/>
                </a:cubicBezTo>
                <a:lnTo>
                  <a:pt x="207" y="269"/>
                </a:lnTo>
                <a:close/>
                <a:moveTo>
                  <a:pt x="411" y="341"/>
                </a:moveTo>
                <a:cubicBezTo>
                  <a:pt x="398" y="341"/>
                  <a:pt x="388" y="331"/>
                  <a:pt x="388" y="319"/>
                </a:cubicBezTo>
                <a:cubicBezTo>
                  <a:pt x="388" y="306"/>
                  <a:pt x="398" y="296"/>
                  <a:pt x="411" y="296"/>
                </a:cubicBezTo>
                <a:cubicBezTo>
                  <a:pt x="423" y="296"/>
                  <a:pt x="434" y="306"/>
                  <a:pt x="434" y="319"/>
                </a:cubicBezTo>
                <a:cubicBezTo>
                  <a:pt x="434" y="331"/>
                  <a:pt x="423" y="341"/>
                  <a:pt x="411" y="341"/>
                </a:cubicBezTo>
                <a:close/>
                <a:moveTo>
                  <a:pt x="19" y="380"/>
                </a:moveTo>
                <a:cubicBezTo>
                  <a:pt x="19" y="367"/>
                  <a:pt x="30" y="357"/>
                  <a:pt x="42" y="357"/>
                </a:cubicBezTo>
                <a:cubicBezTo>
                  <a:pt x="55" y="357"/>
                  <a:pt x="65" y="367"/>
                  <a:pt x="65" y="380"/>
                </a:cubicBezTo>
                <a:cubicBezTo>
                  <a:pt x="65" y="392"/>
                  <a:pt x="55" y="403"/>
                  <a:pt x="42" y="403"/>
                </a:cubicBezTo>
                <a:cubicBezTo>
                  <a:pt x="30" y="403"/>
                  <a:pt x="19" y="392"/>
                  <a:pt x="19" y="380"/>
                </a:cubicBezTo>
                <a:close/>
                <a:moveTo>
                  <a:pt x="49" y="421"/>
                </a:moveTo>
                <a:cubicBezTo>
                  <a:pt x="69" y="418"/>
                  <a:pt x="84" y="401"/>
                  <a:pt x="84" y="380"/>
                </a:cubicBezTo>
                <a:cubicBezTo>
                  <a:pt x="84" y="372"/>
                  <a:pt x="82" y="364"/>
                  <a:pt x="78" y="358"/>
                </a:cubicBezTo>
                <a:cubicBezTo>
                  <a:pt x="178" y="263"/>
                  <a:pt x="178" y="263"/>
                  <a:pt x="178" y="263"/>
                </a:cubicBezTo>
                <a:cubicBezTo>
                  <a:pt x="181" y="265"/>
                  <a:pt x="184" y="267"/>
                  <a:pt x="188" y="268"/>
                </a:cubicBezTo>
                <a:cubicBezTo>
                  <a:pt x="188" y="488"/>
                  <a:pt x="188" y="488"/>
                  <a:pt x="188" y="488"/>
                </a:cubicBezTo>
                <a:cubicBezTo>
                  <a:pt x="49" y="488"/>
                  <a:pt x="49" y="488"/>
                  <a:pt x="49" y="488"/>
                </a:cubicBezTo>
                <a:lnTo>
                  <a:pt x="49" y="421"/>
                </a:lnTo>
                <a:close/>
                <a:moveTo>
                  <a:pt x="417" y="488"/>
                </a:moveTo>
                <a:cubicBezTo>
                  <a:pt x="417" y="360"/>
                  <a:pt x="417" y="360"/>
                  <a:pt x="417" y="360"/>
                </a:cubicBezTo>
                <a:cubicBezTo>
                  <a:pt x="437" y="357"/>
                  <a:pt x="453" y="339"/>
                  <a:pt x="453" y="319"/>
                </a:cubicBezTo>
                <a:cubicBezTo>
                  <a:pt x="453" y="315"/>
                  <a:pt x="452" y="311"/>
                  <a:pt x="451" y="308"/>
                </a:cubicBezTo>
                <a:cubicBezTo>
                  <a:pt x="639" y="207"/>
                  <a:pt x="639" y="207"/>
                  <a:pt x="639" y="207"/>
                </a:cubicBezTo>
                <a:cubicBezTo>
                  <a:pt x="645" y="216"/>
                  <a:pt x="655" y="223"/>
                  <a:pt x="667" y="224"/>
                </a:cubicBezTo>
                <a:cubicBezTo>
                  <a:pt x="667" y="488"/>
                  <a:pt x="667" y="488"/>
                  <a:pt x="667" y="488"/>
                </a:cubicBezTo>
                <a:lnTo>
                  <a:pt x="417" y="488"/>
                </a:lnTo>
                <a:close/>
                <a:moveTo>
                  <a:pt x="673" y="205"/>
                </a:moveTo>
                <a:cubicBezTo>
                  <a:pt x="660" y="205"/>
                  <a:pt x="650" y="195"/>
                  <a:pt x="650" y="183"/>
                </a:cubicBezTo>
                <a:cubicBezTo>
                  <a:pt x="650" y="170"/>
                  <a:pt x="660" y="160"/>
                  <a:pt x="673" y="160"/>
                </a:cubicBezTo>
                <a:cubicBezTo>
                  <a:pt x="685" y="160"/>
                  <a:pt x="696" y="170"/>
                  <a:pt x="696" y="183"/>
                </a:cubicBezTo>
                <a:cubicBezTo>
                  <a:pt x="696" y="195"/>
                  <a:pt x="685" y="205"/>
                  <a:pt x="673" y="205"/>
                </a:cubicBezTo>
                <a:close/>
                <a:moveTo>
                  <a:pt x="62" y="50"/>
                </a:moveTo>
                <a:cubicBezTo>
                  <a:pt x="82" y="50"/>
                  <a:pt x="82" y="50"/>
                  <a:pt x="82" y="50"/>
                </a:cubicBezTo>
                <a:cubicBezTo>
                  <a:pt x="82" y="30"/>
                  <a:pt x="82" y="30"/>
                  <a:pt x="82" y="30"/>
                </a:cubicBezTo>
                <a:cubicBezTo>
                  <a:pt x="62" y="30"/>
                  <a:pt x="62" y="30"/>
                  <a:pt x="62" y="30"/>
                </a:cubicBezTo>
                <a:lnTo>
                  <a:pt x="62" y="50"/>
                </a:lnTo>
                <a:close/>
                <a:moveTo>
                  <a:pt x="97" y="50"/>
                </a:moveTo>
                <a:cubicBezTo>
                  <a:pt x="117" y="50"/>
                  <a:pt x="117" y="50"/>
                  <a:pt x="117" y="50"/>
                </a:cubicBezTo>
                <a:cubicBezTo>
                  <a:pt x="117" y="30"/>
                  <a:pt x="117" y="30"/>
                  <a:pt x="117" y="30"/>
                </a:cubicBezTo>
                <a:cubicBezTo>
                  <a:pt x="97" y="30"/>
                  <a:pt x="97" y="30"/>
                  <a:pt x="97" y="30"/>
                </a:cubicBezTo>
                <a:lnTo>
                  <a:pt x="97" y="50"/>
                </a:lnTo>
                <a:close/>
                <a:moveTo>
                  <a:pt x="131" y="50"/>
                </a:moveTo>
                <a:cubicBezTo>
                  <a:pt x="151" y="50"/>
                  <a:pt x="151" y="50"/>
                  <a:pt x="151" y="50"/>
                </a:cubicBezTo>
                <a:cubicBezTo>
                  <a:pt x="151" y="30"/>
                  <a:pt x="151" y="30"/>
                  <a:pt x="151" y="30"/>
                </a:cubicBezTo>
                <a:cubicBezTo>
                  <a:pt x="131" y="30"/>
                  <a:pt x="131" y="30"/>
                  <a:pt x="131" y="30"/>
                </a:cubicBezTo>
                <a:lnTo>
                  <a:pt x="131" y="50"/>
                </a:lnTo>
                <a:close/>
                <a:moveTo>
                  <a:pt x="210" y="121"/>
                </a:moveTo>
                <a:cubicBezTo>
                  <a:pt x="81" y="121"/>
                  <a:pt x="81" y="121"/>
                  <a:pt x="81" y="121"/>
                </a:cubicBezTo>
                <a:cubicBezTo>
                  <a:pt x="81" y="141"/>
                  <a:pt x="81" y="141"/>
                  <a:pt x="81" y="141"/>
                </a:cubicBezTo>
                <a:cubicBezTo>
                  <a:pt x="210" y="141"/>
                  <a:pt x="210" y="141"/>
                  <a:pt x="210" y="141"/>
                </a:cubicBezTo>
                <a:lnTo>
                  <a:pt x="210" y="121"/>
                </a:lnTo>
                <a:close/>
                <a:moveTo>
                  <a:pt x="136" y="183"/>
                </a:moveTo>
                <a:cubicBezTo>
                  <a:pt x="136" y="163"/>
                  <a:pt x="136" y="163"/>
                  <a:pt x="136" y="163"/>
                </a:cubicBezTo>
                <a:cubicBezTo>
                  <a:pt x="81" y="163"/>
                  <a:pt x="81" y="163"/>
                  <a:pt x="81" y="163"/>
                </a:cubicBezTo>
                <a:cubicBezTo>
                  <a:pt x="81" y="183"/>
                  <a:pt x="81" y="183"/>
                  <a:pt x="81" y="183"/>
                </a:cubicBezTo>
                <a:lnTo>
                  <a:pt x="136" y="183"/>
                </a:lnTo>
                <a:close/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19" name="Group 65"/>
          <p:cNvGrpSpPr/>
          <p:nvPr/>
        </p:nvGrpSpPr>
        <p:grpSpPr>
          <a:xfrm>
            <a:off x="7331626" y="1403359"/>
            <a:ext cx="3180666" cy="673903"/>
            <a:chOff x="8797071" y="2517475"/>
            <a:chExt cx="3382130" cy="639039"/>
          </a:xfrm>
        </p:grpSpPr>
        <p:sp>
          <p:nvSpPr>
            <p:cNvPr id="20" name="TextBox 66"/>
            <p:cNvSpPr txBox="1"/>
            <p:nvPr/>
          </p:nvSpPr>
          <p:spPr>
            <a:xfrm>
              <a:off x="8802185" y="2517475"/>
              <a:ext cx="1178177" cy="39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rgbClr val="B3342E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项目启动</a:t>
              </a:r>
            </a:p>
          </p:txBody>
        </p:sp>
        <p:sp>
          <p:nvSpPr>
            <p:cNvPr id="21" name="Rectangle 67"/>
            <p:cNvSpPr/>
            <p:nvPr/>
          </p:nvSpPr>
          <p:spPr>
            <a:xfrm>
              <a:off x="8797071" y="2893845"/>
              <a:ext cx="3382130" cy="2626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2026.3.6</a:t>
              </a:r>
              <a:endParaRPr lang="zh-CN" altLang="en-US" sz="1200" dirty="0"/>
            </a:p>
          </p:txBody>
        </p:sp>
      </p:grpSp>
      <p:grpSp>
        <p:nvGrpSpPr>
          <p:cNvPr id="22" name="Group 65"/>
          <p:cNvGrpSpPr/>
          <p:nvPr/>
        </p:nvGrpSpPr>
        <p:grpSpPr>
          <a:xfrm>
            <a:off x="2859832" y="2495631"/>
            <a:ext cx="4594195" cy="700122"/>
            <a:chOff x="9977552" y="2517475"/>
            <a:chExt cx="4885193" cy="663902"/>
          </a:xfrm>
        </p:grpSpPr>
        <p:sp>
          <p:nvSpPr>
            <p:cNvPr id="23" name="TextBox 66"/>
            <p:cNvSpPr txBox="1"/>
            <p:nvPr/>
          </p:nvSpPr>
          <p:spPr>
            <a:xfrm>
              <a:off x="9977552" y="2517475"/>
              <a:ext cx="2405445" cy="39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dirty="0">
                  <a:solidFill>
                    <a:srgbClr val="B3342E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需求分析与软件设计</a:t>
              </a:r>
            </a:p>
          </p:txBody>
        </p:sp>
        <p:sp>
          <p:nvSpPr>
            <p:cNvPr id="24" name="Rectangle 67"/>
            <p:cNvSpPr/>
            <p:nvPr/>
          </p:nvSpPr>
          <p:spPr>
            <a:xfrm>
              <a:off x="11447033" y="2918708"/>
              <a:ext cx="3415712" cy="2626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2026.4.16</a:t>
              </a:r>
              <a:endParaRPr lang="zh-CN" altLang="en-US" sz="1200" dirty="0"/>
            </a:p>
          </p:txBody>
        </p:sp>
      </p:grpSp>
      <p:grpSp>
        <p:nvGrpSpPr>
          <p:cNvPr id="25" name="Group 65"/>
          <p:cNvGrpSpPr/>
          <p:nvPr/>
        </p:nvGrpSpPr>
        <p:grpSpPr>
          <a:xfrm>
            <a:off x="7331626" y="3821627"/>
            <a:ext cx="3180666" cy="673903"/>
            <a:chOff x="8797071" y="2517475"/>
            <a:chExt cx="3382130" cy="639039"/>
          </a:xfrm>
        </p:grpSpPr>
        <p:sp>
          <p:nvSpPr>
            <p:cNvPr id="26" name="TextBox 66"/>
            <p:cNvSpPr txBox="1"/>
            <p:nvPr/>
          </p:nvSpPr>
          <p:spPr>
            <a:xfrm>
              <a:off x="8797071" y="2517475"/>
              <a:ext cx="1914537" cy="39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rgbClr val="B3342E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代码实现与测试</a:t>
              </a:r>
            </a:p>
          </p:txBody>
        </p:sp>
        <p:sp>
          <p:nvSpPr>
            <p:cNvPr id="27" name="Rectangle 67"/>
            <p:cNvSpPr/>
            <p:nvPr/>
          </p:nvSpPr>
          <p:spPr>
            <a:xfrm>
              <a:off x="8797071" y="2893845"/>
              <a:ext cx="3382130" cy="2626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2026.6.14</a:t>
              </a:r>
              <a:endParaRPr lang="zh-CN" altLang="en-US" sz="1200" dirty="0"/>
            </a:p>
          </p:txBody>
        </p:sp>
      </p:grpSp>
      <p:grpSp>
        <p:nvGrpSpPr>
          <p:cNvPr id="28" name="Group 65"/>
          <p:cNvGrpSpPr/>
          <p:nvPr/>
        </p:nvGrpSpPr>
        <p:grpSpPr>
          <a:xfrm>
            <a:off x="3792781" y="5149025"/>
            <a:ext cx="3777087" cy="665546"/>
            <a:chOff x="10969594" y="2517475"/>
            <a:chExt cx="4016329" cy="631114"/>
          </a:xfrm>
        </p:grpSpPr>
        <p:sp>
          <p:nvSpPr>
            <p:cNvPr id="29" name="TextBox 66"/>
            <p:cNvSpPr txBox="1"/>
            <p:nvPr/>
          </p:nvSpPr>
          <p:spPr>
            <a:xfrm>
              <a:off x="10969594" y="2517475"/>
              <a:ext cx="1423630" cy="39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dirty="0">
                  <a:solidFill>
                    <a:srgbClr val="B3342E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整合与交付</a:t>
              </a:r>
            </a:p>
          </p:txBody>
        </p:sp>
        <p:sp>
          <p:nvSpPr>
            <p:cNvPr id="30" name="Rectangle 67"/>
            <p:cNvSpPr/>
            <p:nvPr/>
          </p:nvSpPr>
          <p:spPr>
            <a:xfrm>
              <a:off x="11570211" y="2885920"/>
              <a:ext cx="3415712" cy="2626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2026.6.29</a:t>
              </a:r>
              <a:endParaRPr lang="zh-CN" altLang="en-US" sz="1200" dirty="0"/>
            </a:p>
          </p:txBody>
        </p:sp>
      </p:grpSp>
      <p:sp>
        <p:nvSpPr>
          <p:cNvPr id="36" name="TextBox 40_1"/>
          <p:cNvSpPr txBox="1"/>
          <p:nvPr/>
        </p:nvSpPr>
        <p:spPr>
          <a:xfrm>
            <a:off x="366578" y="203086"/>
            <a:ext cx="3667833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cs typeface="Andalus" pitchFamily="18" charset="-78"/>
                <a:sym typeface="思源黑体 CN Normal" panose="020B0400000000000000" pitchFamily="34" charset="-122"/>
              </a:rPr>
              <a:t>阶段安排与计划落实</a:t>
            </a:r>
          </a:p>
          <a:p>
            <a:pPr algn="dist"/>
            <a:endParaRPr lang="zh-CN" altLang="en-US" sz="2800" dirty="0">
              <a:solidFill>
                <a:srgbClr val="B334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  <a:cs typeface="Andalus" pitchFamily="18" charset="-78"/>
              <a:sym typeface="思源黑体 CN Normal" panose="020B0400000000000000" pitchFamily="34" charset="-122"/>
            </a:endParaRPr>
          </a:p>
        </p:txBody>
      </p:sp>
      <p:sp>
        <p:nvSpPr>
          <p:cNvPr id="37" name="Freeform 14_1"/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366579" y="203086"/>
            <a:ext cx="331508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需求分析</a:t>
            </a:r>
          </a:p>
        </p:txBody>
      </p:sp>
      <p:sp>
        <p:nvSpPr>
          <p:cNvPr id="43" name="Freeform 14"/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72BC40-A548-4904-E3F3-E470FDE036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89" y="1265786"/>
            <a:ext cx="4826000" cy="316058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DADC0F9-BD7D-0E6A-3EE9-DBB48825D8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5" y="1906598"/>
            <a:ext cx="6962775" cy="48291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52691A9-1C88-26BB-4282-E302955A33BB}"/>
              </a:ext>
            </a:extLst>
          </p:cNvPr>
          <p:cNvSpPr txBox="1"/>
          <p:nvPr/>
        </p:nvSpPr>
        <p:spPr>
          <a:xfrm>
            <a:off x="951865" y="4846962"/>
            <a:ext cx="4277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软件需求规格说明书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0CB8F86-0136-4FB0-BB74-C2213AACE572}"/>
              </a:ext>
            </a:extLst>
          </p:cNvPr>
          <p:cNvSpPr txBox="1"/>
          <p:nvPr/>
        </p:nvSpPr>
        <p:spPr>
          <a:xfrm>
            <a:off x="7264400" y="1265786"/>
            <a:ext cx="4277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针对用户对象的分析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B78AD-6389-0D61-8F7F-C30526B35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>
            <a:extLst>
              <a:ext uri="{FF2B5EF4-FFF2-40B4-BE49-F238E27FC236}">
                <a16:creationId xmlns:a16="http://schemas.microsoft.com/office/drawing/2014/main" id="{34BF49BC-2294-E19A-3539-1C32182B6D27}"/>
              </a:ext>
            </a:extLst>
          </p:cNvPr>
          <p:cNvSpPr txBox="1"/>
          <p:nvPr/>
        </p:nvSpPr>
        <p:spPr>
          <a:xfrm>
            <a:off x="366579" y="203086"/>
            <a:ext cx="331508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b="1" dirty="0">
                <a:sym typeface="思源黑体 CN Normal" panose="020B0400000000000000" pitchFamily="34" charset="-122"/>
              </a:rPr>
              <a:t>需求分析</a:t>
            </a:r>
          </a:p>
        </p:txBody>
      </p:sp>
      <p:sp>
        <p:nvSpPr>
          <p:cNvPr id="43" name="Freeform 14">
            <a:extLst>
              <a:ext uri="{FF2B5EF4-FFF2-40B4-BE49-F238E27FC236}">
                <a16:creationId xmlns:a16="http://schemas.microsoft.com/office/drawing/2014/main" id="{69546F3A-702E-BD8E-E89C-2B3FDE74672D}"/>
              </a:ext>
            </a:extLst>
          </p:cNvPr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A391A6-344A-BE52-2CAD-6E047DAC971D}"/>
              </a:ext>
            </a:extLst>
          </p:cNvPr>
          <p:cNvSpPr/>
          <p:nvPr/>
        </p:nvSpPr>
        <p:spPr>
          <a:xfrm>
            <a:off x="568960" y="1391920"/>
            <a:ext cx="3616960" cy="526299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D5227F-F4F5-B30C-C1BE-EB752DAAA44E}"/>
              </a:ext>
            </a:extLst>
          </p:cNvPr>
          <p:cNvSpPr txBox="1"/>
          <p:nvPr/>
        </p:nvSpPr>
        <p:spPr>
          <a:xfrm>
            <a:off x="568960" y="778952"/>
            <a:ext cx="36169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功能清单</a:t>
            </a:r>
            <a:r>
              <a:rPr lang="zh-CN" altLang="en-US" sz="2800" dirty="0"/>
              <a:t>（部分）</a:t>
            </a:r>
            <a:endParaRPr lang="zh-CN" altLang="zh-CN" sz="2800" dirty="0"/>
          </a:p>
          <a:p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08C261-7F25-0925-1449-72ADA9A87E73}"/>
              </a:ext>
            </a:extLst>
          </p:cNvPr>
          <p:cNvSpPr txBox="1"/>
          <p:nvPr/>
        </p:nvSpPr>
        <p:spPr>
          <a:xfrm>
            <a:off x="655320" y="1391920"/>
            <a:ext cx="34442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bg1"/>
                </a:solidFill>
              </a:rPr>
              <a:t>①智能问答与政策知识库模块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b="1" dirty="0">
                <a:solidFill>
                  <a:schemeClr val="bg1"/>
                </a:solidFill>
              </a:rPr>
              <a:t>F-01 </a:t>
            </a:r>
            <a:r>
              <a:rPr lang="zh-CN" altLang="en-US" b="1" dirty="0">
                <a:solidFill>
                  <a:schemeClr val="bg1"/>
                </a:solidFill>
              </a:rPr>
              <a:t>智能政策问答</a:t>
            </a:r>
            <a:r>
              <a:rPr lang="en-US" altLang="zh-CN" b="1" dirty="0">
                <a:solidFill>
                  <a:schemeClr val="bg1"/>
                </a:solidFill>
              </a:rPr>
              <a:t>【</a:t>
            </a:r>
            <a:r>
              <a:rPr lang="zh-CN" altLang="en-US" b="1" dirty="0">
                <a:solidFill>
                  <a:schemeClr val="bg1"/>
                </a:solidFill>
              </a:rPr>
              <a:t>高</a:t>
            </a:r>
            <a:r>
              <a:rPr lang="en-US" altLang="zh-CN" b="1" dirty="0">
                <a:solidFill>
                  <a:schemeClr val="bg1"/>
                </a:solidFill>
              </a:rPr>
              <a:t>】</a:t>
            </a:r>
          </a:p>
          <a:p>
            <a:r>
              <a:rPr lang="en-US" altLang="zh-CN" b="1" dirty="0">
                <a:solidFill>
                  <a:schemeClr val="bg1"/>
                </a:solidFill>
              </a:rPr>
              <a:t>F-02 </a:t>
            </a:r>
            <a:r>
              <a:rPr lang="zh-CN" altLang="en-US" b="1" dirty="0">
                <a:solidFill>
                  <a:schemeClr val="bg1"/>
                </a:solidFill>
              </a:rPr>
              <a:t>政策知识库管理</a:t>
            </a:r>
            <a:r>
              <a:rPr lang="en-US" altLang="zh-CN" b="1" dirty="0">
                <a:solidFill>
                  <a:schemeClr val="bg1"/>
                </a:solidFill>
              </a:rPr>
              <a:t>【</a:t>
            </a:r>
            <a:r>
              <a:rPr lang="zh-CN" altLang="en-US" b="1" dirty="0">
                <a:solidFill>
                  <a:schemeClr val="bg1"/>
                </a:solidFill>
              </a:rPr>
              <a:t>高</a:t>
            </a:r>
            <a:r>
              <a:rPr lang="en-US" altLang="zh-CN" b="1" dirty="0">
                <a:solidFill>
                  <a:schemeClr val="bg1"/>
                </a:solidFill>
              </a:rPr>
              <a:t>】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F-03 </a:t>
            </a:r>
            <a:r>
              <a:rPr lang="zh-CN" altLang="en-US" dirty="0">
                <a:solidFill>
                  <a:schemeClr val="bg1"/>
                </a:solidFill>
              </a:rPr>
              <a:t>模板文件下载</a:t>
            </a:r>
            <a:r>
              <a:rPr lang="en-US" altLang="zh-CN" dirty="0">
                <a:solidFill>
                  <a:schemeClr val="bg1"/>
                </a:solidFill>
              </a:rPr>
              <a:t>【</a:t>
            </a:r>
            <a:r>
              <a:rPr lang="zh-CN" altLang="en-US" dirty="0">
                <a:solidFill>
                  <a:schemeClr val="bg1"/>
                </a:solidFill>
              </a:rPr>
              <a:t>中</a:t>
            </a:r>
            <a:r>
              <a:rPr lang="en-US" altLang="zh-CN" dirty="0">
                <a:solidFill>
                  <a:schemeClr val="bg1"/>
                </a:solidFill>
              </a:rPr>
              <a:t>】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②党团事务流程管理模块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b="1" dirty="0">
                <a:solidFill>
                  <a:schemeClr val="bg1"/>
                </a:solidFill>
              </a:rPr>
              <a:t>F-04 </a:t>
            </a:r>
            <a:r>
              <a:rPr lang="zh-CN" altLang="en-US" b="1" dirty="0">
                <a:solidFill>
                  <a:schemeClr val="bg1"/>
                </a:solidFill>
              </a:rPr>
              <a:t>流程可视化展示</a:t>
            </a:r>
            <a:r>
              <a:rPr lang="en-US" altLang="zh-CN" b="1" dirty="0">
                <a:solidFill>
                  <a:schemeClr val="bg1"/>
                </a:solidFill>
              </a:rPr>
              <a:t>【</a:t>
            </a:r>
            <a:r>
              <a:rPr lang="zh-CN" altLang="en-US" b="1" dirty="0">
                <a:solidFill>
                  <a:schemeClr val="bg1"/>
                </a:solidFill>
              </a:rPr>
              <a:t>高</a:t>
            </a:r>
            <a:r>
              <a:rPr lang="en-US" altLang="zh-CN" b="1" dirty="0">
                <a:solidFill>
                  <a:schemeClr val="bg1"/>
                </a:solidFill>
              </a:rPr>
              <a:t>】</a:t>
            </a:r>
          </a:p>
          <a:p>
            <a:r>
              <a:rPr lang="en-US" altLang="zh-CN" b="1" dirty="0">
                <a:solidFill>
                  <a:schemeClr val="bg1"/>
                </a:solidFill>
              </a:rPr>
              <a:t>F-05 </a:t>
            </a:r>
            <a:r>
              <a:rPr lang="zh-CN" altLang="en-US" b="1" dirty="0">
                <a:solidFill>
                  <a:schemeClr val="bg1"/>
                </a:solidFill>
              </a:rPr>
              <a:t>个人进度查询</a:t>
            </a:r>
            <a:r>
              <a:rPr lang="en-US" altLang="zh-CN" b="1" dirty="0">
                <a:solidFill>
                  <a:schemeClr val="bg1"/>
                </a:solidFill>
              </a:rPr>
              <a:t>【</a:t>
            </a:r>
            <a:r>
              <a:rPr lang="zh-CN" altLang="en-US" b="1" dirty="0">
                <a:solidFill>
                  <a:schemeClr val="bg1"/>
                </a:solidFill>
              </a:rPr>
              <a:t>高</a:t>
            </a:r>
            <a:r>
              <a:rPr lang="en-US" altLang="zh-CN" b="1" dirty="0">
                <a:solidFill>
                  <a:schemeClr val="bg1"/>
                </a:solidFill>
              </a:rPr>
              <a:t>】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F-06 </a:t>
            </a:r>
            <a:r>
              <a:rPr lang="zh-CN" altLang="en-US" dirty="0">
                <a:solidFill>
                  <a:schemeClr val="bg1"/>
                </a:solidFill>
              </a:rPr>
              <a:t>关键节点提醒</a:t>
            </a:r>
            <a:r>
              <a:rPr lang="en-US" altLang="zh-CN" dirty="0">
                <a:solidFill>
                  <a:schemeClr val="bg1"/>
                </a:solidFill>
              </a:rPr>
              <a:t>【</a:t>
            </a:r>
            <a:r>
              <a:rPr lang="zh-CN" altLang="en-US" dirty="0">
                <a:solidFill>
                  <a:schemeClr val="bg1"/>
                </a:solidFill>
              </a:rPr>
              <a:t>中</a:t>
            </a:r>
            <a:r>
              <a:rPr lang="en-US" altLang="zh-CN" dirty="0">
                <a:solidFill>
                  <a:schemeClr val="bg1"/>
                </a:solidFill>
              </a:rPr>
              <a:t>】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F-07 </a:t>
            </a:r>
            <a:r>
              <a:rPr lang="zh-CN" altLang="en-US" dirty="0">
                <a:solidFill>
                  <a:schemeClr val="bg1"/>
                </a:solidFill>
              </a:rPr>
              <a:t>理论知识自测</a:t>
            </a:r>
            <a:r>
              <a:rPr lang="en-US" altLang="zh-CN" dirty="0">
                <a:solidFill>
                  <a:schemeClr val="bg1"/>
                </a:solidFill>
              </a:rPr>
              <a:t>【</a:t>
            </a:r>
            <a:r>
              <a:rPr lang="zh-CN" altLang="en-US" dirty="0">
                <a:solidFill>
                  <a:schemeClr val="bg1"/>
                </a:solidFill>
              </a:rPr>
              <a:t>低</a:t>
            </a:r>
            <a:r>
              <a:rPr lang="en-US" altLang="zh-CN" dirty="0">
                <a:solidFill>
                  <a:schemeClr val="bg1"/>
                </a:solidFill>
              </a:rPr>
              <a:t>】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③信息集成与精准推送模块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b="1" dirty="0">
                <a:solidFill>
                  <a:schemeClr val="bg1"/>
                </a:solidFill>
              </a:rPr>
              <a:t>F-08 </a:t>
            </a:r>
            <a:r>
              <a:rPr lang="zh-CN" altLang="en-US" b="1" dirty="0">
                <a:solidFill>
                  <a:schemeClr val="bg1"/>
                </a:solidFill>
              </a:rPr>
              <a:t>信息采集与录入</a:t>
            </a:r>
            <a:r>
              <a:rPr lang="en-US" altLang="zh-CN" b="1" dirty="0">
                <a:solidFill>
                  <a:schemeClr val="bg1"/>
                </a:solidFill>
              </a:rPr>
              <a:t>【</a:t>
            </a:r>
            <a:r>
              <a:rPr lang="zh-CN" altLang="en-US" b="1" dirty="0">
                <a:solidFill>
                  <a:schemeClr val="bg1"/>
                </a:solidFill>
              </a:rPr>
              <a:t>高</a:t>
            </a:r>
            <a:r>
              <a:rPr lang="en-US" altLang="zh-CN" b="1" dirty="0">
                <a:solidFill>
                  <a:schemeClr val="bg1"/>
                </a:solidFill>
              </a:rPr>
              <a:t>】</a:t>
            </a:r>
          </a:p>
          <a:p>
            <a:r>
              <a:rPr lang="en-US" altLang="zh-CN" b="1" dirty="0">
                <a:solidFill>
                  <a:schemeClr val="bg1"/>
                </a:solidFill>
              </a:rPr>
              <a:t>F-09 </a:t>
            </a:r>
            <a:r>
              <a:rPr lang="zh-CN" altLang="en-US" b="1" dirty="0">
                <a:solidFill>
                  <a:schemeClr val="bg1"/>
                </a:solidFill>
              </a:rPr>
              <a:t>信息标签分类</a:t>
            </a:r>
            <a:r>
              <a:rPr lang="en-US" altLang="zh-CN" b="1" dirty="0">
                <a:solidFill>
                  <a:schemeClr val="bg1"/>
                </a:solidFill>
              </a:rPr>
              <a:t>【</a:t>
            </a:r>
            <a:r>
              <a:rPr lang="zh-CN" altLang="en-US" b="1" dirty="0">
                <a:solidFill>
                  <a:schemeClr val="bg1"/>
                </a:solidFill>
              </a:rPr>
              <a:t>高</a:t>
            </a:r>
            <a:r>
              <a:rPr lang="en-US" altLang="zh-CN" b="1" dirty="0">
                <a:solidFill>
                  <a:schemeClr val="bg1"/>
                </a:solidFill>
              </a:rPr>
              <a:t>】</a:t>
            </a:r>
          </a:p>
          <a:p>
            <a:r>
              <a:rPr lang="en-US" altLang="zh-CN" b="1" dirty="0">
                <a:solidFill>
                  <a:schemeClr val="bg1"/>
                </a:solidFill>
              </a:rPr>
              <a:t>F-10 </a:t>
            </a:r>
            <a:r>
              <a:rPr lang="zh-CN" altLang="en-US" b="1" dirty="0">
                <a:solidFill>
                  <a:schemeClr val="bg1"/>
                </a:solidFill>
              </a:rPr>
              <a:t>精准信息推送</a:t>
            </a:r>
            <a:r>
              <a:rPr lang="en-US" altLang="zh-CN" b="1" dirty="0">
                <a:solidFill>
                  <a:schemeClr val="bg1"/>
                </a:solidFill>
              </a:rPr>
              <a:t>【</a:t>
            </a:r>
            <a:r>
              <a:rPr lang="zh-CN" altLang="en-US" b="1" dirty="0">
                <a:solidFill>
                  <a:schemeClr val="bg1"/>
                </a:solidFill>
              </a:rPr>
              <a:t>高</a:t>
            </a:r>
            <a:r>
              <a:rPr lang="en-US" altLang="zh-CN" b="1" dirty="0">
                <a:solidFill>
                  <a:schemeClr val="bg1"/>
                </a:solidFill>
              </a:rPr>
              <a:t>】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F-11 </a:t>
            </a:r>
            <a:r>
              <a:rPr lang="zh-CN" altLang="en-US" dirty="0">
                <a:solidFill>
                  <a:schemeClr val="bg1"/>
                </a:solidFill>
              </a:rPr>
              <a:t>多渠道通知发送</a:t>
            </a:r>
            <a:r>
              <a:rPr lang="en-US" altLang="zh-CN" dirty="0">
                <a:solidFill>
                  <a:schemeClr val="bg1"/>
                </a:solidFill>
              </a:rPr>
              <a:t>【</a:t>
            </a:r>
            <a:r>
              <a:rPr lang="zh-CN" altLang="en-US" dirty="0">
                <a:solidFill>
                  <a:schemeClr val="bg1"/>
                </a:solidFill>
              </a:rPr>
              <a:t>中</a:t>
            </a:r>
            <a:r>
              <a:rPr lang="en-US" altLang="zh-CN" dirty="0">
                <a:solidFill>
                  <a:schemeClr val="bg1"/>
                </a:solidFill>
              </a:rPr>
              <a:t>】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④电子证明生成与审批流程模块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………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⑤学业情况分析与预警模块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…………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…………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53569C1-D9DC-75E3-5A47-F2A8FB6E2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340" y="-6311"/>
            <a:ext cx="3616959" cy="65893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437DF82-7B41-62A3-0F3F-F1B12DD51833}"/>
              </a:ext>
            </a:extLst>
          </p:cNvPr>
          <p:cNvSpPr txBox="1"/>
          <p:nvPr/>
        </p:nvSpPr>
        <p:spPr>
          <a:xfrm>
            <a:off x="5217160" y="2397948"/>
            <a:ext cx="17576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在需求规格说明书中的书写</a:t>
            </a:r>
          </a:p>
        </p:txBody>
      </p:sp>
    </p:spTree>
    <p:extLst>
      <p:ext uri="{BB962C8B-B14F-4D97-AF65-F5344CB8AC3E}">
        <p14:creationId xmlns:p14="http://schemas.microsoft.com/office/powerpoint/2010/main" val="370568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6">
            <a:extLst>
              <a:ext uri="{FF2B5EF4-FFF2-40B4-BE49-F238E27FC236}">
                <a16:creationId xmlns:a16="http://schemas.microsoft.com/office/drawing/2014/main" id="{73AEDA87-AD9B-AC4B-C5EF-67063CC1EF07}"/>
              </a:ext>
            </a:extLst>
          </p:cNvPr>
          <p:cNvSpPr/>
          <p:nvPr/>
        </p:nvSpPr>
        <p:spPr bwMode="auto">
          <a:xfrm>
            <a:off x="670969" y="2253183"/>
            <a:ext cx="1259840" cy="1058239"/>
          </a:xfrm>
          <a:prstGeom prst="wedgeEllipseCallout">
            <a:avLst>
              <a:gd name="adj1" fmla="val 78093"/>
              <a:gd name="adj2" fmla="val -426"/>
            </a:avLst>
          </a:prstGeom>
          <a:solidFill>
            <a:srgbClr val="B3342E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思源黑体 CN Normal" panose="020B0400000000000000" pitchFamily="34" charset="-122"/>
              <a:ea typeface="思源黑体 CN Normal" panose="020B0400000000000000" pitchFamily="34" charset="-122"/>
              <a:cs typeface="Gill Sans" charset="0"/>
              <a:sym typeface="思源黑体 CN Normal" panose="020B04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6579" y="962026"/>
            <a:ext cx="9635422" cy="645178"/>
            <a:chOff x="853757" y="1941901"/>
            <a:chExt cx="9635422" cy="645178"/>
          </a:xfrm>
        </p:grpSpPr>
        <p:sp>
          <p:nvSpPr>
            <p:cNvPr id="12" name="Rectangle 22"/>
            <p:cNvSpPr/>
            <p:nvPr/>
          </p:nvSpPr>
          <p:spPr>
            <a:xfrm>
              <a:off x="853757" y="1941901"/>
              <a:ext cx="2701741" cy="645178"/>
            </a:xfrm>
            <a:prstGeom prst="rect">
              <a:avLst/>
            </a:prstGeom>
            <a:solidFill>
              <a:srgbClr val="B3342E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TextBox 76"/>
            <p:cNvSpPr txBox="1"/>
            <p:nvPr/>
          </p:nvSpPr>
          <p:spPr>
            <a:xfrm>
              <a:off x="1250643" y="2057102"/>
              <a:ext cx="173367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prstClr val="white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系统架构设计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100004" y="1993302"/>
              <a:ext cx="6389175" cy="52770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zh-CN" sz="2400" dirty="0"/>
                <a:t>多端协同架构：系统必须采用前后端分离架构。</a:t>
              </a:r>
              <a:endParaRPr lang="en-US" altLang="zh-CN" sz="2400" dirty="0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341433" y="2238726"/>
            <a:ext cx="7646665" cy="100578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采用微信小程序框架，作为学生用户的高频操作入口，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需利用微信实名制接口进行身份校验。 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9" name="TextBox 40_1"/>
          <p:cNvSpPr txBox="1"/>
          <p:nvPr/>
        </p:nvSpPr>
        <p:spPr>
          <a:xfrm>
            <a:off x="366579" y="203086"/>
            <a:ext cx="331508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b="1" dirty="0"/>
              <a:t>软件设计阶段</a:t>
            </a:r>
          </a:p>
        </p:txBody>
      </p:sp>
      <p:sp>
        <p:nvSpPr>
          <p:cNvPr id="30" name="Freeform 14_1"/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597F641-460A-499C-7759-ACFAB9FBA12C}"/>
              </a:ext>
            </a:extLst>
          </p:cNvPr>
          <p:cNvSpPr txBox="1"/>
          <p:nvPr/>
        </p:nvSpPr>
        <p:spPr>
          <a:xfrm>
            <a:off x="763465" y="2432911"/>
            <a:ext cx="125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bg1"/>
                </a:solidFill>
              </a:rPr>
              <a:t>①前端（移动端）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1680F6AD-3437-9F4E-58E2-EA644B83DBAC}"/>
              </a:ext>
            </a:extLst>
          </p:cNvPr>
          <p:cNvSpPr/>
          <p:nvPr/>
        </p:nvSpPr>
        <p:spPr bwMode="auto">
          <a:xfrm>
            <a:off x="670969" y="3506787"/>
            <a:ext cx="1259840" cy="1058239"/>
          </a:xfrm>
          <a:prstGeom prst="wedgeEllipseCallout">
            <a:avLst>
              <a:gd name="adj1" fmla="val 78093"/>
              <a:gd name="adj2" fmla="val -426"/>
            </a:avLst>
          </a:prstGeom>
          <a:solidFill>
            <a:srgbClr val="B3342E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思源黑体 CN Normal" panose="020B0400000000000000" pitchFamily="34" charset="-122"/>
              <a:ea typeface="思源黑体 CN Normal" panose="020B0400000000000000" pitchFamily="34" charset="-122"/>
              <a:cs typeface="Gill Sans" charset="0"/>
              <a:sym typeface="思源黑体 CN Normal" panose="020B04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7816FF-F733-A206-4F5E-568F0637F937}"/>
              </a:ext>
            </a:extLst>
          </p:cNvPr>
          <p:cNvSpPr txBox="1"/>
          <p:nvPr/>
        </p:nvSpPr>
        <p:spPr>
          <a:xfrm>
            <a:off x="763465" y="3712742"/>
            <a:ext cx="125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②</a:t>
            </a:r>
            <a:r>
              <a:rPr lang="zh-CN" altLang="zh-CN" dirty="0">
                <a:solidFill>
                  <a:schemeClr val="bg1"/>
                </a:solidFill>
              </a:rPr>
              <a:t>前端（</a:t>
            </a:r>
            <a:r>
              <a:rPr lang="en-US" altLang="zh-CN" dirty="0">
                <a:solidFill>
                  <a:schemeClr val="bg1"/>
                </a:solidFill>
              </a:rPr>
              <a:t>PC</a:t>
            </a:r>
            <a:r>
              <a:rPr lang="zh-CN" altLang="zh-CN" dirty="0">
                <a:solidFill>
                  <a:schemeClr val="bg1"/>
                </a:solidFill>
              </a:rPr>
              <a:t>端）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E03156-A572-526B-111E-B95803E5F059}"/>
              </a:ext>
            </a:extLst>
          </p:cNvPr>
          <p:cNvSpPr txBox="1"/>
          <p:nvPr/>
        </p:nvSpPr>
        <p:spPr>
          <a:xfrm>
            <a:off x="2355336" y="3613487"/>
            <a:ext cx="7646665" cy="100578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采用主流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Web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开发框架作为管理员处理复杂业务、统计报表及文档导入导出的专用平台。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AutoShape 6">
            <a:extLst>
              <a:ext uri="{FF2B5EF4-FFF2-40B4-BE49-F238E27FC236}">
                <a16:creationId xmlns:a16="http://schemas.microsoft.com/office/drawing/2014/main" id="{BC9D027F-21F5-944C-78C6-EB14AE0B0B16}"/>
              </a:ext>
            </a:extLst>
          </p:cNvPr>
          <p:cNvSpPr/>
          <p:nvPr/>
        </p:nvSpPr>
        <p:spPr bwMode="auto">
          <a:xfrm>
            <a:off x="670969" y="4837735"/>
            <a:ext cx="1259840" cy="1058239"/>
          </a:xfrm>
          <a:prstGeom prst="wedgeEllipseCallout">
            <a:avLst>
              <a:gd name="adj1" fmla="val 78093"/>
              <a:gd name="adj2" fmla="val -426"/>
            </a:avLst>
          </a:prstGeom>
          <a:solidFill>
            <a:srgbClr val="B3342E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>
              <a:defRPr/>
            </a:pPr>
            <a:endParaRPr lang="es-ES" sz="2800">
              <a:effectLst>
                <a:outerShdw blurRad="38100" dist="38100" dir="2700000" algn="tl">
                  <a:srgbClr val="000000"/>
                </a:outerShdw>
              </a:effectLst>
              <a:latin typeface="思源黑体 CN Normal" panose="020B0400000000000000" pitchFamily="34" charset="-122"/>
              <a:ea typeface="思源黑体 CN Normal" panose="020B0400000000000000" pitchFamily="34" charset="-122"/>
              <a:cs typeface="Gill Sans" charset="0"/>
              <a:sym typeface="思源黑体 CN Normal" panose="020B0400000000000000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B075A56-DBDF-F733-5F8E-3C2AD69F6FCA}"/>
              </a:ext>
            </a:extLst>
          </p:cNvPr>
          <p:cNvSpPr txBox="1"/>
          <p:nvPr/>
        </p:nvSpPr>
        <p:spPr>
          <a:xfrm>
            <a:off x="763465" y="5043688"/>
            <a:ext cx="125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bg1"/>
                </a:solidFill>
              </a:rPr>
              <a:t>③后端（Server）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B5FA3CE-8D5C-2645-41E2-0486C775D124}"/>
              </a:ext>
            </a:extLst>
          </p:cNvPr>
          <p:cNvSpPr txBox="1"/>
          <p:nvPr/>
        </p:nvSpPr>
        <p:spPr>
          <a:xfrm>
            <a:off x="2341432" y="4931630"/>
            <a:ext cx="7646665" cy="100578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采用模块化后端架构（如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Spring Boot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或 </a:t>
            </a:r>
            <a:r>
              <a:rPr lang="en-US" altLang="zh-CN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FastAPI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[5]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），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负责统一的业务逻辑处理与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API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rPr>
              <a:t>分发。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5" grpId="0" animBg="1" autoUpdateAnimBg="0"/>
      <p:bldP spid="24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40_1"/>
          <p:cNvSpPr txBox="1"/>
          <p:nvPr/>
        </p:nvSpPr>
        <p:spPr>
          <a:xfrm>
            <a:off x="366578" y="203086"/>
            <a:ext cx="4520381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b="1" dirty="0"/>
              <a:t>代</a:t>
            </a:r>
            <a:r>
              <a:rPr lang="zh-CN" altLang="zh-CN" sz="2800" b="1" dirty="0"/>
              <a:t>码实现与测试阶段的协作</a:t>
            </a:r>
          </a:p>
        </p:txBody>
      </p:sp>
      <p:sp>
        <p:nvSpPr>
          <p:cNvPr id="35" name="Freeform 14_1"/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1FBC275-E8D1-2DAD-D0A0-F171FD035C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02" y="726306"/>
            <a:ext cx="8063768" cy="56698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C1A2C26-520C-9A88-FF9A-F9717455DE6A}"/>
              </a:ext>
            </a:extLst>
          </p:cNvPr>
          <p:cNvSpPr txBox="1"/>
          <p:nvPr/>
        </p:nvSpPr>
        <p:spPr>
          <a:xfrm>
            <a:off x="4969329" y="2159671"/>
            <a:ext cx="1897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：路嘉洁</a:t>
            </a:r>
            <a:endParaRPr lang="en-US" altLang="zh-CN" dirty="0"/>
          </a:p>
          <a:p>
            <a:r>
              <a:rPr lang="en-US" altLang="zh-CN" dirty="0"/>
              <a:t>B</a:t>
            </a:r>
            <a:r>
              <a:rPr lang="zh-CN" altLang="en-US" dirty="0"/>
              <a:t>：范逍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：胡君楠</a:t>
            </a:r>
            <a:endParaRPr lang="en-US" altLang="zh-CN" dirty="0"/>
          </a:p>
          <a:p>
            <a:r>
              <a:rPr lang="en-US" altLang="zh-CN" dirty="0"/>
              <a:t>D</a:t>
            </a:r>
            <a:r>
              <a:rPr lang="zh-CN" altLang="en-US" dirty="0"/>
              <a:t>：陈娅润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262793-4FF1-3484-D0D7-35EFB7D306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046" y="3723153"/>
            <a:ext cx="4073908" cy="20589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69B528A-DDC3-5ABE-D7D8-74312B9594F9}"/>
              </a:ext>
            </a:extLst>
          </p:cNvPr>
          <p:cNvSpPr txBox="1"/>
          <p:nvPr/>
        </p:nvSpPr>
        <p:spPr>
          <a:xfrm>
            <a:off x="5255288" y="4119824"/>
            <a:ext cx="40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3304DB5-D7E3-E7A2-526F-AC0C915BC963}"/>
              </a:ext>
            </a:extLst>
          </p:cNvPr>
          <p:cNvSpPr txBox="1"/>
          <p:nvPr/>
        </p:nvSpPr>
        <p:spPr>
          <a:xfrm>
            <a:off x="5205046" y="5030796"/>
            <a:ext cx="40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DDB3618-57C1-C9C2-EAB9-39D13E35393C}"/>
              </a:ext>
            </a:extLst>
          </p:cNvPr>
          <p:cNvSpPr txBox="1"/>
          <p:nvPr/>
        </p:nvSpPr>
        <p:spPr>
          <a:xfrm>
            <a:off x="7417359" y="4119824"/>
            <a:ext cx="40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25E4142-0F37-583E-E090-D1B0142A15B0}"/>
              </a:ext>
            </a:extLst>
          </p:cNvPr>
          <p:cNvSpPr txBox="1"/>
          <p:nvPr/>
        </p:nvSpPr>
        <p:spPr>
          <a:xfrm>
            <a:off x="7509119" y="5215462"/>
            <a:ext cx="40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AE600006-2499-1330-C5B0-0626651E7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9119" y="1097429"/>
            <a:ext cx="4430661" cy="2570949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5787B38B-96A2-7BA6-582E-15C953BEBEF8}"/>
              </a:ext>
            </a:extLst>
          </p:cNvPr>
          <p:cNvSpPr txBox="1"/>
          <p:nvPr/>
        </p:nvSpPr>
        <p:spPr>
          <a:xfrm>
            <a:off x="9116193" y="3803782"/>
            <a:ext cx="2823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来自测试文档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D7019C2-20F5-E3BC-868C-4A077AB63FB1}"/>
              </a:ext>
            </a:extLst>
          </p:cNvPr>
          <p:cNvSpPr txBox="1"/>
          <p:nvPr/>
        </p:nvSpPr>
        <p:spPr>
          <a:xfrm>
            <a:off x="2582426" y="6439457"/>
            <a:ext cx="2823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Github</a:t>
            </a:r>
            <a:r>
              <a:rPr lang="zh-CN" altLang="en-US" dirty="0"/>
              <a:t>截图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E0FCEF-29EA-3EC8-B23C-3B533DE3A2D0}"/>
              </a:ext>
            </a:extLst>
          </p:cNvPr>
          <p:cNvSpPr txBox="1"/>
          <p:nvPr/>
        </p:nvSpPr>
        <p:spPr>
          <a:xfrm>
            <a:off x="8221227" y="4413151"/>
            <a:ext cx="38429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其他部分分工：文档撰写</a:t>
            </a:r>
            <a:endParaRPr lang="en-US" altLang="zh-CN" dirty="0"/>
          </a:p>
          <a:p>
            <a:r>
              <a:rPr lang="zh-CN" altLang="en-US" dirty="0"/>
              <a:t>范逍：修复部分</a:t>
            </a:r>
            <a:r>
              <a:rPr lang="en-US" altLang="zh-CN" dirty="0"/>
              <a:t>bug</a:t>
            </a:r>
            <a:r>
              <a:rPr lang="zh-CN" altLang="en-US" dirty="0"/>
              <a:t>，增加部分功能，展示文稿撰写。</a:t>
            </a:r>
            <a:endParaRPr lang="en-US" altLang="zh-CN" dirty="0"/>
          </a:p>
          <a:p>
            <a:r>
              <a:rPr lang="zh-CN" altLang="en-US" dirty="0"/>
              <a:t>陈娅润：所有文档总结整理，</a:t>
            </a:r>
            <a:r>
              <a:rPr lang="en-US" altLang="zh-CN" dirty="0"/>
              <a:t>web</a:t>
            </a:r>
            <a:r>
              <a:rPr lang="zh-CN" altLang="en-US" dirty="0"/>
              <a:t>端维护。展示文稿撰写，</a:t>
            </a:r>
            <a:r>
              <a:rPr lang="en-US" altLang="zh-CN" dirty="0"/>
              <a:t>PPT</a:t>
            </a:r>
            <a:r>
              <a:rPr lang="zh-CN" altLang="en-US" dirty="0"/>
              <a:t>制作。</a:t>
            </a:r>
            <a:endParaRPr lang="en-US" altLang="zh-CN" dirty="0"/>
          </a:p>
          <a:p>
            <a:r>
              <a:rPr lang="zh-CN" altLang="en-US" dirty="0"/>
              <a:t>胡君楠：测试文档及小程序端维护，成果展示。</a:t>
            </a:r>
            <a:endParaRPr lang="en-US" altLang="zh-CN" dirty="0"/>
          </a:p>
          <a:p>
            <a:r>
              <a:rPr lang="zh-CN" altLang="en-US" dirty="0"/>
              <a:t>路嘉洁：修复部分</a:t>
            </a:r>
            <a:r>
              <a:rPr lang="en-US" altLang="zh-CN" dirty="0"/>
              <a:t>bug</a:t>
            </a:r>
            <a:r>
              <a:rPr lang="zh-CN" altLang="en-US" dirty="0"/>
              <a:t>。功能展示。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4"/>
          <p:cNvSpPr txBox="1"/>
          <p:nvPr>
            <p:custDataLst>
              <p:tags r:id="rId1"/>
            </p:custDataLst>
          </p:nvPr>
        </p:nvSpPr>
        <p:spPr>
          <a:xfrm>
            <a:off x="4177502" y="1743002"/>
            <a:ext cx="1488894" cy="1441061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dist">
              <a:defRPr/>
            </a:pPr>
            <a:r>
              <a:rPr lang="en-US" altLang="zh-CN" sz="8800" dirty="0">
                <a:solidFill>
                  <a:srgbClr val="B3342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02</a:t>
            </a:r>
            <a:endParaRPr lang="zh-CN" altLang="en-US" sz="8800" dirty="0">
              <a:solidFill>
                <a:srgbClr val="B3342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3"/>
          <p:cNvSpPr txBox="1"/>
          <p:nvPr>
            <p:custDataLst>
              <p:tags r:id="rId2"/>
            </p:custDataLst>
          </p:nvPr>
        </p:nvSpPr>
        <p:spPr>
          <a:xfrm>
            <a:off x="1149226" y="4316377"/>
            <a:ext cx="8161143" cy="630454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116965">
              <a:lnSpc>
                <a:spcPct val="120000"/>
              </a:lnSpc>
              <a:defRPr/>
            </a:pPr>
            <a:r>
              <a:rPr lang="zh-CN" altLang="en-US" sz="3200" dirty="0">
                <a:sym typeface="思源黑体 CN Normal" panose="020B0400000000000000" pitchFamily="34" charset="-122"/>
              </a:rPr>
              <a:t>系统架构、学生端、管理后台、学业分析</a:t>
            </a:r>
          </a:p>
        </p:txBody>
      </p:sp>
      <p:sp>
        <p:nvSpPr>
          <p:cNvPr id="14" name="2"/>
          <p:cNvSpPr txBox="1"/>
          <p:nvPr>
            <p:custDataLst>
              <p:tags r:id="rId3"/>
            </p:custDataLst>
          </p:nvPr>
        </p:nvSpPr>
        <p:spPr>
          <a:xfrm>
            <a:off x="1100479" y="3184063"/>
            <a:ext cx="7249701" cy="1194840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zh-CN" altLang="en-US" sz="7200" dirty="0">
                <a:solidFill>
                  <a:srgbClr val="B3342E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ndalus" pitchFamily="18" charset="-78"/>
                <a:sym typeface="思源黑体 CN Normal" panose="020B0400000000000000" pitchFamily="34" charset="-122"/>
              </a:rPr>
              <a:t>项目与功能概述</a:t>
            </a:r>
          </a:p>
        </p:txBody>
      </p:sp>
      <p:sp>
        <p:nvSpPr>
          <p:cNvPr id="18" name="Freeform 6"/>
          <p:cNvSpPr/>
          <p:nvPr/>
        </p:nvSpPr>
        <p:spPr bwMode="auto">
          <a:xfrm>
            <a:off x="4667250" y="0"/>
            <a:ext cx="7526020" cy="3985260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22" name="Freeform 6"/>
          <p:cNvSpPr/>
          <p:nvPr/>
        </p:nvSpPr>
        <p:spPr bwMode="auto">
          <a:xfrm flipH="1" flipV="1">
            <a:off x="-2" y="5173682"/>
            <a:ext cx="3609975" cy="1684316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23" name="4"/>
          <p:cNvSpPr txBox="1"/>
          <p:nvPr>
            <p:custDataLst>
              <p:tags r:id="rId4"/>
            </p:custDataLst>
          </p:nvPr>
        </p:nvSpPr>
        <p:spPr>
          <a:xfrm>
            <a:off x="2688608" y="2316015"/>
            <a:ext cx="1488894" cy="702397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dist">
              <a:defRPr/>
            </a:pPr>
            <a:r>
              <a:rPr lang="en-US" altLang="zh-CN" sz="4000" dirty="0">
                <a:solidFill>
                  <a:srgbClr val="B3342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PART</a:t>
            </a:r>
            <a:endParaRPr lang="zh-CN" altLang="en-US" sz="4000" dirty="0">
              <a:solidFill>
                <a:srgbClr val="B3342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2" name="图片 1" descr="中国人民大学logo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0370" y="4913630"/>
            <a:ext cx="1736090" cy="1548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1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build="p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 14_1"/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17910" y="0"/>
            <a:ext cx="974090" cy="825500"/>
          </a:xfrm>
          <a:prstGeom prst="rect">
            <a:avLst/>
          </a:prstGeom>
        </p:spPr>
      </p:pic>
      <p:sp>
        <p:nvSpPr>
          <p:cNvPr id="4" name="TextBox 40_1">
            <a:extLst>
              <a:ext uri="{FF2B5EF4-FFF2-40B4-BE49-F238E27FC236}">
                <a16:creationId xmlns:a16="http://schemas.microsoft.com/office/drawing/2014/main" id="{0C496C56-1425-8440-AB4B-BEB8960FD526}"/>
              </a:ext>
            </a:extLst>
          </p:cNvPr>
          <p:cNvSpPr txBox="1"/>
          <p:nvPr/>
        </p:nvSpPr>
        <p:spPr>
          <a:xfrm>
            <a:off x="366579" y="203086"/>
            <a:ext cx="379247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b="1" dirty="0"/>
              <a:t>系统架构与部署方式</a:t>
            </a: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337AE72F-26FF-C3A7-6672-DBFFDC5983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8106727"/>
              </p:ext>
            </p:extLst>
          </p:nvPr>
        </p:nvGraphicFramePr>
        <p:xfrm>
          <a:off x="-284310" y="3268712"/>
          <a:ext cx="6380310" cy="3923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F0A8D81-29D3-EBC1-4AE7-E21E31D1C9E2}"/>
              </a:ext>
            </a:extLst>
          </p:cNvPr>
          <p:cNvSpPr txBox="1"/>
          <p:nvPr/>
        </p:nvSpPr>
        <p:spPr>
          <a:xfrm>
            <a:off x="2696983" y="3226718"/>
            <a:ext cx="54622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总规模</a:t>
            </a:r>
            <a:r>
              <a:rPr lang="zh-CN" altLang="zh-CN" dirty="0"/>
              <a:t>：15,777 行代码，三端分离架构清晰</a:t>
            </a:r>
          </a:p>
          <a:p>
            <a:r>
              <a:rPr lang="zh-CN" altLang="zh-CN" b="1" dirty="0"/>
              <a:t>后端主导</a:t>
            </a:r>
            <a:r>
              <a:rPr lang="zh-CN" altLang="zh-CN" dirty="0"/>
              <a:t>：Java 占比 58.4%，核心业务逻辑集中</a:t>
            </a:r>
          </a:p>
          <a:p>
            <a:r>
              <a:rPr lang="zh-CN" altLang="zh-CN" b="1" dirty="0"/>
              <a:t>前端双端</a:t>
            </a:r>
            <a:r>
              <a:rPr lang="zh-CN" altLang="zh-CN" dirty="0"/>
              <a:t>：</a:t>
            </a:r>
          </a:p>
          <a:p>
            <a:pPr lvl="1"/>
            <a:r>
              <a:rPr lang="zh-CN" altLang="zh-CN" dirty="0"/>
              <a:t>小程序（JS + WXSS）：3,744 行，占比 23.7%</a:t>
            </a:r>
          </a:p>
          <a:p>
            <a:pPr lvl="1"/>
            <a:r>
              <a:rPr lang="zh-CN" altLang="zh-CN" dirty="0"/>
              <a:t>管理后台（TS + CSS）：2,530 行，占比 16.0%</a:t>
            </a:r>
          </a:p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66DF78-9E97-685D-BF5A-9260B8B866DB}"/>
              </a:ext>
            </a:extLst>
          </p:cNvPr>
          <p:cNvSpPr txBox="1"/>
          <p:nvPr/>
        </p:nvSpPr>
        <p:spPr>
          <a:xfrm>
            <a:off x="366579" y="928667"/>
            <a:ext cx="60335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前后端分离架构：系统由后端服务、微信小程序学生端、管理后台前端三部分组成，并通过统一请求层衔接接口调用。</a:t>
            </a:r>
          </a:p>
          <a:p>
            <a:r>
              <a:rPr lang="zh-CN" altLang="zh-CN" sz="2000" b="1" dirty="0"/>
              <a:t>学生通过微信小程序 (JS) 访问，核心业务由 Java Spring Boot 后端处理 ；管理员通过 React 管理后台 (TS) 操作；整体采用三端分离架构，通过 RESTful API 交互，前端统一了请求层并支持 Mock 双模式开发。</a:t>
            </a:r>
            <a:endParaRPr lang="zh-CN" altLang="en-US" sz="20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384917-F3A3-D4F4-312D-1DCD99CAF34A}"/>
              </a:ext>
            </a:extLst>
          </p:cNvPr>
          <p:cNvSpPr/>
          <p:nvPr/>
        </p:nvSpPr>
        <p:spPr>
          <a:xfrm>
            <a:off x="6686993" y="311499"/>
            <a:ext cx="4119824" cy="17543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2EECE3-DE22-AAB2-FD4A-F3CAC1275DDD}"/>
              </a:ext>
            </a:extLst>
          </p:cNvPr>
          <p:cNvSpPr txBox="1"/>
          <p:nvPr/>
        </p:nvSpPr>
        <p:spPr>
          <a:xfrm>
            <a:off x="7887771" y="311499"/>
            <a:ext cx="1718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 前端展示层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54CF3D-76A2-4F31-8C11-E4F9A2183C97}"/>
              </a:ext>
            </a:extLst>
          </p:cNvPr>
          <p:cNvSpPr/>
          <p:nvPr/>
        </p:nvSpPr>
        <p:spPr>
          <a:xfrm>
            <a:off x="6812780" y="806363"/>
            <a:ext cx="1818481" cy="113392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54B3314-E0F9-0C90-A55C-B12D7FC49A73}"/>
              </a:ext>
            </a:extLst>
          </p:cNvPr>
          <p:cNvSpPr/>
          <p:nvPr/>
        </p:nvSpPr>
        <p:spPr>
          <a:xfrm>
            <a:off x="8885999" y="825500"/>
            <a:ext cx="1758462" cy="113392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80668B-1483-6577-12BE-ECAE6B235A1A}"/>
              </a:ext>
            </a:extLst>
          </p:cNvPr>
          <p:cNvSpPr txBox="1"/>
          <p:nvPr/>
        </p:nvSpPr>
        <p:spPr>
          <a:xfrm>
            <a:off x="6644822" y="1069298"/>
            <a:ext cx="2154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学生端小程序</a:t>
            </a:r>
            <a:endParaRPr lang="en-US" altLang="zh-CN" dirty="0"/>
          </a:p>
          <a:p>
            <a:pPr algn="ctr"/>
            <a:r>
              <a:rPr lang="en-US" altLang="zh-CN" dirty="0"/>
              <a:t>(JS + WXML/WXSS)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A2C5C6-A37E-BFC9-40F2-6A3CBAB36E87}"/>
              </a:ext>
            </a:extLst>
          </p:cNvPr>
          <p:cNvSpPr txBox="1"/>
          <p:nvPr/>
        </p:nvSpPr>
        <p:spPr>
          <a:xfrm>
            <a:off x="8925004" y="1077449"/>
            <a:ext cx="1683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管理后台 </a:t>
            </a:r>
            <a:r>
              <a:rPr lang="en-US" altLang="zh-CN" dirty="0"/>
              <a:t>(React + TS) </a:t>
            </a:r>
            <a:endParaRPr lang="zh-CN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5869679-B2F5-9A2D-EA93-C3C59BAFD2D2}"/>
              </a:ext>
            </a:extLst>
          </p:cNvPr>
          <p:cNvSpPr/>
          <p:nvPr/>
        </p:nvSpPr>
        <p:spPr>
          <a:xfrm>
            <a:off x="8159262" y="2981259"/>
            <a:ext cx="3737662" cy="17543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箭头: 下 58">
            <a:extLst>
              <a:ext uri="{FF2B5EF4-FFF2-40B4-BE49-F238E27FC236}">
                <a16:creationId xmlns:a16="http://schemas.microsoft.com/office/drawing/2014/main" id="{D80178E3-47DA-18EB-B433-FB32485C02F4}"/>
              </a:ext>
            </a:extLst>
          </p:cNvPr>
          <p:cNvSpPr/>
          <p:nvPr/>
        </p:nvSpPr>
        <p:spPr>
          <a:xfrm>
            <a:off x="9565730" y="2159831"/>
            <a:ext cx="492184" cy="725109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7A3FA8B-4263-1350-5ADD-16C34BDC682E}"/>
              </a:ext>
            </a:extLst>
          </p:cNvPr>
          <p:cNvSpPr txBox="1"/>
          <p:nvPr/>
        </p:nvSpPr>
        <p:spPr>
          <a:xfrm>
            <a:off x="8572175" y="3184737"/>
            <a:ext cx="339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统一请求层 </a:t>
            </a:r>
            <a:r>
              <a:rPr lang="en-US" altLang="zh-CN" b="1" dirty="0">
                <a:solidFill>
                  <a:schemeClr val="bg1"/>
                </a:solidFill>
              </a:rPr>
              <a:t>(</a:t>
            </a:r>
            <a:r>
              <a:rPr lang="zh-CN" altLang="en-US" b="1" dirty="0">
                <a:solidFill>
                  <a:schemeClr val="bg1"/>
                </a:solidFill>
              </a:rPr>
              <a:t>前端公共模块</a:t>
            </a:r>
            <a:r>
              <a:rPr lang="en-US" altLang="zh-CN" b="1" dirty="0">
                <a:solidFill>
                  <a:schemeClr val="bg1"/>
                </a:solidFill>
              </a:rPr>
              <a:t>)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768F20A-233E-0725-331B-4479CBD67593}"/>
              </a:ext>
            </a:extLst>
          </p:cNvPr>
          <p:cNvSpPr/>
          <p:nvPr/>
        </p:nvSpPr>
        <p:spPr>
          <a:xfrm>
            <a:off x="8415238" y="3685638"/>
            <a:ext cx="1462226" cy="803181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85DB246-22C4-5666-C9AB-BBB051662899}"/>
              </a:ext>
            </a:extLst>
          </p:cNvPr>
          <p:cNvSpPr/>
          <p:nvPr/>
        </p:nvSpPr>
        <p:spPr>
          <a:xfrm>
            <a:off x="10177981" y="3694460"/>
            <a:ext cx="1458603" cy="749244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65BF9A2-0987-D454-3449-845BAC78E4AC}"/>
              </a:ext>
            </a:extLst>
          </p:cNvPr>
          <p:cNvSpPr txBox="1"/>
          <p:nvPr/>
        </p:nvSpPr>
        <p:spPr>
          <a:xfrm>
            <a:off x="8483430" y="3772885"/>
            <a:ext cx="132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Mock </a:t>
            </a:r>
            <a:r>
              <a:rPr lang="zh-CN" altLang="en-US" dirty="0"/>
              <a:t>模式</a:t>
            </a:r>
            <a:endParaRPr lang="en-US" altLang="zh-CN" dirty="0"/>
          </a:p>
          <a:p>
            <a:r>
              <a:rPr lang="en-US" altLang="zh-CN" dirty="0"/>
              <a:t>(</a:t>
            </a:r>
            <a:r>
              <a:rPr lang="zh-CN" altLang="en-US" dirty="0"/>
              <a:t>开发调试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95CB9C16-A3F0-14C7-52D2-1D606085125A}"/>
              </a:ext>
            </a:extLst>
          </p:cNvPr>
          <p:cNvSpPr txBox="1"/>
          <p:nvPr/>
        </p:nvSpPr>
        <p:spPr>
          <a:xfrm>
            <a:off x="10177981" y="3842488"/>
            <a:ext cx="1587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真实</a:t>
            </a:r>
            <a:r>
              <a:rPr lang="en-US" altLang="zh-CN" dirty="0"/>
              <a:t>API</a:t>
            </a:r>
            <a:r>
              <a:rPr lang="zh-CN" altLang="en-US" dirty="0"/>
              <a:t>模式</a:t>
            </a:r>
            <a:endParaRPr lang="en-US" altLang="zh-CN" dirty="0"/>
          </a:p>
          <a:p>
            <a:r>
              <a:rPr lang="zh-CN" altLang="en-US" dirty="0"/>
              <a:t>（生产环境）</a:t>
            </a: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D78B77D4-461C-343D-33B3-9FC7A8FDB1A4}"/>
              </a:ext>
            </a:extLst>
          </p:cNvPr>
          <p:cNvSpPr/>
          <p:nvPr/>
        </p:nvSpPr>
        <p:spPr>
          <a:xfrm>
            <a:off x="9729791" y="4831904"/>
            <a:ext cx="538776" cy="535692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A4A34D-DCEA-A7A4-4578-2C74621225AD}"/>
              </a:ext>
            </a:extLst>
          </p:cNvPr>
          <p:cNvSpPr/>
          <p:nvPr/>
        </p:nvSpPr>
        <p:spPr>
          <a:xfrm>
            <a:off x="8483430" y="5434924"/>
            <a:ext cx="3257720" cy="68358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671D93-0557-421E-F15B-387F4A5BC942}"/>
              </a:ext>
            </a:extLst>
          </p:cNvPr>
          <p:cNvSpPr txBox="1"/>
          <p:nvPr/>
        </p:nvSpPr>
        <p:spPr>
          <a:xfrm>
            <a:off x="9409679" y="5592048"/>
            <a:ext cx="339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后端服务层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接连接符 35"/>
          <p:cNvCxnSpPr>
            <a:cxnSpLocks/>
          </p:cNvCxnSpPr>
          <p:nvPr/>
        </p:nvCxnSpPr>
        <p:spPr>
          <a:xfrm flipV="1">
            <a:off x="3949002" y="152267"/>
            <a:ext cx="6849300" cy="5081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cxnSpLocks/>
          </p:cNvCxnSpPr>
          <p:nvPr/>
        </p:nvCxnSpPr>
        <p:spPr>
          <a:xfrm>
            <a:off x="3949002" y="1569791"/>
            <a:ext cx="6874276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3681663" y="329227"/>
            <a:ext cx="7356597" cy="120032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dirty="0"/>
              <a:t>学生端微信小程序覆盖了九大功能模块：登录与会话管理、首页待办汇总、智能问答、党团流程进度、事务申请（列表/详情/新建）、成绩单上传与学业分析、通知公告、模板下载、个人中心。</a:t>
            </a:r>
            <a:endParaRPr lang="en-US" altLang="zh-CN" dirty="0"/>
          </a:p>
          <a:p>
            <a:r>
              <a:rPr lang="zh-CN" altLang="zh-CN" dirty="0"/>
              <a:t>底部 tabBar 设置了首页、智能问答、事务申请、个人中心四个一级入口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21" name="TextBox 40_1"/>
          <p:cNvSpPr txBox="1"/>
          <p:nvPr/>
        </p:nvSpPr>
        <p:spPr>
          <a:xfrm>
            <a:off x="366579" y="203086"/>
            <a:ext cx="331508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zh-CN" sz="2800" b="1" dirty="0"/>
              <a:t>学生端功能总览</a:t>
            </a:r>
          </a:p>
        </p:txBody>
      </p:sp>
      <p:sp>
        <p:nvSpPr>
          <p:cNvPr id="22" name="Freeform 14_1"/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C200018-3F7D-878A-A605-E21313AD18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35" y="1152945"/>
            <a:ext cx="2690313" cy="502563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1ED48B4-ABDB-B23D-BAA5-D872C826FE6E}"/>
              </a:ext>
            </a:extLst>
          </p:cNvPr>
          <p:cNvSpPr txBox="1"/>
          <p:nvPr/>
        </p:nvSpPr>
        <p:spPr>
          <a:xfrm>
            <a:off x="1276141" y="6279063"/>
            <a:ext cx="1788607" cy="375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首页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DDEB2BA-A8CA-38F1-7C18-55F06B0206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171" y="1655696"/>
            <a:ext cx="2205080" cy="456867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CE43D47-D70E-2FDC-DDF8-51F99B0843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003" y="1655697"/>
            <a:ext cx="2220685" cy="456867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9E1276B-EF50-4667-36DD-62671A933C3E}"/>
              </a:ext>
            </a:extLst>
          </p:cNvPr>
          <p:cNvSpPr txBox="1"/>
          <p:nvPr/>
        </p:nvSpPr>
        <p:spPr>
          <a:xfrm>
            <a:off x="4292397" y="6277906"/>
            <a:ext cx="122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智能问答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F8B22E-FDAB-BAA4-3563-705A47DFD259}"/>
              </a:ext>
            </a:extLst>
          </p:cNvPr>
          <p:cNvSpPr txBox="1"/>
          <p:nvPr/>
        </p:nvSpPr>
        <p:spPr>
          <a:xfrm>
            <a:off x="6773190" y="6277906"/>
            <a:ext cx="122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党团流程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FB39E5A-F6FE-78C6-763A-D6ADD5090BF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136" y="1655696"/>
            <a:ext cx="2365732" cy="456867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3489153-12AA-3F76-5985-11CE98F43362}"/>
              </a:ext>
            </a:extLst>
          </p:cNvPr>
          <p:cNvSpPr txBox="1"/>
          <p:nvPr/>
        </p:nvSpPr>
        <p:spPr>
          <a:xfrm>
            <a:off x="9689960" y="6285582"/>
            <a:ext cx="122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学业分析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2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7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10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2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7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10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7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1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252423" y="907348"/>
            <a:ext cx="2142873" cy="2730155"/>
            <a:chOff x="825548" y="1916131"/>
            <a:chExt cx="2406336" cy="3198665"/>
          </a:xfrm>
        </p:grpSpPr>
        <p:sp>
          <p:nvSpPr>
            <p:cNvPr id="11" name="矩形 10"/>
            <p:cNvSpPr/>
            <p:nvPr/>
          </p:nvSpPr>
          <p:spPr>
            <a:xfrm flipH="1">
              <a:off x="825548" y="1916131"/>
              <a:ext cx="2406336" cy="3198665"/>
            </a:xfrm>
            <a:prstGeom prst="rect">
              <a:avLst/>
            </a:prstGeom>
            <a:solidFill>
              <a:srgbClr val="B3342E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39303" y="4189055"/>
              <a:ext cx="1778826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对接学生端事务流程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形成审批闭环</a:t>
              </a:r>
            </a:p>
          </p:txBody>
        </p:sp>
        <p:sp>
          <p:nvSpPr>
            <p:cNvPr id="13" name="TextBox 76"/>
            <p:cNvSpPr txBox="1"/>
            <p:nvPr/>
          </p:nvSpPr>
          <p:spPr>
            <a:xfrm>
              <a:off x="1423424" y="3621442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审批后台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485102" y="2201348"/>
              <a:ext cx="1095478" cy="1266650"/>
              <a:chOff x="3017838" y="2103438"/>
              <a:chExt cx="152400" cy="176213"/>
            </a:xfrm>
            <a:solidFill>
              <a:srgbClr val="323C50"/>
            </a:solidFill>
          </p:grpSpPr>
          <p:sp>
            <p:nvSpPr>
              <p:cNvPr id="15" name="Freeform 431"/>
              <p:cNvSpPr>
                <a:spLocks noEditPoints="1"/>
              </p:cNvSpPr>
              <p:nvPr/>
            </p:nvSpPr>
            <p:spPr bwMode="auto">
              <a:xfrm>
                <a:off x="3017838" y="2103438"/>
                <a:ext cx="152400" cy="176213"/>
              </a:xfrm>
              <a:custGeom>
                <a:avLst/>
                <a:gdLst>
                  <a:gd name="T0" fmla="*/ 218 w 248"/>
                  <a:gd name="T1" fmla="*/ 40 h 287"/>
                  <a:gd name="T2" fmla="*/ 218 w 248"/>
                  <a:gd name="T3" fmla="*/ 24 h 287"/>
                  <a:gd name="T4" fmla="*/ 193 w 248"/>
                  <a:gd name="T5" fmla="*/ 0 h 287"/>
                  <a:gd name="T6" fmla="*/ 167 w 248"/>
                  <a:gd name="T7" fmla="*/ 24 h 287"/>
                  <a:gd name="T8" fmla="*/ 167 w 248"/>
                  <a:gd name="T9" fmla="*/ 40 h 287"/>
                  <a:gd name="T10" fmla="*/ 150 w 248"/>
                  <a:gd name="T11" fmla="*/ 40 h 287"/>
                  <a:gd name="T12" fmla="*/ 150 w 248"/>
                  <a:gd name="T13" fmla="*/ 24 h 287"/>
                  <a:gd name="T14" fmla="*/ 124 w 248"/>
                  <a:gd name="T15" fmla="*/ 0 h 287"/>
                  <a:gd name="T16" fmla="*/ 98 w 248"/>
                  <a:gd name="T17" fmla="*/ 24 h 287"/>
                  <a:gd name="T18" fmla="*/ 98 w 248"/>
                  <a:gd name="T19" fmla="*/ 40 h 287"/>
                  <a:gd name="T20" fmla="*/ 81 w 248"/>
                  <a:gd name="T21" fmla="*/ 40 h 287"/>
                  <a:gd name="T22" fmla="*/ 81 w 248"/>
                  <a:gd name="T23" fmla="*/ 24 h 287"/>
                  <a:gd name="T24" fmla="*/ 55 w 248"/>
                  <a:gd name="T25" fmla="*/ 0 h 287"/>
                  <a:gd name="T26" fmla="*/ 29 w 248"/>
                  <a:gd name="T27" fmla="*/ 24 h 287"/>
                  <a:gd name="T28" fmla="*/ 29 w 248"/>
                  <a:gd name="T29" fmla="*/ 40 h 287"/>
                  <a:gd name="T30" fmla="*/ 0 w 248"/>
                  <a:gd name="T31" fmla="*/ 40 h 287"/>
                  <a:gd name="T32" fmla="*/ 0 w 248"/>
                  <a:gd name="T33" fmla="*/ 287 h 287"/>
                  <a:gd name="T34" fmla="*/ 248 w 248"/>
                  <a:gd name="T35" fmla="*/ 287 h 287"/>
                  <a:gd name="T36" fmla="*/ 248 w 248"/>
                  <a:gd name="T37" fmla="*/ 40 h 287"/>
                  <a:gd name="T38" fmla="*/ 218 w 248"/>
                  <a:gd name="T39" fmla="*/ 40 h 287"/>
                  <a:gd name="T40" fmla="*/ 181 w 248"/>
                  <a:gd name="T41" fmla="*/ 24 h 287"/>
                  <a:gd name="T42" fmla="*/ 193 w 248"/>
                  <a:gd name="T43" fmla="*/ 14 h 287"/>
                  <a:gd name="T44" fmla="*/ 205 w 248"/>
                  <a:gd name="T45" fmla="*/ 24 h 287"/>
                  <a:gd name="T46" fmla="*/ 205 w 248"/>
                  <a:gd name="T47" fmla="*/ 66 h 287"/>
                  <a:gd name="T48" fmla="*/ 193 w 248"/>
                  <a:gd name="T49" fmla="*/ 76 h 287"/>
                  <a:gd name="T50" fmla="*/ 181 w 248"/>
                  <a:gd name="T51" fmla="*/ 66 h 287"/>
                  <a:gd name="T52" fmla="*/ 181 w 248"/>
                  <a:gd name="T53" fmla="*/ 24 h 287"/>
                  <a:gd name="T54" fmla="*/ 112 w 248"/>
                  <a:gd name="T55" fmla="*/ 24 h 287"/>
                  <a:gd name="T56" fmla="*/ 124 w 248"/>
                  <a:gd name="T57" fmla="*/ 14 h 287"/>
                  <a:gd name="T58" fmla="*/ 136 w 248"/>
                  <a:gd name="T59" fmla="*/ 24 h 287"/>
                  <a:gd name="T60" fmla="*/ 136 w 248"/>
                  <a:gd name="T61" fmla="*/ 66 h 287"/>
                  <a:gd name="T62" fmla="*/ 124 w 248"/>
                  <a:gd name="T63" fmla="*/ 76 h 287"/>
                  <a:gd name="T64" fmla="*/ 112 w 248"/>
                  <a:gd name="T65" fmla="*/ 66 h 287"/>
                  <a:gd name="T66" fmla="*/ 112 w 248"/>
                  <a:gd name="T67" fmla="*/ 24 h 287"/>
                  <a:gd name="T68" fmla="*/ 43 w 248"/>
                  <a:gd name="T69" fmla="*/ 24 h 287"/>
                  <a:gd name="T70" fmla="*/ 55 w 248"/>
                  <a:gd name="T71" fmla="*/ 14 h 287"/>
                  <a:gd name="T72" fmla="*/ 67 w 248"/>
                  <a:gd name="T73" fmla="*/ 24 h 287"/>
                  <a:gd name="T74" fmla="*/ 67 w 248"/>
                  <a:gd name="T75" fmla="*/ 66 h 287"/>
                  <a:gd name="T76" fmla="*/ 55 w 248"/>
                  <a:gd name="T77" fmla="*/ 76 h 287"/>
                  <a:gd name="T78" fmla="*/ 43 w 248"/>
                  <a:gd name="T79" fmla="*/ 66 h 287"/>
                  <a:gd name="T80" fmla="*/ 43 w 248"/>
                  <a:gd name="T81" fmla="*/ 24 h 287"/>
                  <a:gd name="T82" fmla="*/ 227 w 248"/>
                  <a:gd name="T83" fmla="*/ 267 h 287"/>
                  <a:gd name="T84" fmla="*/ 21 w 248"/>
                  <a:gd name="T85" fmla="*/ 267 h 287"/>
                  <a:gd name="T86" fmla="*/ 21 w 248"/>
                  <a:gd name="T87" fmla="*/ 95 h 287"/>
                  <a:gd name="T88" fmla="*/ 227 w 248"/>
                  <a:gd name="T89" fmla="*/ 95 h 287"/>
                  <a:gd name="T90" fmla="*/ 227 w 248"/>
                  <a:gd name="T91" fmla="*/ 267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48" h="287">
                    <a:moveTo>
                      <a:pt x="218" y="40"/>
                    </a:moveTo>
                    <a:cubicBezTo>
                      <a:pt x="218" y="24"/>
                      <a:pt x="218" y="24"/>
                      <a:pt x="218" y="24"/>
                    </a:cubicBezTo>
                    <a:cubicBezTo>
                      <a:pt x="218" y="9"/>
                      <a:pt x="209" y="0"/>
                      <a:pt x="193" y="0"/>
                    </a:cubicBezTo>
                    <a:cubicBezTo>
                      <a:pt x="177" y="0"/>
                      <a:pt x="167" y="9"/>
                      <a:pt x="167" y="24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50" y="24"/>
                      <a:pt x="150" y="24"/>
                      <a:pt x="150" y="24"/>
                    </a:cubicBezTo>
                    <a:cubicBezTo>
                      <a:pt x="150" y="9"/>
                      <a:pt x="140" y="0"/>
                      <a:pt x="124" y="0"/>
                    </a:cubicBezTo>
                    <a:cubicBezTo>
                      <a:pt x="108" y="0"/>
                      <a:pt x="98" y="9"/>
                      <a:pt x="98" y="24"/>
                    </a:cubicBezTo>
                    <a:cubicBezTo>
                      <a:pt x="98" y="40"/>
                      <a:pt x="98" y="40"/>
                      <a:pt x="98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9"/>
                      <a:pt x="71" y="0"/>
                      <a:pt x="55" y="0"/>
                    </a:cubicBezTo>
                    <a:cubicBezTo>
                      <a:pt x="39" y="0"/>
                      <a:pt x="29" y="9"/>
                      <a:pt x="29" y="24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287"/>
                      <a:pt x="0" y="287"/>
                      <a:pt x="0" y="287"/>
                    </a:cubicBezTo>
                    <a:cubicBezTo>
                      <a:pt x="248" y="287"/>
                      <a:pt x="248" y="287"/>
                      <a:pt x="248" y="287"/>
                    </a:cubicBezTo>
                    <a:cubicBezTo>
                      <a:pt x="248" y="40"/>
                      <a:pt x="248" y="40"/>
                      <a:pt x="248" y="40"/>
                    </a:cubicBezTo>
                    <a:lnTo>
                      <a:pt x="218" y="40"/>
                    </a:lnTo>
                    <a:close/>
                    <a:moveTo>
                      <a:pt x="181" y="24"/>
                    </a:moveTo>
                    <a:cubicBezTo>
                      <a:pt x="181" y="17"/>
                      <a:pt x="184" y="14"/>
                      <a:pt x="193" y="14"/>
                    </a:cubicBezTo>
                    <a:cubicBezTo>
                      <a:pt x="201" y="14"/>
                      <a:pt x="205" y="17"/>
                      <a:pt x="205" y="24"/>
                    </a:cubicBezTo>
                    <a:cubicBezTo>
                      <a:pt x="205" y="66"/>
                      <a:pt x="205" y="66"/>
                      <a:pt x="205" y="66"/>
                    </a:cubicBezTo>
                    <a:cubicBezTo>
                      <a:pt x="205" y="73"/>
                      <a:pt x="201" y="76"/>
                      <a:pt x="193" y="76"/>
                    </a:cubicBezTo>
                    <a:cubicBezTo>
                      <a:pt x="184" y="76"/>
                      <a:pt x="181" y="73"/>
                      <a:pt x="181" y="66"/>
                    </a:cubicBezTo>
                    <a:lnTo>
                      <a:pt x="181" y="24"/>
                    </a:lnTo>
                    <a:close/>
                    <a:moveTo>
                      <a:pt x="112" y="24"/>
                    </a:moveTo>
                    <a:cubicBezTo>
                      <a:pt x="112" y="17"/>
                      <a:pt x="115" y="14"/>
                      <a:pt x="124" y="14"/>
                    </a:cubicBezTo>
                    <a:cubicBezTo>
                      <a:pt x="132" y="14"/>
                      <a:pt x="136" y="17"/>
                      <a:pt x="136" y="24"/>
                    </a:cubicBezTo>
                    <a:cubicBezTo>
                      <a:pt x="136" y="66"/>
                      <a:pt x="136" y="66"/>
                      <a:pt x="136" y="66"/>
                    </a:cubicBezTo>
                    <a:cubicBezTo>
                      <a:pt x="136" y="73"/>
                      <a:pt x="132" y="76"/>
                      <a:pt x="124" y="76"/>
                    </a:cubicBezTo>
                    <a:cubicBezTo>
                      <a:pt x="115" y="76"/>
                      <a:pt x="112" y="73"/>
                      <a:pt x="112" y="66"/>
                    </a:cubicBezTo>
                    <a:lnTo>
                      <a:pt x="112" y="24"/>
                    </a:lnTo>
                    <a:close/>
                    <a:moveTo>
                      <a:pt x="43" y="24"/>
                    </a:moveTo>
                    <a:cubicBezTo>
                      <a:pt x="43" y="17"/>
                      <a:pt x="47" y="14"/>
                      <a:pt x="55" y="14"/>
                    </a:cubicBezTo>
                    <a:cubicBezTo>
                      <a:pt x="64" y="14"/>
                      <a:pt x="67" y="17"/>
                      <a:pt x="67" y="24"/>
                    </a:cubicBezTo>
                    <a:cubicBezTo>
                      <a:pt x="67" y="66"/>
                      <a:pt x="67" y="66"/>
                      <a:pt x="67" y="66"/>
                    </a:cubicBezTo>
                    <a:cubicBezTo>
                      <a:pt x="67" y="73"/>
                      <a:pt x="64" y="76"/>
                      <a:pt x="55" y="76"/>
                    </a:cubicBezTo>
                    <a:cubicBezTo>
                      <a:pt x="47" y="76"/>
                      <a:pt x="43" y="73"/>
                      <a:pt x="43" y="66"/>
                    </a:cubicBezTo>
                    <a:lnTo>
                      <a:pt x="43" y="24"/>
                    </a:lnTo>
                    <a:close/>
                    <a:moveTo>
                      <a:pt x="227" y="267"/>
                    </a:moveTo>
                    <a:cubicBezTo>
                      <a:pt x="21" y="267"/>
                      <a:pt x="21" y="267"/>
                      <a:pt x="21" y="267"/>
                    </a:cubicBezTo>
                    <a:cubicBezTo>
                      <a:pt x="21" y="95"/>
                      <a:pt x="21" y="95"/>
                      <a:pt x="21" y="95"/>
                    </a:cubicBezTo>
                    <a:cubicBezTo>
                      <a:pt x="227" y="95"/>
                      <a:pt x="227" y="95"/>
                      <a:pt x="227" y="95"/>
                    </a:cubicBezTo>
                    <a:lnTo>
                      <a:pt x="227" y="26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16" name="Freeform 432"/>
              <p:cNvSpPr/>
              <p:nvPr/>
            </p:nvSpPr>
            <p:spPr bwMode="auto">
              <a:xfrm>
                <a:off x="3052763" y="2182813"/>
                <a:ext cx="41275" cy="63500"/>
              </a:xfrm>
              <a:custGeom>
                <a:avLst/>
                <a:gdLst>
                  <a:gd name="T0" fmla="*/ 66 w 66"/>
                  <a:gd name="T1" fmla="*/ 70 h 102"/>
                  <a:gd name="T2" fmla="*/ 42 w 66"/>
                  <a:gd name="T3" fmla="*/ 46 h 102"/>
                  <a:gd name="T4" fmla="*/ 42 w 66"/>
                  <a:gd name="T5" fmla="*/ 45 h 102"/>
                  <a:gd name="T6" fmla="*/ 64 w 66"/>
                  <a:gd name="T7" fmla="*/ 21 h 102"/>
                  <a:gd name="T8" fmla="*/ 31 w 66"/>
                  <a:gd name="T9" fmla="*/ 0 h 102"/>
                  <a:gd name="T10" fmla="*/ 3 w 66"/>
                  <a:gd name="T11" fmla="*/ 5 h 102"/>
                  <a:gd name="T12" fmla="*/ 5 w 66"/>
                  <a:gd name="T13" fmla="*/ 22 h 102"/>
                  <a:gd name="T14" fmla="*/ 26 w 66"/>
                  <a:gd name="T15" fmla="*/ 17 h 102"/>
                  <a:gd name="T16" fmla="*/ 40 w 66"/>
                  <a:gd name="T17" fmla="*/ 27 h 102"/>
                  <a:gd name="T18" fmla="*/ 19 w 66"/>
                  <a:gd name="T19" fmla="*/ 39 h 102"/>
                  <a:gd name="T20" fmla="*/ 19 w 66"/>
                  <a:gd name="T21" fmla="*/ 57 h 102"/>
                  <a:gd name="T22" fmla="*/ 44 w 66"/>
                  <a:gd name="T23" fmla="*/ 72 h 102"/>
                  <a:gd name="T24" fmla="*/ 27 w 66"/>
                  <a:gd name="T25" fmla="*/ 85 h 102"/>
                  <a:gd name="T26" fmla="*/ 3 w 66"/>
                  <a:gd name="T27" fmla="*/ 80 h 102"/>
                  <a:gd name="T28" fmla="*/ 0 w 66"/>
                  <a:gd name="T29" fmla="*/ 98 h 102"/>
                  <a:gd name="T30" fmla="*/ 25 w 66"/>
                  <a:gd name="T31" fmla="*/ 102 h 102"/>
                  <a:gd name="T32" fmla="*/ 66 w 66"/>
                  <a:gd name="T33" fmla="*/ 7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6" h="102">
                    <a:moveTo>
                      <a:pt x="66" y="70"/>
                    </a:moveTo>
                    <a:cubicBezTo>
                      <a:pt x="66" y="57"/>
                      <a:pt x="58" y="50"/>
                      <a:pt x="42" y="46"/>
                    </a:cubicBezTo>
                    <a:cubicBezTo>
                      <a:pt x="42" y="45"/>
                      <a:pt x="42" y="45"/>
                      <a:pt x="42" y="45"/>
                    </a:cubicBezTo>
                    <a:cubicBezTo>
                      <a:pt x="56" y="41"/>
                      <a:pt x="64" y="33"/>
                      <a:pt x="64" y="21"/>
                    </a:cubicBezTo>
                    <a:cubicBezTo>
                      <a:pt x="64" y="9"/>
                      <a:pt x="52" y="0"/>
                      <a:pt x="31" y="0"/>
                    </a:cubicBezTo>
                    <a:cubicBezTo>
                      <a:pt x="22" y="0"/>
                      <a:pt x="12" y="1"/>
                      <a:pt x="3" y="5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12" y="19"/>
                      <a:pt x="19" y="17"/>
                      <a:pt x="26" y="17"/>
                    </a:cubicBezTo>
                    <a:cubicBezTo>
                      <a:pt x="37" y="17"/>
                      <a:pt x="40" y="21"/>
                      <a:pt x="40" y="27"/>
                    </a:cubicBezTo>
                    <a:cubicBezTo>
                      <a:pt x="40" y="35"/>
                      <a:pt x="32" y="38"/>
                      <a:pt x="19" y="3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38" y="58"/>
                      <a:pt x="44" y="62"/>
                      <a:pt x="44" y="72"/>
                    </a:cubicBezTo>
                    <a:cubicBezTo>
                      <a:pt x="44" y="79"/>
                      <a:pt x="37" y="85"/>
                      <a:pt x="27" y="85"/>
                    </a:cubicBezTo>
                    <a:cubicBezTo>
                      <a:pt x="18" y="85"/>
                      <a:pt x="11" y="83"/>
                      <a:pt x="3" y="80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7" y="100"/>
                      <a:pt x="16" y="102"/>
                      <a:pt x="25" y="102"/>
                    </a:cubicBezTo>
                    <a:cubicBezTo>
                      <a:pt x="48" y="102"/>
                      <a:pt x="66" y="91"/>
                      <a:pt x="66" y="7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17" name="Freeform 433"/>
              <p:cNvSpPr/>
              <p:nvPr/>
            </p:nvSpPr>
            <p:spPr bwMode="auto">
              <a:xfrm>
                <a:off x="3103563" y="2184401"/>
                <a:ext cx="25400" cy="60325"/>
              </a:xfrm>
              <a:custGeom>
                <a:avLst/>
                <a:gdLst>
                  <a:gd name="T0" fmla="*/ 8 w 16"/>
                  <a:gd name="T1" fmla="*/ 10 h 38"/>
                  <a:gd name="T2" fmla="*/ 8 w 16"/>
                  <a:gd name="T3" fmla="*/ 38 h 38"/>
                  <a:gd name="T4" fmla="*/ 16 w 16"/>
                  <a:gd name="T5" fmla="*/ 38 h 38"/>
                  <a:gd name="T6" fmla="*/ 16 w 16"/>
                  <a:gd name="T7" fmla="*/ 0 h 38"/>
                  <a:gd name="T8" fmla="*/ 12 w 16"/>
                  <a:gd name="T9" fmla="*/ 0 h 38"/>
                  <a:gd name="T10" fmla="*/ 0 w 16"/>
                  <a:gd name="T11" fmla="*/ 6 h 38"/>
                  <a:gd name="T12" fmla="*/ 1 w 16"/>
                  <a:gd name="T13" fmla="*/ 13 h 38"/>
                  <a:gd name="T14" fmla="*/ 8 w 16"/>
                  <a:gd name="T15" fmla="*/ 1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38">
                    <a:moveTo>
                      <a:pt x="8" y="10"/>
                    </a:moveTo>
                    <a:lnTo>
                      <a:pt x="8" y="38"/>
                    </a:lnTo>
                    <a:lnTo>
                      <a:pt x="16" y="38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0" y="6"/>
                    </a:lnTo>
                    <a:lnTo>
                      <a:pt x="1" y="13"/>
                    </a:lnTo>
                    <a:lnTo>
                      <a:pt x="8" y="1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266631" y="3888501"/>
            <a:ext cx="2128665" cy="2632879"/>
            <a:chOff x="6240024" y="1916131"/>
            <a:chExt cx="2406336" cy="3198665"/>
          </a:xfrm>
        </p:grpSpPr>
        <p:sp>
          <p:nvSpPr>
            <p:cNvPr id="19" name="矩形 18"/>
            <p:cNvSpPr/>
            <p:nvPr/>
          </p:nvSpPr>
          <p:spPr>
            <a:xfrm flipH="1">
              <a:off x="6240024" y="1916131"/>
              <a:ext cx="2406336" cy="3198665"/>
            </a:xfrm>
            <a:prstGeom prst="rect">
              <a:avLst/>
            </a:prstGeom>
            <a:solidFill>
              <a:srgbClr val="B3342E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553779" y="4189055"/>
              <a:ext cx="1778826" cy="66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面向学院管理人员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统一发布通知公告</a:t>
              </a:r>
            </a:p>
          </p:txBody>
        </p:sp>
        <p:sp>
          <p:nvSpPr>
            <p:cNvPr id="21" name="TextBox 76"/>
            <p:cNvSpPr txBox="1"/>
            <p:nvPr/>
          </p:nvSpPr>
          <p:spPr>
            <a:xfrm>
              <a:off x="6758941" y="3621442"/>
              <a:ext cx="1368502" cy="4860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公告发布</a:t>
              </a: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6858993" y="2371513"/>
              <a:ext cx="1168430" cy="926320"/>
              <a:chOff x="6184901" y="6007101"/>
              <a:chExt cx="176213" cy="139700"/>
            </a:xfrm>
            <a:solidFill>
              <a:srgbClr val="323C50"/>
            </a:solidFill>
          </p:grpSpPr>
          <p:sp>
            <p:nvSpPr>
              <p:cNvPr id="23" name="Freeform 378"/>
              <p:cNvSpPr/>
              <p:nvPr/>
            </p:nvSpPr>
            <p:spPr bwMode="auto">
              <a:xfrm>
                <a:off x="6184901" y="6084888"/>
                <a:ext cx="176213" cy="61913"/>
              </a:xfrm>
              <a:custGeom>
                <a:avLst/>
                <a:gdLst>
                  <a:gd name="T0" fmla="*/ 174 w 288"/>
                  <a:gd name="T1" fmla="*/ 18 h 101"/>
                  <a:gd name="T2" fmla="*/ 174 w 288"/>
                  <a:gd name="T3" fmla="*/ 30 h 101"/>
                  <a:gd name="T4" fmla="*/ 162 w 288"/>
                  <a:gd name="T5" fmla="*/ 30 h 101"/>
                  <a:gd name="T6" fmla="*/ 126 w 288"/>
                  <a:gd name="T7" fmla="*/ 30 h 101"/>
                  <a:gd name="T8" fmla="*/ 114 w 288"/>
                  <a:gd name="T9" fmla="*/ 30 h 101"/>
                  <a:gd name="T10" fmla="*/ 114 w 288"/>
                  <a:gd name="T11" fmla="*/ 18 h 101"/>
                  <a:gd name="T12" fmla="*/ 114 w 288"/>
                  <a:gd name="T13" fmla="*/ 0 h 101"/>
                  <a:gd name="T14" fmla="*/ 0 w 288"/>
                  <a:gd name="T15" fmla="*/ 0 h 101"/>
                  <a:gd name="T16" fmla="*/ 0 w 288"/>
                  <a:gd name="T17" fmla="*/ 86 h 101"/>
                  <a:gd name="T18" fmla="*/ 14 w 288"/>
                  <a:gd name="T19" fmla="*/ 101 h 101"/>
                  <a:gd name="T20" fmla="*/ 274 w 288"/>
                  <a:gd name="T21" fmla="*/ 101 h 101"/>
                  <a:gd name="T22" fmla="*/ 288 w 288"/>
                  <a:gd name="T23" fmla="*/ 86 h 101"/>
                  <a:gd name="T24" fmla="*/ 288 w 288"/>
                  <a:gd name="T25" fmla="*/ 0 h 101"/>
                  <a:gd name="T26" fmla="*/ 174 w 288"/>
                  <a:gd name="T27" fmla="*/ 0 h 101"/>
                  <a:gd name="T28" fmla="*/ 174 w 288"/>
                  <a:gd name="T29" fmla="*/ 18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8" h="101">
                    <a:moveTo>
                      <a:pt x="174" y="18"/>
                    </a:moveTo>
                    <a:cubicBezTo>
                      <a:pt x="174" y="30"/>
                      <a:pt x="174" y="30"/>
                      <a:pt x="174" y="30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26" y="30"/>
                      <a:pt x="126" y="30"/>
                      <a:pt x="126" y="30"/>
                    </a:cubicBezTo>
                    <a:cubicBezTo>
                      <a:pt x="114" y="30"/>
                      <a:pt x="114" y="30"/>
                      <a:pt x="114" y="30"/>
                    </a:cubicBezTo>
                    <a:cubicBezTo>
                      <a:pt x="114" y="18"/>
                      <a:pt x="114" y="18"/>
                      <a:pt x="114" y="18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94"/>
                      <a:pt x="6" y="101"/>
                      <a:pt x="14" y="101"/>
                    </a:cubicBezTo>
                    <a:cubicBezTo>
                      <a:pt x="274" y="101"/>
                      <a:pt x="274" y="101"/>
                      <a:pt x="274" y="101"/>
                    </a:cubicBezTo>
                    <a:cubicBezTo>
                      <a:pt x="282" y="101"/>
                      <a:pt x="288" y="94"/>
                      <a:pt x="288" y="86"/>
                    </a:cubicBezTo>
                    <a:cubicBezTo>
                      <a:pt x="288" y="0"/>
                      <a:pt x="288" y="0"/>
                      <a:pt x="288" y="0"/>
                    </a:cubicBezTo>
                    <a:cubicBezTo>
                      <a:pt x="174" y="0"/>
                      <a:pt x="174" y="0"/>
                      <a:pt x="174" y="0"/>
                    </a:cubicBezTo>
                    <a:lnTo>
                      <a:pt x="174" y="1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24" name="Freeform 379"/>
              <p:cNvSpPr>
                <a:spLocks noEditPoints="1"/>
              </p:cNvSpPr>
              <p:nvPr/>
            </p:nvSpPr>
            <p:spPr bwMode="auto">
              <a:xfrm>
                <a:off x="6184901" y="6007101"/>
                <a:ext cx="176213" cy="68263"/>
              </a:xfrm>
              <a:custGeom>
                <a:avLst/>
                <a:gdLst>
                  <a:gd name="T0" fmla="*/ 114 w 288"/>
                  <a:gd name="T1" fmla="*/ 100 h 110"/>
                  <a:gd name="T2" fmla="*/ 114 w 288"/>
                  <a:gd name="T3" fmla="*/ 88 h 110"/>
                  <a:gd name="T4" fmla="*/ 126 w 288"/>
                  <a:gd name="T5" fmla="*/ 88 h 110"/>
                  <a:gd name="T6" fmla="*/ 162 w 288"/>
                  <a:gd name="T7" fmla="*/ 88 h 110"/>
                  <a:gd name="T8" fmla="*/ 174 w 288"/>
                  <a:gd name="T9" fmla="*/ 88 h 110"/>
                  <a:gd name="T10" fmla="*/ 174 w 288"/>
                  <a:gd name="T11" fmla="*/ 100 h 110"/>
                  <a:gd name="T12" fmla="*/ 174 w 288"/>
                  <a:gd name="T13" fmla="*/ 110 h 110"/>
                  <a:gd name="T14" fmla="*/ 288 w 288"/>
                  <a:gd name="T15" fmla="*/ 110 h 110"/>
                  <a:gd name="T16" fmla="*/ 288 w 288"/>
                  <a:gd name="T17" fmla="*/ 62 h 110"/>
                  <a:gd name="T18" fmla="*/ 274 w 288"/>
                  <a:gd name="T19" fmla="*/ 48 h 110"/>
                  <a:gd name="T20" fmla="*/ 198 w 288"/>
                  <a:gd name="T21" fmla="*/ 48 h 110"/>
                  <a:gd name="T22" fmla="*/ 198 w 288"/>
                  <a:gd name="T23" fmla="*/ 14 h 110"/>
                  <a:gd name="T24" fmla="*/ 184 w 288"/>
                  <a:gd name="T25" fmla="*/ 0 h 110"/>
                  <a:gd name="T26" fmla="*/ 104 w 288"/>
                  <a:gd name="T27" fmla="*/ 0 h 110"/>
                  <a:gd name="T28" fmla="*/ 90 w 288"/>
                  <a:gd name="T29" fmla="*/ 14 h 110"/>
                  <a:gd name="T30" fmla="*/ 90 w 288"/>
                  <a:gd name="T31" fmla="*/ 48 h 110"/>
                  <a:gd name="T32" fmla="*/ 14 w 288"/>
                  <a:gd name="T33" fmla="*/ 48 h 110"/>
                  <a:gd name="T34" fmla="*/ 0 w 288"/>
                  <a:gd name="T35" fmla="*/ 62 h 110"/>
                  <a:gd name="T36" fmla="*/ 0 w 288"/>
                  <a:gd name="T37" fmla="*/ 110 h 110"/>
                  <a:gd name="T38" fmla="*/ 114 w 288"/>
                  <a:gd name="T39" fmla="*/ 110 h 110"/>
                  <a:gd name="T40" fmla="*/ 114 w 288"/>
                  <a:gd name="T41" fmla="*/ 100 h 110"/>
                  <a:gd name="T42" fmla="*/ 114 w 288"/>
                  <a:gd name="T43" fmla="*/ 34 h 110"/>
                  <a:gd name="T44" fmla="*/ 128 w 288"/>
                  <a:gd name="T45" fmla="*/ 20 h 110"/>
                  <a:gd name="T46" fmla="*/ 160 w 288"/>
                  <a:gd name="T47" fmla="*/ 20 h 110"/>
                  <a:gd name="T48" fmla="*/ 174 w 288"/>
                  <a:gd name="T49" fmla="*/ 34 h 110"/>
                  <a:gd name="T50" fmla="*/ 174 w 288"/>
                  <a:gd name="T51" fmla="*/ 48 h 110"/>
                  <a:gd name="T52" fmla="*/ 114 w 288"/>
                  <a:gd name="T53" fmla="*/ 48 h 110"/>
                  <a:gd name="T54" fmla="*/ 114 w 288"/>
                  <a:gd name="T55" fmla="*/ 34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88" h="110">
                    <a:moveTo>
                      <a:pt x="114" y="100"/>
                    </a:moveTo>
                    <a:cubicBezTo>
                      <a:pt x="114" y="88"/>
                      <a:pt x="114" y="88"/>
                      <a:pt x="114" y="88"/>
                    </a:cubicBezTo>
                    <a:cubicBezTo>
                      <a:pt x="126" y="88"/>
                      <a:pt x="126" y="88"/>
                      <a:pt x="126" y="88"/>
                    </a:cubicBezTo>
                    <a:cubicBezTo>
                      <a:pt x="162" y="88"/>
                      <a:pt x="162" y="88"/>
                      <a:pt x="162" y="88"/>
                    </a:cubicBezTo>
                    <a:cubicBezTo>
                      <a:pt x="174" y="88"/>
                      <a:pt x="174" y="88"/>
                      <a:pt x="174" y="88"/>
                    </a:cubicBezTo>
                    <a:cubicBezTo>
                      <a:pt x="174" y="100"/>
                      <a:pt x="174" y="100"/>
                      <a:pt x="174" y="100"/>
                    </a:cubicBezTo>
                    <a:cubicBezTo>
                      <a:pt x="174" y="110"/>
                      <a:pt x="174" y="110"/>
                      <a:pt x="174" y="110"/>
                    </a:cubicBezTo>
                    <a:cubicBezTo>
                      <a:pt x="288" y="110"/>
                      <a:pt x="288" y="110"/>
                      <a:pt x="288" y="110"/>
                    </a:cubicBezTo>
                    <a:cubicBezTo>
                      <a:pt x="288" y="62"/>
                      <a:pt x="288" y="62"/>
                      <a:pt x="288" y="62"/>
                    </a:cubicBezTo>
                    <a:cubicBezTo>
                      <a:pt x="288" y="54"/>
                      <a:pt x="282" y="48"/>
                      <a:pt x="274" y="48"/>
                    </a:cubicBezTo>
                    <a:cubicBezTo>
                      <a:pt x="198" y="48"/>
                      <a:pt x="198" y="48"/>
                      <a:pt x="198" y="48"/>
                    </a:cubicBezTo>
                    <a:cubicBezTo>
                      <a:pt x="198" y="14"/>
                      <a:pt x="198" y="14"/>
                      <a:pt x="198" y="14"/>
                    </a:cubicBezTo>
                    <a:cubicBezTo>
                      <a:pt x="198" y="6"/>
                      <a:pt x="192" y="0"/>
                      <a:pt x="18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96" y="0"/>
                      <a:pt x="90" y="6"/>
                      <a:pt x="90" y="14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6" y="48"/>
                      <a:pt x="0" y="54"/>
                      <a:pt x="0" y="62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114" y="110"/>
                      <a:pt x="114" y="110"/>
                      <a:pt x="114" y="110"/>
                    </a:cubicBezTo>
                    <a:lnTo>
                      <a:pt x="114" y="100"/>
                    </a:lnTo>
                    <a:close/>
                    <a:moveTo>
                      <a:pt x="114" y="34"/>
                    </a:moveTo>
                    <a:cubicBezTo>
                      <a:pt x="114" y="26"/>
                      <a:pt x="120" y="20"/>
                      <a:pt x="128" y="20"/>
                    </a:cubicBezTo>
                    <a:cubicBezTo>
                      <a:pt x="160" y="20"/>
                      <a:pt x="160" y="20"/>
                      <a:pt x="160" y="20"/>
                    </a:cubicBezTo>
                    <a:cubicBezTo>
                      <a:pt x="168" y="20"/>
                      <a:pt x="174" y="26"/>
                      <a:pt x="174" y="34"/>
                    </a:cubicBezTo>
                    <a:cubicBezTo>
                      <a:pt x="174" y="48"/>
                      <a:pt x="174" y="48"/>
                      <a:pt x="174" y="48"/>
                    </a:cubicBezTo>
                    <a:cubicBezTo>
                      <a:pt x="114" y="48"/>
                      <a:pt x="114" y="48"/>
                      <a:pt x="114" y="48"/>
                    </a:cubicBezTo>
                    <a:lnTo>
                      <a:pt x="114" y="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25" name="Rectangle 380"/>
              <p:cNvSpPr>
                <a:spLocks noChangeArrowheads="1"/>
              </p:cNvSpPr>
              <p:nvPr/>
            </p:nvSpPr>
            <p:spPr bwMode="auto">
              <a:xfrm>
                <a:off x="6261101" y="6069013"/>
                <a:ext cx="22225" cy="26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2886663" y="907348"/>
            <a:ext cx="2308335" cy="2730155"/>
            <a:chOff x="3545639" y="1916131"/>
            <a:chExt cx="2406336" cy="3198665"/>
          </a:xfrm>
        </p:grpSpPr>
        <p:sp>
          <p:nvSpPr>
            <p:cNvPr id="27" name="矩形 26"/>
            <p:cNvSpPr/>
            <p:nvPr/>
          </p:nvSpPr>
          <p:spPr>
            <a:xfrm flipH="1">
              <a:off x="3545639" y="1916131"/>
              <a:ext cx="2406336" cy="3198665"/>
            </a:xfrm>
            <a:prstGeom prst="rect">
              <a:avLst/>
            </a:prstGeom>
            <a:solidFill>
              <a:srgbClr val="B3342E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859394" y="4189055"/>
              <a:ext cx="1778826" cy="643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维护模板与资源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支撑学生端使用</a:t>
              </a:r>
            </a:p>
          </p:txBody>
        </p:sp>
        <p:sp>
          <p:nvSpPr>
            <p:cNvPr id="29" name="TextBox 76"/>
            <p:cNvSpPr txBox="1"/>
            <p:nvPr/>
          </p:nvSpPr>
          <p:spPr>
            <a:xfrm>
              <a:off x="4117817" y="3621442"/>
              <a:ext cx="1261984" cy="468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模板管理</a:t>
              </a:r>
            </a:p>
          </p:txBody>
        </p:sp>
        <p:sp>
          <p:nvSpPr>
            <p:cNvPr id="30" name="Freeform 5"/>
            <p:cNvSpPr>
              <a:spLocks noEditPoints="1"/>
            </p:cNvSpPr>
            <p:nvPr/>
          </p:nvSpPr>
          <p:spPr bwMode="auto">
            <a:xfrm>
              <a:off x="4224575" y="2472541"/>
              <a:ext cx="1025715" cy="724265"/>
            </a:xfrm>
            <a:custGeom>
              <a:avLst/>
              <a:gdLst>
                <a:gd name="T0" fmla="*/ 218 w 219"/>
                <a:gd name="T1" fmla="*/ 117 h 154"/>
                <a:gd name="T2" fmla="*/ 219 w 219"/>
                <a:gd name="T3" fmla="*/ 118 h 154"/>
                <a:gd name="T4" fmla="*/ 218 w 219"/>
                <a:gd name="T5" fmla="*/ 119 h 154"/>
                <a:gd name="T6" fmla="*/ 174 w 219"/>
                <a:gd name="T7" fmla="*/ 153 h 154"/>
                <a:gd name="T8" fmla="*/ 172 w 219"/>
                <a:gd name="T9" fmla="*/ 153 h 154"/>
                <a:gd name="T10" fmla="*/ 171 w 219"/>
                <a:gd name="T11" fmla="*/ 151 h 154"/>
                <a:gd name="T12" fmla="*/ 179 w 219"/>
                <a:gd name="T13" fmla="*/ 133 h 154"/>
                <a:gd name="T14" fmla="*/ 113 w 219"/>
                <a:gd name="T15" fmla="*/ 106 h 154"/>
                <a:gd name="T16" fmla="*/ 126 w 219"/>
                <a:gd name="T17" fmla="*/ 89 h 154"/>
                <a:gd name="T18" fmla="*/ 131 w 219"/>
                <a:gd name="T19" fmla="*/ 82 h 154"/>
                <a:gd name="T20" fmla="*/ 179 w 219"/>
                <a:gd name="T21" fmla="*/ 103 h 154"/>
                <a:gd name="T22" fmla="*/ 171 w 219"/>
                <a:gd name="T23" fmla="*/ 85 h 154"/>
                <a:gd name="T24" fmla="*/ 172 w 219"/>
                <a:gd name="T25" fmla="*/ 83 h 154"/>
                <a:gd name="T26" fmla="*/ 173 w 219"/>
                <a:gd name="T27" fmla="*/ 82 h 154"/>
                <a:gd name="T28" fmla="*/ 174 w 219"/>
                <a:gd name="T29" fmla="*/ 83 h 154"/>
                <a:gd name="T30" fmla="*/ 218 w 219"/>
                <a:gd name="T31" fmla="*/ 117 h 154"/>
                <a:gd name="T32" fmla="*/ 45 w 219"/>
                <a:gd name="T33" fmla="*/ 71 h 154"/>
                <a:gd name="T34" fmla="*/ 46 w 219"/>
                <a:gd name="T35" fmla="*/ 71 h 154"/>
                <a:gd name="T36" fmla="*/ 47 w 219"/>
                <a:gd name="T37" fmla="*/ 71 h 154"/>
                <a:gd name="T38" fmla="*/ 47 w 219"/>
                <a:gd name="T39" fmla="*/ 69 h 154"/>
                <a:gd name="T40" fmla="*/ 40 w 219"/>
                <a:gd name="T41" fmla="*/ 50 h 154"/>
                <a:gd name="T42" fmla="*/ 87 w 219"/>
                <a:gd name="T43" fmla="*/ 72 h 154"/>
                <a:gd name="T44" fmla="*/ 93 w 219"/>
                <a:gd name="T45" fmla="*/ 65 h 154"/>
                <a:gd name="T46" fmla="*/ 106 w 219"/>
                <a:gd name="T47" fmla="*/ 49 h 154"/>
                <a:gd name="T48" fmla="*/ 40 w 219"/>
                <a:gd name="T49" fmla="*/ 21 h 154"/>
                <a:gd name="T50" fmla="*/ 47 w 219"/>
                <a:gd name="T51" fmla="*/ 2 h 154"/>
                <a:gd name="T52" fmla="*/ 47 w 219"/>
                <a:gd name="T53" fmla="*/ 0 h 154"/>
                <a:gd name="T54" fmla="*/ 45 w 219"/>
                <a:gd name="T55" fmla="*/ 0 h 154"/>
                <a:gd name="T56" fmla="*/ 0 w 219"/>
                <a:gd name="T57" fmla="*/ 34 h 154"/>
                <a:gd name="T58" fmla="*/ 0 w 219"/>
                <a:gd name="T59" fmla="*/ 35 h 154"/>
                <a:gd name="T60" fmla="*/ 0 w 219"/>
                <a:gd name="T61" fmla="*/ 37 h 154"/>
                <a:gd name="T62" fmla="*/ 45 w 219"/>
                <a:gd name="T63" fmla="*/ 71 h 154"/>
                <a:gd name="T64" fmla="*/ 121 w 219"/>
                <a:gd name="T65" fmla="*/ 86 h 154"/>
                <a:gd name="T66" fmla="*/ 179 w 219"/>
                <a:gd name="T67" fmla="*/ 50 h 154"/>
                <a:gd name="T68" fmla="*/ 171 w 219"/>
                <a:gd name="T69" fmla="*/ 69 h 154"/>
                <a:gd name="T70" fmla="*/ 172 w 219"/>
                <a:gd name="T71" fmla="*/ 71 h 154"/>
                <a:gd name="T72" fmla="*/ 173 w 219"/>
                <a:gd name="T73" fmla="*/ 71 h 154"/>
                <a:gd name="T74" fmla="*/ 174 w 219"/>
                <a:gd name="T75" fmla="*/ 71 h 154"/>
                <a:gd name="T76" fmla="*/ 218 w 219"/>
                <a:gd name="T77" fmla="*/ 37 h 154"/>
                <a:gd name="T78" fmla="*/ 219 w 219"/>
                <a:gd name="T79" fmla="*/ 35 h 154"/>
                <a:gd name="T80" fmla="*/ 218 w 219"/>
                <a:gd name="T81" fmla="*/ 34 h 154"/>
                <a:gd name="T82" fmla="*/ 174 w 219"/>
                <a:gd name="T83" fmla="*/ 0 h 154"/>
                <a:gd name="T84" fmla="*/ 172 w 219"/>
                <a:gd name="T85" fmla="*/ 0 h 154"/>
                <a:gd name="T86" fmla="*/ 171 w 219"/>
                <a:gd name="T87" fmla="*/ 2 h 154"/>
                <a:gd name="T88" fmla="*/ 179 w 219"/>
                <a:gd name="T89" fmla="*/ 21 h 154"/>
                <a:gd name="T90" fmla="*/ 97 w 219"/>
                <a:gd name="T91" fmla="*/ 69 h 154"/>
                <a:gd name="T92" fmla="*/ 40 w 219"/>
                <a:gd name="T93" fmla="*/ 103 h 154"/>
                <a:gd name="T94" fmla="*/ 47 w 219"/>
                <a:gd name="T95" fmla="*/ 85 h 154"/>
                <a:gd name="T96" fmla="*/ 47 w 219"/>
                <a:gd name="T97" fmla="*/ 83 h 154"/>
                <a:gd name="T98" fmla="*/ 46 w 219"/>
                <a:gd name="T99" fmla="*/ 82 h 154"/>
                <a:gd name="T100" fmla="*/ 45 w 219"/>
                <a:gd name="T101" fmla="*/ 83 h 154"/>
                <a:gd name="T102" fmla="*/ 0 w 219"/>
                <a:gd name="T103" fmla="*/ 117 h 154"/>
                <a:gd name="T104" fmla="*/ 0 w 219"/>
                <a:gd name="T105" fmla="*/ 118 h 154"/>
                <a:gd name="T106" fmla="*/ 0 w 219"/>
                <a:gd name="T107" fmla="*/ 119 h 154"/>
                <a:gd name="T108" fmla="*/ 45 w 219"/>
                <a:gd name="T109" fmla="*/ 153 h 154"/>
                <a:gd name="T110" fmla="*/ 47 w 219"/>
                <a:gd name="T111" fmla="*/ 153 h 154"/>
                <a:gd name="T112" fmla="*/ 47 w 219"/>
                <a:gd name="T113" fmla="*/ 151 h 154"/>
                <a:gd name="T114" fmla="*/ 40 w 219"/>
                <a:gd name="T115" fmla="*/ 133 h 154"/>
                <a:gd name="T116" fmla="*/ 121 w 219"/>
                <a:gd name="T117" fmla="*/ 8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19" h="154">
                  <a:moveTo>
                    <a:pt x="218" y="117"/>
                  </a:moveTo>
                  <a:cubicBezTo>
                    <a:pt x="219" y="117"/>
                    <a:pt x="219" y="117"/>
                    <a:pt x="219" y="118"/>
                  </a:cubicBezTo>
                  <a:cubicBezTo>
                    <a:pt x="219" y="119"/>
                    <a:pt x="219" y="119"/>
                    <a:pt x="218" y="119"/>
                  </a:cubicBezTo>
                  <a:cubicBezTo>
                    <a:pt x="174" y="153"/>
                    <a:pt x="174" y="153"/>
                    <a:pt x="174" y="153"/>
                  </a:cubicBezTo>
                  <a:cubicBezTo>
                    <a:pt x="174" y="154"/>
                    <a:pt x="173" y="154"/>
                    <a:pt x="172" y="153"/>
                  </a:cubicBezTo>
                  <a:cubicBezTo>
                    <a:pt x="171" y="153"/>
                    <a:pt x="171" y="152"/>
                    <a:pt x="171" y="151"/>
                  </a:cubicBezTo>
                  <a:cubicBezTo>
                    <a:pt x="179" y="133"/>
                    <a:pt x="179" y="133"/>
                    <a:pt x="179" y="133"/>
                  </a:cubicBezTo>
                  <a:cubicBezTo>
                    <a:pt x="145" y="131"/>
                    <a:pt x="126" y="119"/>
                    <a:pt x="113" y="106"/>
                  </a:cubicBezTo>
                  <a:cubicBezTo>
                    <a:pt x="118" y="100"/>
                    <a:pt x="122" y="94"/>
                    <a:pt x="126" y="89"/>
                  </a:cubicBezTo>
                  <a:cubicBezTo>
                    <a:pt x="128" y="86"/>
                    <a:pt x="130" y="84"/>
                    <a:pt x="131" y="82"/>
                  </a:cubicBezTo>
                  <a:cubicBezTo>
                    <a:pt x="141" y="93"/>
                    <a:pt x="154" y="102"/>
                    <a:pt x="179" y="103"/>
                  </a:cubicBezTo>
                  <a:cubicBezTo>
                    <a:pt x="171" y="85"/>
                    <a:pt x="171" y="85"/>
                    <a:pt x="171" y="85"/>
                  </a:cubicBezTo>
                  <a:cubicBezTo>
                    <a:pt x="171" y="84"/>
                    <a:pt x="171" y="83"/>
                    <a:pt x="172" y="83"/>
                  </a:cubicBezTo>
                  <a:cubicBezTo>
                    <a:pt x="172" y="82"/>
                    <a:pt x="173" y="82"/>
                    <a:pt x="173" y="82"/>
                  </a:cubicBezTo>
                  <a:cubicBezTo>
                    <a:pt x="173" y="82"/>
                    <a:pt x="174" y="82"/>
                    <a:pt x="174" y="83"/>
                  </a:cubicBezTo>
                  <a:lnTo>
                    <a:pt x="218" y="117"/>
                  </a:lnTo>
                  <a:close/>
                  <a:moveTo>
                    <a:pt x="45" y="71"/>
                  </a:moveTo>
                  <a:cubicBezTo>
                    <a:pt x="45" y="71"/>
                    <a:pt x="45" y="71"/>
                    <a:pt x="46" y="71"/>
                  </a:cubicBezTo>
                  <a:cubicBezTo>
                    <a:pt x="46" y="71"/>
                    <a:pt x="46" y="71"/>
                    <a:pt x="47" y="71"/>
                  </a:cubicBezTo>
                  <a:cubicBezTo>
                    <a:pt x="47" y="70"/>
                    <a:pt x="48" y="69"/>
                    <a:pt x="47" y="6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65" y="52"/>
                    <a:pt x="77" y="61"/>
                    <a:pt x="87" y="72"/>
                  </a:cubicBezTo>
                  <a:cubicBezTo>
                    <a:pt x="89" y="70"/>
                    <a:pt x="91" y="68"/>
                    <a:pt x="93" y="65"/>
                  </a:cubicBezTo>
                  <a:cubicBezTo>
                    <a:pt x="96" y="60"/>
                    <a:pt x="101" y="54"/>
                    <a:pt x="106" y="49"/>
                  </a:cubicBezTo>
                  <a:cubicBezTo>
                    <a:pt x="92" y="35"/>
                    <a:pt x="73" y="23"/>
                    <a:pt x="40" y="21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8" y="1"/>
                    <a:pt x="47" y="1"/>
                    <a:pt x="47" y="0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5"/>
                    <a:pt x="0" y="35"/>
                  </a:cubicBezTo>
                  <a:cubicBezTo>
                    <a:pt x="0" y="36"/>
                    <a:pt x="0" y="36"/>
                    <a:pt x="0" y="37"/>
                  </a:cubicBezTo>
                  <a:lnTo>
                    <a:pt x="45" y="71"/>
                  </a:lnTo>
                  <a:close/>
                  <a:moveTo>
                    <a:pt x="121" y="86"/>
                  </a:moveTo>
                  <a:cubicBezTo>
                    <a:pt x="134" y="67"/>
                    <a:pt x="145" y="53"/>
                    <a:pt x="179" y="50"/>
                  </a:cubicBezTo>
                  <a:cubicBezTo>
                    <a:pt x="171" y="69"/>
                    <a:pt x="171" y="69"/>
                    <a:pt x="171" y="69"/>
                  </a:cubicBezTo>
                  <a:cubicBezTo>
                    <a:pt x="171" y="69"/>
                    <a:pt x="171" y="70"/>
                    <a:pt x="172" y="71"/>
                  </a:cubicBezTo>
                  <a:cubicBezTo>
                    <a:pt x="172" y="71"/>
                    <a:pt x="173" y="71"/>
                    <a:pt x="173" y="71"/>
                  </a:cubicBezTo>
                  <a:cubicBezTo>
                    <a:pt x="173" y="71"/>
                    <a:pt x="174" y="71"/>
                    <a:pt x="174" y="71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19" y="36"/>
                    <a:pt x="219" y="36"/>
                    <a:pt x="219" y="35"/>
                  </a:cubicBezTo>
                  <a:cubicBezTo>
                    <a:pt x="219" y="35"/>
                    <a:pt x="219" y="34"/>
                    <a:pt x="218" y="34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4" y="0"/>
                    <a:pt x="173" y="0"/>
                    <a:pt x="172" y="0"/>
                  </a:cubicBezTo>
                  <a:cubicBezTo>
                    <a:pt x="171" y="1"/>
                    <a:pt x="171" y="1"/>
                    <a:pt x="171" y="2"/>
                  </a:cubicBezTo>
                  <a:cubicBezTo>
                    <a:pt x="179" y="21"/>
                    <a:pt x="179" y="21"/>
                    <a:pt x="179" y="21"/>
                  </a:cubicBezTo>
                  <a:cubicBezTo>
                    <a:pt x="130" y="23"/>
                    <a:pt x="112" y="48"/>
                    <a:pt x="97" y="69"/>
                  </a:cubicBezTo>
                  <a:cubicBezTo>
                    <a:pt x="84" y="87"/>
                    <a:pt x="74" y="101"/>
                    <a:pt x="40" y="103"/>
                  </a:cubicBezTo>
                  <a:cubicBezTo>
                    <a:pt x="47" y="85"/>
                    <a:pt x="47" y="85"/>
                    <a:pt x="47" y="85"/>
                  </a:cubicBezTo>
                  <a:cubicBezTo>
                    <a:pt x="48" y="84"/>
                    <a:pt x="47" y="83"/>
                    <a:pt x="47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5" y="82"/>
                    <a:pt x="45" y="82"/>
                    <a:pt x="45" y="83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17"/>
                    <a:pt x="0" y="117"/>
                    <a:pt x="0" y="118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45" y="153"/>
                    <a:pt x="45" y="153"/>
                    <a:pt x="45" y="153"/>
                  </a:cubicBezTo>
                  <a:cubicBezTo>
                    <a:pt x="45" y="154"/>
                    <a:pt x="46" y="154"/>
                    <a:pt x="47" y="153"/>
                  </a:cubicBezTo>
                  <a:cubicBezTo>
                    <a:pt x="47" y="153"/>
                    <a:pt x="48" y="152"/>
                    <a:pt x="47" y="151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89" y="131"/>
                    <a:pt x="107" y="106"/>
                    <a:pt x="121" y="8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14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860918" y="3888501"/>
            <a:ext cx="2334080" cy="2632879"/>
            <a:chOff x="8960115" y="1916131"/>
            <a:chExt cx="2406336" cy="3198665"/>
          </a:xfrm>
        </p:grpSpPr>
        <p:sp>
          <p:nvSpPr>
            <p:cNvPr id="32" name="矩形 31"/>
            <p:cNvSpPr/>
            <p:nvPr/>
          </p:nvSpPr>
          <p:spPr>
            <a:xfrm flipH="1">
              <a:off x="8960115" y="1916131"/>
              <a:ext cx="2406336" cy="3198665"/>
            </a:xfrm>
            <a:prstGeom prst="rect">
              <a:avLst/>
            </a:prstGeom>
            <a:solidFill>
              <a:srgbClr val="B3342E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9273870" y="4189055"/>
              <a:ext cx="1778825" cy="66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API </a:t>
              </a: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文档与 </a:t>
              </a:r>
              <a:r>
                <a:rPr lang="en-US" altLang="zh-CN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Postman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便于前后端联调测试</a:t>
              </a:r>
            </a:p>
          </p:txBody>
        </p:sp>
        <p:sp>
          <p:nvSpPr>
            <p:cNvPr id="34" name="TextBox 76"/>
            <p:cNvSpPr txBox="1"/>
            <p:nvPr/>
          </p:nvSpPr>
          <p:spPr>
            <a:xfrm>
              <a:off x="9539251" y="3621442"/>
              <a:ext cx="1248064" cy="4860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rPr>
                <a:t>联调支撑</a:t>
              </a:r>
            </a:p>
          </p:txBody>
        </p:sp>
        <p:sp>
          <p:nvSpPr>
            <p:cNvPr id="35" name="Freeform 381"/>
            <p:cNvSpPr>
              <a:spLocks noEditPoints="1"/>
            </p:cNvSpPr>
            <p:nvPr/>
          </p:nvSpPr>
          <p:spPr bwMode="auto">
            <a:xfrm>
              <a:off x="9685411" y="2333482"/>
              <a:ext cx="1002382" cy="1002382"/>
            </a:xfrm>
            <a:custGeom>
              <a:avLst/>
              <a:gdLst>
                <a:gd name="T0" fmla="*/ 144 w 288"/>
                <a:gd name="T1" fmla="*/ 0 h 288"/>
                <a:gd name="T2" fmla="*/ 0 w 288"/>
                <a:gd name="T3" fmla="*/ 144 h 288"/>
                <a:gd name="T4" fmla="*/ 144 w 288"/>
                <a:gd name="T5" fmla="*/ 288 h 288"/>
                <a:gd name="T6" fmla="*/ 288 w 288"/>
                <a:gd name="T7" fmla="*/ 144 h 288"/>
                <a:gd name="T8" fmla="*/ 144 w 288"/>
                <a:gd name="T9" fmla="*/ 0 h 288"/>
                <a:gd name="T10" fmla="*/ 197 w 288"/>
                <a:gd name="T11" fmla="*/ 136 h 288"/>
                <a:gd name="T12" fmla="*/ 194 w 288"/>
                <a:gd name="T13" fmla="*/ 99 h 288"/>
                <a:gd name="T14" fmla="*/ 242 w 288"/>
                <a:gd name="T15" fmla="*/ 99 h 288"/>
                <a:gd name="T16" fmla="*/ 252 w 288"/>
                <a:gd name="T17" fmla="*/ 136 h 288"/>
                <a:gd name="T18" fmla="*/ 197 w 288"/>
                <a:gd name="T19" fmla="*/ 136 h 288"/>
                <a:gd name="T20" fmla="*/ 37 w 288"/>
                <a:gd name="T21" fmla="*/ 136 h 288"/>
                <a:gd name="T22" fmla="*/ 46 w 288"/>
                <a:gd name="T23" fmla="*/ 99 h 288"/>
                <a:gd name="T24" fmla="*/ 95 w 288"/>
                <a:gd name="T25" fmla="*/ 99 h 288"/>
                <a:gd name="T26" fmla="*/ 92 w 288"/>
                <a:gd name="T27" fmla="*/ 136 h 288"/>
                <a:gd name="T28" fmla="*/ 37 w 288"/>
                <a:gd name="T29" fmla="*/ 136 h 288"/>
                <a:gd name="T30" fmla="*/ 111 w 288"/>
                <a:gd name="T31" fmla="*/ 99 h 288"/>
                <a:gd name="T32" fmla="*/ 178 w 288"/>
                <a:gd name="T33" fmla="*/ 99 h 288"/>
                <a:gd name="T34" fmla="*/ 181 w 288"/>
                <a:gd name="T35" fmla="*/ 136 h 288"/>
                <a:gd name="T36" fmla="*/ 108 w 288"/>
                <a:gd name="T37" fmla="*/ 136 h 288"/>
                <a:gd name="T38" fmla="*/ 111 w 288"/>
                <a:gd name="T39" fmla="*/ 99 h 288"/>
                <a:gd name="T40" fmla="*/ 37 w 288"/>
                <a:gd name="T41" fmla="*/ 152 h 288"/>
                <a:gd name="T42" fmla="*/ 92 w 288"/>
                <a:gd name="T43" fmla="*/ 152 h 288"/>
                <a:gd name="T44" fmla="*/ 95 w 288"/>
                <a:gd name="T45" fmla="*/ 190 h 288"/>
                <a:gd name="T46" fmla="*/ 47 w 288"/>
                <a:gd name="T47" fmla="*/ 190 h 288"/>
                <a:gd name="T48" fmla="*/ 37 w 288"/>
                <a:gd name="T49" fmla="*/ 152 h 288"/>
                <a:gd name="T50" fmla="*/ 108 w 288"/>
                <a:gd name="T51" fmla="*/ 152 h 288"/>
                <a:gd name="T52" fmla="*/ 181 w 288"/>
                <a:gd name="T53" fmla="*/ 152 h 288"/>
                <a:gd name="T54" fmla="*/ 178 w 288"/>
                <a:gd name="T55" fmla="*/ 190 h 288"/>
                <a:gd name="T56" fmla="*/ 111 w 288"/>
                <a:gd name="T57" fmla="*/ 190 h 288"/>
                <a:gd name="T58" fmla="*/ 108 w 288"/>
                <a:gd name="T59" fmla="*/ 152 h 288"/>
                <a:gd name="T60" fmla="*/ 197 w 288"/>
                <a:gd name="T61" fmla="*/ 152 h 288"/>
                <a:gd name="T62" fmla="*/ 252 w 288"/>
                <a:gd name="T63" fmla="*/ 152 h 288"/>
                <a:gd name="T64" fmla="*/ 242 w 288"/>
                <a:gd name="T65" fmla="*/ 190 h 288"/>
                <a:gd name="T66" fmla="*/ 194 w 288"/>
                <a:gd name="T67" fmla="*/ 190 h 288"/>
                <a:gd name="T68" fmla="*/ 197 w 288"/>
                <a:gd name="T69" fmla="*/ 152 h 288"/>
                <a:gd name="T70" fmla="*/ 233 w 288"/>
                <a:gd name="T71" fmla="*/ 82 h 288"/>
                <a:gd name="T72" fmla="*/ 191 w 288"/>
                <a:gd name="T73" fmla="*/ 82 h 288"/>
                <a:gd name="T74" fmla="*/ 180 w 288"/>
                <a:gd name="T75" fmla="*/ 42 h 288"/>
                <a:gd name="T76" fmla="*/ 233 w 288"/>
                <a:gd name="T77" fmla="*/ 82 h 288"/>
                <a:gd name="T78" fmla="*/ 160 w 288"/>
                <a:gd name="T79" fmla="*/ 37 h 288"/>
                <a:gd name="T80" fmla="*/ 175 w 288"/>
                <a:gd name="T81" fmla="*/ 82 h 288"/>
                <a:gd name="T82" fmla="*/ 114 w 288"/>
                <a:gd name="T83" fmla="*/ 82 h 288"/>
                <a:gd name="T84" fmla="*/ 128 w 288"/>
                <a:gd name="T85" fmla="*/ 37 h 288"/>
                <a:gd name="T86" fmla="*/ 144 w 288"/>
                <a:gd name="T87" fmla="*/ 36 h 288"/>
                <a:gd name="T88" fmla="*/ 160 w 288"/>
                <a:gd name="T89" fmla="*/ 37 h 288"/>
                <a:gd name="T90" fmla="*/ 109 w 288"/>
                <a:gd name="T91" fmla="*/ 42 h 288"/>
                <a:gd name="T92" fmla="*/ 97 w 288"/>
                <a:gd name="T93" fmla="*/ 82 h 288"/>
                <a:gd name="T94" fmla="*/ 56 w 288"/>
                <a:gd name="T95" fmla="*/ 82 h 288"/>
                <a:gd name="T96" fmla="*/ 109 w 288"/>
                <a:gd name="T97" fmla="*/ 42 h 288"/>
                <a:gd name="T98" fmla="*/ 56 w 288"/>
                <a:gd name="T99" fmla="*/ 206 h 288"/>
                <a:gd name="T100" fmla="*/ 97 w 288"/>
                <a:gd name="T101" fmla="*/ 206 h 288"/>
                <a:gd name="T102" fmla="*/ 109 w 288"/>
                <a:gd name="T103" fmla="*/ 246 h 288"/>
                <a:gd name="T104" fmla="*/ 56 w 288"/>
                <a:gd name="T105" fmla="*/ 206 h 288"/>
                <a:gd name="T106" fmla="*/ 128 w 288"/>
                <a:gd name="T107" fmla="*/ 251 h 288"/>
                <a:gd name="T108" fmla="*/ 114 w 288"/>
                <a:gd name="T109" fmla="*/ 206 h 288"/>
                <a:gd name="T110" fmla="*/ 175 w 288"/>
                <a:gd name="T111" fmla="*/ 206 h 288"/>
                <a:gd name="T112" fmla="*/ 160 w 288"/>
                <a:gd name="T113" fmla="*/ 251 h 288"/>
                <a:gd name="T114" fmla="*/ 144 w 288"/>
                <a:gd name="T115" fmla="*/ 252 h 288"/>
                <a:gd name="T116" fmla="*/ 128 w 288"/>
                <a:gd name="T117" fmla="*/ 251 h 288"/>
                <a:gd name="T118" fmla="*/ 180 w 288"/>
                <a:gd name="T119" fmla="*/ 246 h 288"/>
                <a:gd name="T120" fmla="*/ 191 w 288"/>
                <a:gd name="T121" fmla="*/ 206 h 288"/>
                <a:gd name="T122" fmla="*/ 232 w 288"/>
                <a:gd name="T123" fmla="*/ 206 h 288"/>
                <a:gd name="T124" fmla="*/ 180 w 288"/>
                <a:gd name="T125" fmla="*/ 24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8" h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224"/>
                    <a:pt x="65" y="288"/>
                    <a:pt x="144" y="288"/>
                  </a:cubicBezTo>
                  <a:cubicBezTo>
                    <a:pt x="224" y="288"/>
                    <a:pt x="288" y="22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  <a:moveTo>
                    <a:pt x="197" y="136"/>
                  </a:moveTo>
                  <a:cubicBezTo>
                    <a:pt x="197" y="123"/>
                    <a:pt x="196" y="110"/>
                    <a:pt x="194" y="99"/>
                  </a:cubicBezTo>
                  <a:cubicBezTo>
                    <a:pt x="242" y="99"/>
                    <a:pt x="242" y="99"/>
                    <a:pt x="242" y="99"/>
                  </a:cubicBezTo>
                  <a:cubicBezTo>
                    <a:pt x="247" y="110"/>
                    <a:pt x="251" y="123"/>
                    <a:pt x="252" y="136"/>
                  </a:cubicBezTo>
                  <a:lnTo>
                    <a:pt x="197" y="136"/>
                  </a:lnTo>
                  <a:close/>
                  <a:moveTo>
                    <a:pt x="37" y="136"/>
                  </a:moveTo>
                  <a:cubicBezTo>
                    <a:pt x="38" y="123"/>
                    <a:pt x="41" y="110"/>
                    <a:pt x="46" y="99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93" y="110"/>
                    <a:pt x="92" y="123"/>
                    <a:pt x="92" y="136"/>
                  </a:cubicBezTo>
                  <a:lnTo>
                    <a:pt x="37" y="136"/>
                  </a:lnTo>
                  <a:close/>
                  <a:moveTo>
                    <a:pt x="111" y="99"/>
                  </a:moveTo>
                  <a:cubicBezTo>
                    <a:pt x="178" y="99"/>
                    <a:pt x="178" y="99"/>
                    <a:pt x="178" y="99"/>
                  </a:cubicBezTo>
                  <a:cubicBezTo>
                    <a:pt x="179" y="110"/>
                    <a:pt x="181" y="123"/>
                    <a:pt x="181" y="136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8" y="123"/>
                    <a:pt x="109" y="110"/>
                    <a:pt x="111" y="99"/>
                  </a:cubicBezTo>
                  <a:close/>
                  <a:moveTo>
                    <a:pt x="37" y="152"/>
                  </a:moveTo>
                  <a:cubicBezTo>
                    <a:pt x="92" y="152"/>
                    <a:pt x="92" y="152"/>
                    <a:pt x="92" y="152"/>
                  </a:cubicBezTo>
                  <a:cubicBezTo>
                    <a:pt x="92" y="166"/>
                    <a:pt x="93" y="179"/>
                    <a:pt x="95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1" y="179"/>
                    <a:pt x="38" y="166"/>
                    <a:pt x="37" y="152"/>
                  </a:cubicBezTo>
                  <a:close/>
                  <a:moveTo>
                    <a:pt x="108" y="152"/>
                  </a:moveTo>
                  <a:cubicBezTo>
                    <a:pt x="181" y="152"/>
                    <a:pt x="181" y="152"/>
                    <a:pt x="181" y="152"/>
                  </a:cubicBezTo>
                  <a:cubicBezTo>
                    <a:pt x="180" y="166"/>
                    <a:pt x="179" y="179"/>
                    <a:pt x="178" y="190"/>
                  </a:cubicBezTo>
                  <a:cubicBezTo>
                    <a:pt x="111" y="190"/>
                    <a:pt x="111" y="190"/>
                    <a:pt x="111" y="190"/>
                  </a:cubicBezTo>
                  <a:cubicBezTo>
                    <a:pt x="109" y="179"/>
                    <a:pt x="108" y="166"/>
                    <a:pt x="108" y="152"/>
                  </a:cubicBezTo>
                  <a:close/>
                  <a:moveTo>
                    <a:pt x="197" y="152"/>
                  </a:moveTo>
                  <a:cubicBezTo>
                    <a:pt x="252" y="152"/>
                    <a:pt x="252" y="152"/>
                    <a:pt x="252" y="152"/>
                  </a:cubicBezTo>
                  <a:cubicBezTo>
                    <a:pt x="251" y="166"/>
                    <a:pt x="247" y="179"/>
                    <a:pt x="242" y="190"/>
                  </a:cubicBezTo>
                  <a:cubicBezTo>
                    <a:pt x="194" y="190"/>
                    <a:pt x="194" y="190"/>
                    <a:pt x="194" y="190"/>
                  </a:cubicBezTo>
                  <a:cubicBezTo>
                    <a:pt x="196" y="179"/>
                    <a:pt x="197" y="166"/>
                    <a:pt x="197" y="152"/>
                  </a:cubicBezTo>
                  <a:close/>
                  <a:moveTo>
                    <a:pt x="233" y="82"/>
                  </a:moveTo>
                  <a:cubicBezTo>
                    <a:pt x="191" y="82"/>
                    <a:pt x="191" y="82"/>
                    <a:pt x="191" y="82"/>
                  </a:cubicBezTo>
                  <a:cubicBezTo>
                    <a:pt x="188" y="67"/>
                    <a:pt x="184" y="53"/>
                    <a:pt x="180" y="42"/>
                  </a:cubicBezTo>
                  <a:cubicBezTo>
                    <a:pt x="201" y="50"/>
                    <a:pt x="220" y="64"/>
                    <a:pt x="233" y="82"/>
                  </a:cubicBezTo>
                  <a:close/>
                  <a:moveTo>
                    <a:pt x="160" y="37"/>
                  </a:moveTo>
                  <a:cubicBezTo>
                    <a:pt x="166" y="49"/>
                    <a:pt x="171" y="64"/>
                    <a:pt x="175" y="82"/>
                  </a:cubicBezTo>
                  <a:cubicBezTo>
                    <a:pt x="114" y="82"/>
                    <a:pt x="114" y="82"/>
                    <a:pt x="114" y="82"/>
                  </a:cubicBezTo>
                  <a:cubicBezTo>
                    <a:pt x="118" y="64"/>
                    <a:pt x="123" y="49"/>
                    <a:pt x="128" y="37"/>
                  </a:cubicBezTo>
                  <a:cubicBezTo>
                    <a:pt x="134" y="37"/>
                    <a:pt x="139" y="36"/>
                    <a:pt x="144" y="36"/>
                  </a:cubicBezTo>
                  <a:cubicBezTo>
                    <a:pt x="150" y="36"/>
                    <a:pt x="155" y="37"/>
                    <a:pt x="160" y="37"/>
                  </a:cubicBezTo>
                  <a:close/>
                  <a:moveTo>
                    <a:pt x="109" y="42"/>
                  </a:moveTo>
                  <a:cubicBezTo>
                    <a:pt x="104" y="53"/>
                    <a:pt x="100" y="67"/>
                    <a:pt x="97" y="82"/>
                  </a:cubicBezTo>
                  <a:cubicBezTo>
                    <a:pt x="56" y="82"/>
                    <a:pt x="56" y="82"/>
                    <a:pt x="56" y="82"/>
                  </a:cubicBezTo>
                  <a:cubicBezTo>
                    <a:pt x="69" y="64"/>
                    <a:pt x="87" y="50"/>
                    <a:pt x="109" y="42"/>
                  </a:cubicBezTo>
                  <a:close/>
                  <a:moveTo>
                    <a:pt x="56" y="206"/>
                  </a:moveTo>
                  <a:cubicBezTo>
                    <a:pt x="97" y="206"/>
                    <a:pt x="97" y="206"/>
                    <a:pt x="97" y="206"/>
                  </a:cubicBezTo>
                  <a:cubicBezTo>
                    <a:pt x="100" y="222"/>
                    <a:pt x="104" y="235"/>
                    <a:pt x="109" y="246"/>
                  </a:cubicBezTo>
                  <a:cubicBezTo>
                    <a:pt x="87" y="239"/>
                    <a:pt x="69" y="225"/>
                    <a:pt x="56" y="206"/>
                  </a:cubicBezTo>
                  <a:close/>
                  <a:moveTo>
                    <a:pt x="128" y="251"/>
                  </a:moveTo>
                  <a:cubicBezTo>
                    <a:pt x="123" y="240"/>
                    <a:pt x="118" y="225"/>
                    <a:pt x="114" y="206"/>
                  </a:cubicBezTo>
                  <a:cubicBezTo>
                    <a:pt x="175" y="206"/>
                    <a:pt x="175" y="206"/>
                    <a:pt x="175" y="206"/>
                  </a:cubicBezTo>
                  <a:cubicBezTo>
                    <a:pt x="171" y="225"/>
                    <a:pt x="166" y="240"/>
                    <a:pt x="160" y="251"/>
                  </a:cubicBezTo>
                  <a:cubicBezTo>
                    <a:pt x="155" y="252"/>
                    <a:pt x="150" y="252"/>
                    <a:pt x="144" y="252"/>
                  </a:cubicBezTo>
                  <a:cubicBezTo>
                    <a:pt x="139" y="252"/>
                    <a:pt x="133" y="252"/>
                    <a:pt x="128" y="251"/>
                  </a:cubicBezTo>
                  <a:close/>
                  <a:moveTo>
                    <a:pt x="180" y="246"/>
                  </a:moveTo>
                  <a:cubicBezTo>
                    <a:pt x="184" y="235"/>
                    <a:pt x="188" y="222"/>
                    <a:pt x="191" y="206"/>
                  </a:cubicBezTo>
                  <a:cubicBezTo>
                    <a:pt x="232" y="206"/>
                    <a:pt x="232" y="206"/>
                    <a:pt x="232" y="206"/>
                  </a:cubicBezTo>
                  <a:cubicBezTo>
                    <a:pt x="219" y="225"/>
                    <a:pt x="201" y="238"/>
                    <a:pt x="180" y="2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1" name="TextBox 40_1"/>
          <p:cNvSpPr txBox="1"/>
          <p:nvPr/>
        </p:nvSpPr>
        <p:spPr>
          <a:xfrm>
            <a:off x="366579" y="203086"/>
            <a:ext cx="331508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b="1" dirty="0"/>
              <a:t>管理后台功能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42" name="Freeform 14_1"/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BE47D6B-1672-D7BE-8C1E-DA744D1403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35" y="999312"/>
            <a:ext cx="6713759" cy="38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918BB4C-D1B6-F25F-CDF8-F946655CFA08}"/>
              </a:ext>
            </a:extLst>
          </p:cNvPr>
          <p:cNvSpPr txBox="1"/>
          <p:nvPr/>
        </p:nvSpPr>
        <p:spPr>
          <a:xfrm>
            <a:off x="5240235" y="563648"/>
            <a:ext cx="1208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后台总览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2A9EC5-BEC3-5E5A-7F8D-57B2CDB35E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801" y="2231912"/>
            <a:ext cx="3656769" cy="38515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C45B5EA-F449-6429-846E-BD24593D0B3D}"/>
              </a:ext>
            </a:extLst>
          </p:cNvPr>
          <p:cNvSpPr txBox="1"/>
          <p:nvPr/>
        </p:nvSpPr>
        <p:spPr>
          <a:xfrm>
            <a:off x="7277296" y="6123781"/>
            <a:ext cx="3656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手册与测试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7F13-0C92-41A9-56FD-B8F3836B8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0_1">
            <a:extLst>
              <a:ext uri="{FF2B5EF4-FFF2-40B4-BE49-F238E27FC236}">
                <a16:creationId xmlns:a16="http://schemas.microsoft.com/office/drawing/2014/main" id="{F0DBAA4A-B662-BD39-2A1A-F48469F64D64}"/>
              </a:ext>
            </a:extLst>
          </p:cNvPr>
          <p:cNvSpPr txBox="1"/>
          <p:nvPr/>
        </p:nvSpPr>
        <p:spPr>
          <a:xfrm>
            <a:off x="366579" y="203086"/>
            <a:ext cx="5536680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b="1" dirty="0"/>
              <a:t>典型场景：学业分析功能开发</a:t>
            </a:r>
            <a:endParaRPr lang="zh-CN" altLang="zh-CN" sz="2800" b="1" dirty="0"/>
          </a:p>
        </p:txBody>
      </p:sp>
      <p:sp>
        <p:nvSpPr>
          <p:cNvPr id="22" name="Freeform 14_1">
            <a:extLst>
              <a:ext uri="{FF2B5EF4-FFF2-40B4-BE49-F238E27FC236}">
                <a16:creationId xmlns:a16="http://schemas.microsoft.com/office/drawing/2014/main" id="{45C80DEC-191E-8327-3760-41EF0FA1B86C}"/>
              </a:ext>
            </a:extLst>
          </p:cNvPr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>
            <a:extLst>
              <a:ext uri="{FF2B5EF4-FFF2-40B4-BE49-F238E27FC236}">
                <a16:creationId xmlns:a16="http://schemas.microsoft.com/office/drawing/2014/main" id="{4D76FE00-8840-1633-202A-5811FF2E85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A294A21-7B13-BD62-1030-EF820EC873D6}"/>
              </a:ext>
            </a:extLst>
          </p:cNvPr>
          <p:cNvSpPr txBox="1"/>
          <p:nvPr/>
        </p:nvSpPr>
        <p:spPr>
          <a:xfrm>
            <a:off x="4073794" y="6334780"/>
            <a:ext cx="3658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学业分析成果展示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AE255C-59F0-7237-4E66-75FEC44B09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21" y="920943"/>
            <a:ext cx="2525435" cy="53170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884D314-CAC9-425D-3089-2494F8477D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318" y="920943"/>
            <a:ext cx="2601082" cy="53170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E156D74-B9B7-6D94-FB49-0E36A082A5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262" y="920943"/>
            <a:ext cx="2601083" cy="53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6DBD6-9231-513F-730F-AE8E3EF0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0_1">
            <a:extLst>
              <a:ext uri="{FF2B5EF4-FFF2-40B4-BE49-F238E27FC236}">
                <a16:creationId xmlns:a16="http://schemas.microsoft.com/office/drawing/2014/main" id="{AB26F95F-FB8B-916A-81DB-3ABF61886F5D}"/>
              </a:ext>
            </a:extLst>
          </p:cNvPr>
          <p:cNvSpPr txBox="1"/>
          <p:nvPr/>
        </p:nvSpPr>
        <p:spPr>
          <a:xfrm>
            <a:off x="366579" y="203086"/>
            <a:ext cx="5536680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b="1" dirty="0"/>
              <a:t>典型场景：学业分析功能开发</a:t>
            </a:r>
            <a:endParaRPr lang="zh-CN" altLang="zh-CN" sz="2800" b="1" dirty="0"/>
          </a:p>
        </p:txBody>
      </p:sp>
      <p:sp>
        <p:nvSpPr>
          <p:cNvPr id="22" name="Freeform 14_1">
            <a:extLst>
              <a:ext uri="{FF2B5EF4-FFF2-40B4-BE49-F238E27FC236}">
                <a16:creationId xmlns:a16="http://schemas.microsoft.com/office/drawing/2014/main" id="{502B806C-7EF9-DF0B-B650-1D236DA56114}"/>
              </a:ext>
            </a:extLst>
          </p:cNvPr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>
            <a:extLst>
              <a:ext uri="{FF2B5EF4-FFF2-40B4-BE49-F238E27FC236}">
                <a16:creationId xmlns:a16="http://schemas.microsoft.com/office/drawing/2014/main" id="{D727656E-E585-E194-4725-AD5D3F77BA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3DAA91D-0B3C-BE7A-A4C2-3B224A300452}"/>
              </a:ext>
            </a:extLst>
          </p:cNvPr>
          <p:cNvSpPr txBox="1"/>
          <p:nvPr/>
        </p:nvSpPr>
        <p:spPr>
          <a:xfrm>
            <a:off x="5903259" y="1613648"/>
            <a:ext cx="56746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具体流程是：首先在 </a:t>
            </a:r>
            <a:r>
              <a:rPr lang="en-US" altLang="zh-CN" sz="2800" dirty="0"/>
              <a:t>Service </a:t>
            </a:r>
            <a:r>
              <a:rPr lang="zh-CN" altLang="en-US" sz="2800" dirty="0"/>
              <a:t>层定义上传和分析接口的 </a:t>
            </a:r>
            <a:r>
              <a:rPr lang="en-US" altLang="zh-CN" sz="2800" dirty="0"/>
              <a:t>Mock </a:t>
            </a:r>
            <a:r>
              <a:rPr lang="zh-CN" altLang="en-US" sz="2800" dirty="0"/>
              <a:t>数据；在上传页，我们实现了前端对文件格式和大小的校验；分析结果页通过组件展示学分进度和选课建议。在此期间，我们用 </a:t>
            </a:r>
            <a:r>
              <a:rPr lang="en-US" altLang="zh-CN" sz="2800" dirty="0"/>
              <a:t>AI agent </a:t>
            </a:r>
            <a:r>
              <a:rPr lang="zh-CN" altLang="en-US" sz="2800" dirty="0"/>
              <a:t>快速搭建页面骨架，然后人工死磕交互细节，实现了 </a:t>
            </a:r>
            <a:r>
              <a:rPr lang="en-US" altLang="zh-CN" sz="2800" dirty="0"/>
              <a:t>AI </a:t>
            </a:r>
            <a:r>
              <a:rPr lang="zh-CN" altLang="en-US" sz="2800" dirty="0"/>
              <a:t>与人工的优势互补。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E2C5C3C-662B-FF87-4B91-C60815B9DA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72" y="962025"/>
            <a:ext cx="5182694" cy="505609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FC495CC-F494-C612-A9D2-AA2A87471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078" y="962025"/>
            <a:ext cx="4273681" cy="505609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444E096-6C05-898B-829D-054705EFBF83}"/>
              </a:ext>
            </a:extLst>
          </p:cNvPr>
          <p:cNvSpPr txBox="1"/>
          <p:nvPr/>
        </p:nvSpPr>
        <p:spPr>
          <a:xfrm>
            <a:off x="1828800" y="6225987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交互示例</a:t>
            </a:r>
          </a:p>
        </p:txBody>
      </p:sp>
    </p:spTree>
    <p:extLst>
      <p:ext uri="{BB962C8B-B14F-4D97-AF65-F5344CB8AC3E}">
        <p14:creationId xmlns:p14="http://schemas.microsoft.com/office/powerpoint/2010/main" val="199918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DB1CB-AA40-3F22-AD16-F37CC0F15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40_1">
            <a:extLst>
              <a:ext uri="{FF2B5EF4-FFF2-40B4-BE49-F238E27FC236}">
                <a16:creationId xmlns:a16="http://schemas.microsoft.com/office/drawing/2014/main" id="{89C00303-E569-C8FA-5C14-1F852D28070F}"/>
              </a:ext>
            </a:extLst>
          </p:cNvPr>
          <p:cNvSpPr txBox="1"/>
          <p:nvPr/>
        </p:nvSpPr>
        <p:spPr>
          <a:xfrm>
            <a:off x="366578" y="203086"/>
            <a:ext cx="3667539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zh-CN" sz="2800" b="1" dirty="0"/>
              <a:t>测试策略与缺陷修复</a:t>
            </a:r>
          </a:p>
        </p:txBody>
      </p:sp>
      <p:sp>
        <p:nvSpPr>
          <p:cNvPr id="36" name="Freeform 14_1">
            <a:extLst>
              <a:ext uri="{FF2B5EF4-FFF2-40B4-BE49-F238E27FC236}">
                <a16:creationId xmlns:a16="http://schemas.microsoft.com/office/drawing/2014/main" id="{5DC28B11-8CA6-BF3C-2271-5617C32950F6}"/>
              </a:ext>
            </a:extLst>
          </p:cNvPr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>
            <a:extLst>
              <a:ext uri="{FF2B5EF4-FFF2-40B4-BE49-F238E27FC236}">
                <a16:creationId xmlns:a16="http://schemas.microsoft.com/office/drawing/2014/main" id="{1EE19CBF-898F-13CE-2000-CCE919E5B8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9553F1F-B625-BC94-EEF9-2C32D8FC97A6}"/>
              </a:ext>
            </a:extLst>
          </p:cNvPr>
          <p:cNvSpPr txBox="1"/>
          <p:nvPr/>
        </p:nvSpPr>
        <p:spPr>
          <a:xfrm>
            <a:off x="490465" y="1120769"/>
            <a:ext cx="404119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在测试环节，我们在 docs/ 下编写了测试文档，采用</a:t>
            </a:r>
            <a:r>
              <a:rPr lang="zh-CN" altLang="en-US" sz="2400" dirty="0"/>
              <a:t>人工测试为主</a:t>
            </a:r>
            <a:r>
              <a:rPr lang="zh-CN" altLang="zh-CN" sz="2400" dirty="0"/>
              <a:t>的策略。其中功能点覆盖达标，核心业务测试 100% 通过。</a:t>
            </a:r>
            <a:endParaRPr lang="en-US" altLang="zh-CN" sz="2400" dirty="0"/>
          </a:p>
          <a:p>
            <a:r>
              <a:rPr lang="zh-CN" altLang="zh-CN" sz="2400" dirty="0"/>
              <a:t>在异常测试中，我们发现了一个典型缺陷：原本管理员导入 Excel 名单时，如果填错年级或输入不存在的专业也能强行导入。发现后，我们立刻在后端加入了白名单和正则拦截机制，修复了这一安全漏洞。</a:t>
            </a:r>
          </a:p>
          <a:p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EE619A-F336-F4FD-5B8D-ABD9A09B7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0317" y="369156"/>
            <a:ext cx="5440054" cy="37147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5A6998-8899-1A45-1F07-35218EA6F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4484" y="520663"/>
            <a:ext cx="5051720" cy="581667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5D5129A-4AE6-FAD0-C4BA-D6CB7194FCE0}"/>
              </a:ext>
            </a:extLst>
          </p:cNvPr>
          <p:cNvSpPr txBox="1"/>
          <p:nvPr/>
        </p:nvSpPr>
        <p:spPr>
          <a:xfrm>
            <a:off x="6939033" y="6337336"/>
            <a:ext cx="2272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修复记录</a:t>
            </a:r>
          </a:p>
        </p:txBody>
      </p:sp>
    </p:spTree>
    <p:extLst>
      <p:ext uri="{BB962C8B-B14F-4D97-AF65-F5344CB8AC3E}">
        <p14:creationId xmlns:p14="http://schemas.microsoft.com/office/powerpoint/2010/main" val="221498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4"/>
          <p:cNvSpPr txBox="1"/>
          <p:nvPr>
            <p:custDataLst>
              <p:tags r:id="rId1"/>
            </p:custDataLst>
          </p:nvPr>
        </p:nvSpPr>
        <p:spPr>
          <a:xfrm>
            <a:off x="4177502" y="1743002"/>
            <a:ext cx="1488894" cy="1441061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dist">
              <a:defRPr/>
            </a:pPr>
            <a:r>
              <a:rPr lang="en-US" altLang="zh-CN" sz="8800" dirty="0">
                <a:solidFill>
                  <a:srgbClr val="B3342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03</a:t>
            </a:r>
            <a:endParaRPr lang="zh-CN" altLang="en-US" sz="8800" dirty="0">
              <a:solidFill>
                <a:srgbClr val="B3342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2"/>
          <p:cNvSpPr txBox="1"/>
          <p:nvPr>
            <p:custDataLst>
              <p:tags r:id="rId2"/>
            </p:custDataLst>
          </p:nvPr>
        </p:nvSpPr>
        <p:spPr>
          <a:xfrm>
            <a:off x="1100479" y="3184063"/>
            <a:ext cx="6154047" cy="1194840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dist"/>
            <a:r>
              <a:rPr lang="zh-CN" altLang="en-US" sz="72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cs typeface="Andalus" pitchFamily="18" charset="-78"/>
                <a:sym typeface="思源黑体 CN Normal" panose="020B0400000000000000" pitchFamily="34" charset="-122"/>
              </a:rPr>
              <a:t>认识与反思</a:t>
            </a:r>
          </a:p>
        </p:txBody>
      </p:sp>
      <p:sp>
        <p:nvSpPr>
          <p:cNvPr id="18" name="Freeform 6"/>
          <p:cNvSpPr/>
          <p:nvPr/>
        </p:nvSpPr>
        <p:spPr bwMode="auto">
          <a:xfrm>
            <a:off x="4665980" y="0"/>
            <a:ext cx="7526020" cy="3985260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22" name="Freeform 6"/>
          <p:cNvSpPr/>
          <p:nvPr/>
        </p:nvSpPr>
        <p:spPr bwMode="auto">
          <a:xfrm flipH="1" flipV="1">
            <a:off x="-2" y="5173682"/>
            <a:ext cx="3609975" cy="1684316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23" name="4"/>
          <p:cNvSpPr txBox="1"/>
          <p:nvPr>
            <p:custDataLst>
              <p:tags r:id="rId3"/>
            </p:custDataLst>
          </p:nvPr>
        </p:nvSpPr>
        <p:spPr>
          <a:xfrm>
            <a:off x="2688608" y="2316015"/>
            <a:ext cx="1488894" cy="702397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dist">
              <a:defRPr/>
            </a:pPr>
            <a:r>
              <a:rPr lang="en-US" altLang="zh-CN" sz="4000" dirty="0">
                <a:solidFill>
                  <a:srgbClr val="B3342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PART</a:t>
            </a:r>
            <a:endParaRPr lang="zh-CN" altLang="en-US" sz="4000" dirty="0">
              <a:solidFill>
                <a:srgbClr val="B3342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2" name="图片 1" descr="中国人民大学logo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0370" y="4913630"/>
            <a:ext cx="1736090" cy="1548130"/>
          </a:xfrm>
          <a:prstGeom prst="rect">
            <a:avLst/>
          </a:prstGeom>
        </p:spPr>
      </p:pic>
      <p:sp>
        <p:nvSpPr>
          <p:cNvPr id="3" name="3">
            <a:extLst>
              <a:ext uri="{FF2B5EF4-FFF2-40B4-BE49-F238E27FC236}">
                <a16:creationId xmlns:a16="http://schemas.microsoft.com/office/drawing/2014/main" id="{BEF2375A-68E8-6D9D-FF27-8727C01DC9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9226" y="4316377"/>
            <a:ext cx="8161143" cy="1229336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1116965">
              <a:lnSpc>
                <a:spcPct val="120000"/>
              </a:lnSpc>
              <a:defRPr/>
            </a:pPr>
            <a:r>
              <a:rPr lang="zh-CN" altLang="en-US" sz="3200" dirty="0">
                <a:latin typeface="宋体" panose="02010600030101010101" pitchFamily="2" charset="-122"/>
                <a:cs typeface="+mn-ea"/>
                <a:sym typeface="思源黑体 CN Normal" panose="020B0400000000000000" pitchFamily="34" charset="-122"/>
              </a:rPr>
              <a:t>协作困难、软件工程认知与实践收获</a:t>
            </a:r>
          </a:p>
          <a:p>
            <a:pPr defTabSz="1116965">
              <a:lnSpc>
                <a:spcPct val="120000"/>
              </a:lnSpc>
              <a:defRPr/>
            </a:pPr>
            <a:endParaRPr lang="zh-CN" altLang="en-US" sz="3200" dirty="0">
              <a:sym typeface="思源黑体 CN Normal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9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4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build="p"/>
      <p:bldP spid="23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0_1"/>
          <p:cNvSpPr txBox="1"/>
          <p:nvPr/>
        </p:nvSpPr>
        <p:spPr>
          <a:xfrm>
            <a:off x="366579" y="203086"/>
            <a:ext cx="331508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b="1" dirty="0">
                <a:sym typeface="思源黑体 CN Normal" panose="020B0400000000000000" pitchFamily="34" charset="-122"/>
              </a:rPr>
              <a:t>协作中遇到的困难</a:t>
            </a:r>
          </a:p>
        </p:txBody>
      </p:sp>
      <p:sp>
        <p:nvSpPr>
          <p:cNvPr id="48" name="Freeform 14_1"/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ADDFF336-600E-7105-78B6-186BBE65C8BC}"/>
              </a:ext>
            </a:extLst>
          </p:cNvPr>
          <p:cNvSpPr txBox="1"/>
          <p:nvPr/>
        </p:nvSpPr>
        <p:spPr>
          <a:xfrm>
            <a:off x="283845" y="904422"/>
            <a:ext cx="111596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回顾整个项目，我们遇到了</a:t>
            </a:r>
            <a:r>
              <a:rPr lang="zh-CN" altLang="en-US" sz="2800" dirty="0"/>
              <a:t>两</a:t>
            </a:r>
            <a:r>
              <a:rPr lang="zh-CN" altLang="zh-CN" sz="2800" dirty="0"/>
              <a:t>个典型的协作困难。一是 GitHub 的使用不够顺畅，</a:t>
            </a:r>
            <a:r>
              <a:rPr lang="zh-CN" altLang="en-US" sz="2800" dirty="0"/>
              <a:t>会出现同时修改代码推送仓库导致</a:t>
            </a:r>
            <a:r>
              <a:rPr lang="zh-CN" altLang="zh-CN" sz="2800" dirty="0"/>
              <a:t>在分支合并和解冲突上花了时间；二是 AI agent 额度问题，代码量增大后额度紧张，影响了节奏；最终我们通过明确模块边界、约定 Git 提交规范来化解了危机。</a:t>
            </a:r>
          </a:p>
          <a:p>
            <a:endParaRPr lang="zh-CN" altLang="en-US" sz="2800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86D88FC8-6F80-0FD0-660E-4D96918A4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77" y="2779560"/>
            <a:ext cx="2984576" cy="302610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D1D46385-C14C-EBC5-D8C6-115EA776BCDA}"/>
              </a:ext>
            </a:extLst>
          </p:cNvPr>
          <p:cNvSpPr txBox="1"/>
          <p:nvPr/>
        </p:nvSpPr>
        <p:spPr>
          <a:xfrm>
            <a:off x="1380077" y="6078070"/>
            <a:ext cx="29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冲突不可避免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3B45138C-3A5C-DE82-C8ED-0EBB217FB1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995" y="2900114"/>
            <a:ext cx="2984576" cy="3362622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5A636E92-965C-829F-21E3-BE901F8BB755}"/>
              </a:ext>
            </a:extLst>
          </p:cNvPr>
          <p:cNvSpPr txBox="1"/>
          <p:nvPr/>
        </p:nvSpPr>
        <p:spPr>
          <a:xfrm>
            <a:off x="6911301" y="6286037"/>
            <a:ext cx="29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工具无法使用影响进度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2A6C7641-003B-6C52-723F-70FAEC2174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3571" y="2880406"/>
            <a:ext cx="2984576" cy="33626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D764-1D6D-68EC-9E39-2F864014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0_1">
            <a:extLst>
              <a:ext uri="{FF2B5EF4-FFF2-40B4-BE49-F238E27FC236}">
                <a16:creationId xmlns:a16="http://schemas.microsoft.com/office/drawing/2014/main" id="{885F2874-DCCA-61A1-D6B9-DE3568D44E16}"/>
              </a:ext>
            </a:extLst>
          </p:cNvPr>
          <p:cNvSpPr txBox="1"/>
          <p:nvPr/>
        </p:nvSpPr>
        <p:spPr>
          <a:xfrm>
            <a:off x="366579" y="203086"/>
            <a:ext cx="533497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2800" b="1" dirty="0">
                <a:sym typeface="思源黑体 CN Normal" panose="020B0400000000000000" pitchFamily="34" charset="-122"/>
              </a:rPr>
              <a:t>对大模型与软件工程的新认识</a:t>
            </a:r>
          </a:p>
        </p:txBody>
      </p:sp>
      <p:sp>
        <p:nvSpPr>
          <p:cNvPr id="48" name="Freeform 14_1">
            <a:extLst>
              <a:ext uri="{FF2B5EF4-FFF2-40B4-BE49-F238E27FC236}">
                <a16:creationId xmlns:a16="http://schemas.microsoft.com/office/drawing/2014/main" id="{58011E59-9719-8384-77D8-78B8743CA7B3}"/>
              </a:ext>
            </a:extLst>
          </p:cNvPr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>
            <a:extLst>
              <a:ext uri="{FF2B5EF4-FFF2-40B4-BE49-F238E27FC236}">
                <a16:creationId xmlns:a16="http://schemas.microsoft.com/office/drawing/2014/main" id="{33DC95C1-887C-66E0-1FA7-934740842B8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4A7850F2-0EBB-11E4-D149-0E8B23C1FE1D}"/>
              </a:ext>
            </a:extLst>
          </p:cNvPr>
          <p:cNvSpPr txBox="1"/>
          <p:nvPr/>
        </p:nvSpPr>
        <p:spPr>
          <a:xfrm>
            <a:off x="516199" y="1443841"/>
            <a:ext cx="111596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通过这次实践，我们有了两点深刻的新认识。</a:t>
            </a:r>
            <a:endParaRPr lang="en-US" altLang="zh-CN" sz="3600" dirty="0"/>
          </a:p>
          <a:p>
            <a:r>
              <a:rPr lang="zh-CN" altLang="en-US" sz="3600" dirty="0"/>
              <a:t>首先，</a:t>
            </a:r>
            <a:r>
              <a:rPr lang="en-US" altLang="zh-CN" sz="3600" dirty="0"/>
              <a:t>AI agent </a:t>
            </a:r>
            <a:r>
              <a:rPr lang="zh-CN" altLang="en-US" sz="3600" dirty="0"/>
              <a:t>确实能显著提升效率，尤其在搭重复页面、生成 </a:t>
            </a:r>
            <a:r>
              <a:rPr lang="en-US" altLang="zh-CN" sz="3600" dirty="0"/>
              <a:t>Mock </a:t>
            </a:r>
            <a:r>
              <a:rPr lang="zh-CN" altLang="en-US" sz="3600" dirty="0"/>
              <a:t>数据和正则校验时作用突出。但它不能替代工程判断，系统架构、模块边界这些核心决策依然需要人来主导。</a:t>
            </a:r>
            <a:r>
              <a:rPr lang="en-US" altLang="zh-CN" sz="3600" dirty="0"/>
              <a:t>Agent </a:t>
            </a:r>
            <a:r>
              <a:rPr lang="zh-CN" altLang="en-US" sz="3600" dirty="0"/>
              <a:t>是工具，不是队友。</a:t>
            </a:r>
            <a:endParaRPr lang="en-US" altLang="zh-CN" sz="3600" dirty="0"/>
          </a:p>
          <a:p>
            <a:r>
              <a:rPr lang="zh-CN" altLang="en-US" sz="3600" dirty="0"/>
              <a:t>其次，协作本身就是一种能力，统一的接口规范和文档远比一时的编码速度更重要。</a:t>
            </a:r>
          </a:p>
        </p:txBody>
      </p:sp>
    </p:spTree>
    <p:extLst>
      <p:ext uri="{BB962C8B-B14F-4D97-AF65-F5344CB8AC3E}">
        <p14:creationId xmlns:p14="http://schemas.microsoft.com/office/powerpoint/2010/main" val="401388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4"/>
          <p:cNvSpPr txBox="1"/>
          <p:nvPr>
            <p:custDataLst>
              <p:tags r:id="rId1"/>
            </p:custDataLst>
          </p:nvPr>
        </p:nvSpPr>
        <p:spPr>
          <a:xfrm>
            <a:off x="4177502" y="1743002"/>
            <a:ext cx="1488894" cy="1441061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dist">
              <a:defRPr/>
            </a:pPr>
            <a:r>
              <a:rPr lang="en-US" altLang="zh-CN" sz="8800" dirty="0">
                <a:solidFill>
                  <a:srgbClr val="B3342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04</a:t>
            </a:r>
            <a:endParaRPr lang="zh-CN" altLang="en-US" sz="8800" dirty="0">
              <a:solidFill>
                <a:srgbClr val="B3342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2"/>
          <p:cNvSpPr txBox="1"/>
          <p:nvPr>
            <p:custDataLst>
              <p:tags r:id="rId2"/>
            </p:custDataLst>
          </p:nvPr>
        </p:nvSpPr>
        <p:spPr>
          <a:xfrm>
            <a:off x="1100479" y="3184063"/>
            <a:ext cx="6154047" cy="1194840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72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cs typeface="Andalus" pitchFamily="18" charset="-78"/>
                <a:sym typeface="思源黑体 CN Normal" panose="020B0400000000000000" pitchFamily="34" charset="-122"/>
              </a:rPr>
              <a:t>总结</a:t>
            </a:r>
          </a:p>
        </p:txBody>
      </p:sp>
      <p:sp>
        <p:nvSpPr>
          <p:cNvPr id="18" name="Freeform 6"/>
          <p:cNvSpPr/>
          <p:nvPr/>
        </p:nvSpPr>
        <p:spPr bwMode="auto">
          <a:xfrm>
            <a:off x="4667250" y="0"/>
            <a:ext cx="7526020" cy="3985260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22" name="Freeform 6"/>
          <p:cNvSpPr/>
          <p:nvPr/>
        </p:nvSpPr>
        <p:spPr bwMode="auto">
          <a:xfrm flipH="1" flipV="1">
            <a:off x="-2" y="5173682"/>
            <a:ext cx="3609975" cy="1684316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23" name="4"/>
          <p:cNvSpPr txBox="1"/>
          <p:nvPr>
            <p:custDataLst>
              <p:tags r:id="rId3"/>
            </p:custDataLst>
          </p:nvPr>
        </p:nvSpPr>
        <p:spPr>
          <a:xfrm>
            <a:off x="2688608" y="2316015"/>
            <a:ext cx="1488894" cy="702397"/>
          </a:xfrm>
          <a:prstGeom prst="rect">
            <a:avLst/>
          </a:prstGeom>
          <a:noFill/>
        </p:spPr>
        <p:txBody>
          <a:bodyPr wrap="square" lIns="86005" tIns="43002" rIns="86005" bIns="43002">
            <a:spAutoFit/>
          </a:bodyPr>
          <a:lstStyle/>
          <a:p>
            <a:pPr algn="dist">
              <a:defRPr/>
            </a:pPr>
            <a:r>
              <a:rPr lang="en-US" altLang="zh-CN" sz="4000" dirty="0">
                <a:solidFill>
                  <a:srgbClr val="B3342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rPr>
              <a:t>PART</a:t>
            </a:r>
            <a:endParaRPr lang="zh-CN" altLang="en-US" sz="4000" dirty="0">
              <a:solidFill>
                <a:srgbClr val="B3342E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2" name="图片 1" descr="中国人民大学logo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310370" y="4913630"/>
            <a:ext cx="1736090" cy="1548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build="p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20B4F-094F-B0F7-0EF9-1573E7C4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0_1">
            <a:extLst>
              <a:ext uri="{FF2B5EF4-FFF2-40B4-BE49-F238E27FC236}">
                <a16:creationId xmlns:a16="http://schemas.microsoft.com/office/drawing/2014/main" id="{717100A6-756A-018F-017E-86F77C07170D}"/>
              </a:ext>
            </a:extLst>
          </p:cNvPr>
          <p:cNvSpPr txBox="1"/>
          <p:nvPr/>
        </p:nvSpPr>
        <p:spPr>
          <a:xfrm>
            <a:off x="-591364" y="203086"/>
            <a:ext cx="331508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800" b="1" dirty="0">
                <a:sym typeface="思源黑体 CN Normal" panose="020B0400000000000000" pitchFamily="34" charset="-122"/>
              </a:rPr>
              <a:t>总结</a:t>
            </a:r>
          </a:p>
        </p:txBody>
      </p:sp>
      <p:sp>
        <p:nvSpPr>
          <p:cNvPr id="48" name="Freeform 14_1">
            <a:extLst>
              <a:ext uri="{FF2B5EF4-FFF2-40B4-BE49-F238E27FC236}">
                <a16:creationId xmlns:a16="http://schemas.microsoft.com/office/drawing/2014/main" id="{DB59ADA4-114C-754D-B21F-3713111FC0E9}"/>
              </a:ext>
            </a:extLst>
          </p:cNvPr>
          <p:cNvSpPr/>
          <p:nvPr/>
        </p:nvSpPr>
        <p:spPr bwMode="auto">
          <a:xfrm rot="10800000">
            <a:off x="0" y="0"/>
            <a:ext cx="366578" cy="738312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" name="图片 2" descr="中国人民大学logo2">
            <a:extLst>
              <a:ext uri="{FF2B5EF4-FFF2-40B4-BE49-F238E27FC236}">
                <a16:creationId xmlns:a16="http://schemas.microsoft.com/office/drawing/2014/main" id="{250DCD4A-6ED7-DBC9-27D4-ADD4A690CF9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34065" y="136525"/>
            <a:ext cx="974090" cy="8255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A793221-4256-95B3-970F-E614189A1F2C}"/>
              </a:ext>
            </a:extLst>
          </p:cNvPr>
          <p:cNvSpPr txBox="1"/>
          <p:nvPr/>
        </p:nvSpPr>
        <p:spPr>
          <a:xfrm>
            <a:off x="783771" y="3065929"/>
            <a:ext cx="101502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UniServe </a:t>
            </a:r>
            <a:r>
              <a:rPr lang="zh-CN" altLang="en-US" sz="3600" dirty="0"/>
              <a:t>平台从零出发，经过需求、设计、开发、测试，最终形成了一个具备完整功能闭环的学院综合服务系统。这次大作业让我们真正体验了软件工程不只是写代码，而是协同、规范、迭代的完整生命周期。感谢老师和助教一学期的指导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5B0515-A2B7-1BBE-76DC-A8EFA8CAE1C1}"/>
              </a:ext>
            </a:extLst>
          </p:cNvPr>
          <p:cNvSpPr txBox="1"/>
          <p:nvPr/>
        </p:nvSpPr>
        <p:spPr>
          <a:xfrm>
            <a:off x="796652" y="1385155"/>
            <a:ext cx="106244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项目仓库：</a:t>
            </a:r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  <a:hlinkClick r:id="rId5"/>
              </a:rPr>
              <a:t>functionx37/UniServe-Platform-of-InfoRUC: A comprehensive management system for the School of Information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1238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/>
          <p:cNvSpPr/>
          <p:nvPr/>
        </p:nvSpPr>
        <p:spPr bwMode="auto">
          <a:xfrm>
            <a:off x="4667250" y="0"/>
            <a:ext cx="7526020" cy="3985260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36" name="Freeform 14"/>
          <p:cNvSpPr/>
          <p:nvPr/>
        </p:nvSpPr>
        <p:spPr bwMode="auto">
          <a:xfrm>
            <a:off x="10344150" y="3480178"/>
            <a:ext cx="1849438" cy="3374647"/>
          </a:xfrm>
          <a:custGeom>
            <a:avLst/>
            <a:gdLst>
              <a:gd name="T0" fmla="*/ 416 w 416"/>
              <a:gd name="T1" fmla="*/ 0 h 1118"/>
              <a:gd name="T2" fmla="*/ 55 w 416"/>
              <a:gd name="T3" fmla="*/ 388 h 1118"/>
              <a:gd name="T4" fmla="*/ 41 w 416"/>
              <a:gd name="T5" fmla="*/ 582 h 1118"/>
              <a:gd name="T6" fmla="*/ 416 w 416"/>
              <a:gd name="T7" fmla="*/ 1118 h 1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6" h="1118">
                <a:moveTo>
                  <a:pt x="416" y="0"/>
                </a:moveTo>
                <a:cubicBezTo>
                  <a:pt x="55" y="388"/>
                  <a:pt x="55" y="388"/>
                  <a:pt x="55" y="388"/>
                </a:cubicBezTo>
                <a:cubicBezTo>
                  <a:pt x="5" y="441"/>
                  <a:pt x="0" y="522"/>
                  <a:pt x="41" y="582"/>
                </a:cubicBezTo>
                <a:cubicBezTo>
                  <a:pt x="416" y="1118"/>
                  <a:pt x="416" y="1118"/>
                  <a:pt x="416" y="1118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TextBox 14"/>
          <p:cNvSpPr txBox="1"/>
          <p:nvPr/>
        </p:nvSpPr>
        <p:spPr>
          <a:xfrm>
            <a:off x="982799" y="2863861"/>
            <a:ext cx="69288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8800" dirty="0">
                <a:solidFill>
                  <a:srgbClr val="B334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sym typeface="思源黑体 CN Normal" panose="020B0400000000000000" pitchFamily="34" charset="-122"/>
              </a:rPr>
              <a:t>THANK YOU</a:t>
            </a:r>
            <a:endParaRPr lang="zh-CN" altLang="en-US" sz="8800" dirty="0">
              <a:solidFill>
                <a:srgbClr val="B3342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59" name="Freeform 6"/>
          <p:cNvSpPr/>
          <p:nvPr/>
        </p:nvSpPr>
        <p:spPr bwMode="auto">
          <a:xfrm flipH="1" flipV="1">
            <a:off x="-7920" y="5219765"/>
            <a:ext cx="3094019" cy="1638234"/>
          </a:xfrm>
          <a:custGeom>
            <a:avLst/>
            <a:gdLst>
              <a:gd name="T0" fmla="*/ 0 w 3630"/>
              <a:gd name="T1" fmla="*/ 0 h 2151"/>
              <a:gd name="T2" fmla="*/ 2503 w 3630"/>
              <a:gd name="T3" fmla="*/ 2076 h 2151"/>
              <a:gd name="T4" fmla="*/ 2803 w 3630"/>
              <a:gd name="T5" fmla="*/ 2086 h 2151"/>
              <a:gd name="T6" fmla="*/ 3630 w 3630"/>
              <a:gd name="T7" fmla="*/ 1492 h 2151"/>
              <a:gd name="T8" fmla="*/ 3630 w 3630"/>
              <a:gd name="T9" fmla="*/ 0 h 2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30" h="2151">
                <a:moveTo>
                  <a:pt x="0" y="0"/>
                </a:moveTo>
                <a:cubicBezTo>
                  <a:pt x="2503" y="2076"/>
                  <a:pt x="2503" y="2076"/>
                  <a:pt x="2503" y="2076"/>
                </a:cubicBezTo>
                <a:cubicBezTo>
                  <a:pt x="2589" y="2147"/>
                  <a:pt x="2712" y="2151"/>
                  <a:pt x="2803" y="2086"/>
                </a:cubicBezTo>
                <a:cubicBezTo>
                  <a:pt x="3630" y="1492"/>
                  <a:pt x="3630" y="1492"/>
                  <a:pt x="3630" y="1492"/>
                </a:cubicBezTo>
                <a:cubicBezTo>
                  <a:pt x="3630" y="0"/>
                  <a:pt x="3630" y="0"/>
                  <a:pt x="3630" y="0"/>
                </a:cubicBezTo>
              </a:path>
            </a:pathLst>
          </a:custGeom>
          <a:solidFill>
            <a:srgbClr val="B3342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pic>
        <p:nvPicPr>
          <p:cNvPr id="4" name="图片 3" descr="中国人民大学logo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32050" y="730885"/>
            <a:ext cx="1795145" cy="1607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ZhYjViNzg4ODA5NmNhNWJhYzM4NGU0ZGMxZDJmNTQifQ=="/>
  <p:tag name="KSO_WPP_MARK_KEY" val="fa05939a-ed9d-48d8-98e8-6801eeab555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17142511"/>
  <p:tag name="MH_LIBRARY" val="GRAPHIC"/>
  <p:tag name="MH_ORDER" val="TextBox 8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17142511"/>
  <p:tag name="MH_LIBRARY" val="GRAPHIC"/>
  <p:tag name="MH_ORDER" val="文本框 10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1302</Words>
  <Application>Microsoft Office PowerPoint</Application>
  <PresentationFormat>宽屏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思源黑体 CN Bold</vt:lpstr>
      <vt:lpstr>思源黑体 CN Medium</vt:lpstr>
      <vt:lpstr>思源黑体 CN Normal</vt:lpstr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润 陈</cp:lastModifiedBy>
  <cp:revision>39</cp:revision>
  <dcterms:created xsi:type="dcterms:W3CDTF">2021-05-07T06:04:00Z</dcterms:created>
  <dcterms:modified xsi:type="dcterms:W3CDTF">2026-06-29T19:17:46Z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9CC42D4563AE40B88C5048CD642FAAF1</vt:lpwstr>
  </property>
  <property fmtid="{D5CDD505-2E9C-101B-9397-08002B2CF9AE}" pid="3" name="KSOProductBuildVer">
    <vt:lpwstr>2052-11.1.0.12980</vt:lpwstr>
  </property>
</Properties>
</file>